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notesMasterIdLst>
    <p:notesMasterId r:id="rId26"/>
  </p:notesMasterIdLst>
  <p:sldIdLst>
    <p:sldId id="256" r:id="rId3"/>
    <p:sldId id="285" r:id="rId4"/>
    <p:sldId id="276" r:id="rId5"/>
    <p:sldId id="257" r:id="rId6"/>
    <p:sldId id="262" r:id="rId7"/>
    <p:sldId id="299" r:id="rId8"/>
    <p:sldId id="291" r:id="rId9"/>
    <p:sldId id="289" r:id="rId10"/>
    <p:sldId id="296" r:id="rId11"/>
    <p:sldId id="301" r:id="rId12"/>
    <p:sldId id="302" r:id="rId13"/>
    <p:sldId id="303" r:id="rId14"/>
    <p:sldId id="304" r:id="rId15"/>
    <p:sldId id="305" r:id="rId16"/>
    <p:sldId id="306" r:id="rId17"/>
    <p:sldId id="307" r:id="rId18"/>
    <p:sldId id="308" r:id="rId19"/>
    <p:sldId id="309" r:id="rId20"/>
    <p:sldId id="310" r:id="rId21"/>
    <p:sldId id="278" r:id="rId22"/>
    <p:sldId id="281" r:id="rId23"/>
    <p:sldId id="288" r:id="rId24"/>
    <p:sldId id="283" r:id="rId25"/>
  </p:sldIdLst>
  <p:sldSz cx="9144000" cy="6858000" type="screen4x3"/>
  <p:notesSz cx="7104063" cy="10234613"/>
  <p:defaultTextStyle>
    <a:defPPr lvl="0">
      <a:defRPr lang="en-US"/>
    </a:defPPr>
    <a:lvl1pPr lvl="0" algn="l"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lvl="1"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lvl="2"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lvl="3"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lvl="4"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lvl="5" algn="l" defTabSz="914400" rtl="0" eaLnBrk="1" latinLnBrk="0" hangingPunct="1">
      <a:defRPr kern="1200">
        <a:solidFill>
          <a:schemeClr val="tx1"/>
        </a:solidFill>
        <a:latin typeface="Arial" pitchFamily="34" charset="0"/>
        <a:ea typeface="+mn-ea"/>
        <a:cs typeface="Arial" pitchFamily="34" charset="0"/>
      </a:defRPr>
    </a:lvl6pPr>
    <a:lvl7pPr marL="2743200" lvl="6" algn="l" defTabSz="914400" rtl="0" eaLnBrk="1" latinLnBrk="0" hangingPunct="1">
      <a:defRPr kern="1200">
        <a:solidFill>
          <a:schemeClr val="tx1"/>
        </a:solidFill>
        <a:latin typeface="Arial" pitchFamily="34" charset="0"/>
        <a:ea typeface="+mn-ea"/>
        <a:cs typeface="Arial" pitchFamily="34" charset="0"/>
      </a:defRPr>
    </a:lvl7pPr>
    <a:lvl8pPr marL="3200400" lvl="7" algn="l" defTabSz="914400" rtl="0" eaLnBrk="1" latinLnBrk="0" hangingPunct="1">
      <a:defRPr kern="1200">
        <a:solidFill>
          <a:schemeClr val="tx1"/>
        </a:solidFill>
        <a:latin typeface="Arial" pitchFamily="34" charset="0"/>
        <a:ea typeface="+mn-ea"/>
        <a:cs typeface="Arial" pitchFamily="34" charset="0"/>
      </a:defRPr>
    </a:lvl8pPr>
    <a:lvl9pPr marL="3657600" lvl="8"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orient="horz" pos="3224">
          <p15:clr>
            <a:srgbClr val="000000"/>
          </p15:clr>
        </p15:guide>
        <p15:guide id="3" pos="2160">
          <p15:clr>
            <a:srgbClr val="000000"/>
          </p15:clr>
        </p15:guide>
        <p15:guide id="4" pos="2238">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31" autoAdjust="0"/>
    <p:restoredTop sz="94660"/>
  </p:normalViewPr>
  <p:slideViewPr>
    <p:cSldViewPr snapToGrid="0">
      <p:cViewPr>
        <p:scale>
          <a:sx n="75" d="100"/>
          <a:sy n="75" d="100"/>
        </p:scale>
        <p:origin x="1685" y="206"/>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orient="horz" pos="3224"/>
        <p:guide pos="2160"/>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9" name="Header Placeholder 1"/>
          <p:cNvSpPr>
            <a:spLocks noGrp="1"/>
          </p:cNvSpPr>
          <p:nvPr>
            <p:ph type="hdr" sz="quarter"/>
          </p:nvPr>
        </p:nvSpPr>
        <p:spPr>
          <a:xfrm>
            <a:off x="0" y="0"/>
            <a:ext cx="3078163" cy="511175"/>
          </a:xfrm>
          <a:prstGeom prst="rect">
            <a:avLst/>
          </a:prstGeom>
        </p:spPr>
        <p:txBody>
          <a:bodyPr vert="horz" lIns="99075" tIns="49538" rIns="99075" bIns="49538"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0" name="Date Placeholder 2"/>
          <p:cNvSpPr>
            <a:spLocks noGrp="1"/>
          </p:cNvSpPr>
          <p:nvPr>
            <p:ph type="dt" idx="1"/>
          </p:nvPr>
        </p:nvSpPr>
        <p:spPr>
          <a:xfrm>
            <a:off x="4024313" y="0"/>
            <a:ext cx="3078162" cy="511175"/>
          </a:xfrm>
          <a:prstGeom prst="rect">
            <a:avLst/>
          </a:prstGeom>
        </p:spPr>
        <p:txBody>
          <a:bodyPr vert="horz" lIns="99075" tIns="49538" rIns="99075" bIns="49538" rtlCol="0"/>
          <a:lstStyle>
            <a:lvl1pPr algn="r" eaLnBrk="1" fontAlgn="auto" hangingPunct="1">
              <a:spcBef>
                <a:spcPts val="0"/>
              </a:spcBef>
              <a:spcAft>
                <a:spcPts val="0"/>
              </a:spcAft>
              <a:defRPr sz="1300">
                <a:latin typeface="+mn-lt"/>
                <a:cs typeface="+mn-cs"/>
              </a:defRPr>
            </a:lvl1pPr>
          </a:lstStyle>
          <a:p>
            <a:pPr>
              <a:defRPr/>
            </a:pPr>
            <a:fld id="{79632D85-81B2-4939-9A60-F41EB6CE5E65}" type="datetimeFigureOut">
              <a:rPr lang="en-US"/>
              <a:pPr>
                <a:defRPr/>
              </a:pPr>
              <a:t>7/9/2024</a:t>
            </a:fld>
            <a:endParaRPr lang="en-US"/>
          </a:p>
        </p:txBody>
      </p:sp>
      <p:sp>
        <p:nvSpPr>
          <p:cNvPr id="1048731" name="Slide Image Placeholder 3"/>
          <p:cNvSpPr>
            <a:spLocks noGrp="1" noRot="1" noChangeAspect="1"/>
          </p:cNvSpPr>
          <p:nvPr>
            <p:ph type="sldImg" idx="2"/>
          </p:nvPr>
        </p:nvSpPr>
        <p:spPr>
          <a:xfrm>
            <a:off x="995363" y="768350"/>
            <a:ext cx="5113337" cy="3836988"/>
          </a:xfrm>
          <a:prstGeom prst="rect">
            <a:avLst/>
          </a:prstGeom>
          <a:noFill/>
          <a:ln w="12700">
            <a:solidFill>
              <a:prstClr val="black"/>
            </a:solidFill>
          </a:ln>
        </p:spPr>
        <p:txBody>
          <a:bodyPr vert="horz" lIns="99075" tIns="49538" rIns="99075" bIns="49538" rtlCol="0" anchor="ctr"/>
          <a:lstStyle/>
          <a:p>
            <a:pPr lvl="0"/>
            <a:endParaRPr lang="en-US" noProof="0"/>
          </a:p>
        </p:txBody>
      </p:sp>
      <p:sp>
        <p:nvSpPr>
          <p:cNvPr id="1048732" name="Notes Placeholder 4"/>
          <p:cNvSpPr>
            <a:spLocks noGrp="1"/>
          </p:cNvSpPr>
          <p:nvPr>
            <p:ph type="body" sz="quarter" idx="3"/>
          </p:nvPr>
        </p:nvSpPr>
        <p:spPr>
          <a:xfrm>
            <a:off x="711200" y="4860925"/>
            <a:ext cx="5683250" cy="4605338"/>
          </a:xfrm>
          <a:prstGeom prst="rect">
            <a:avLst/>
          </a:prstGeom>
        </p:spPr>
        <p:txBody>
          <a:bodyPr vert="horz" lIns="99075" tIns="49538" rIns="99075" bIns="4953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33" name="Footer Placeholder 5"/>
          <p:cNvSpPr>
            <a:spLocks noGrp="1"/>
          </p:cNvSpPr>
          <p:nvPr>
            <p:ph type="ftr" sz="quarter" idx="4"/>
          </p:nvPr>
        </p:nvSpPr>
        <p:spPr>
          <a:xfrm>
            <a:off x="0" y="9721850"/>
            <a:ext cx="3078163" cy="511175"/>
          </a:xfrm>
          <a:prstGeom prst="rect">
            <a:avLst/>
          </a:prstGeom>
        </p:spPr>
        <p:txBody>
          <a:bodyPr vert="horz" lIns="99075" tIns="49538" rIns="99075" bIns="49538"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4" name="Slide Number Placeholder 6"/>
          <p:cNvSpPr>
            <a:spLocks noGrp="1"/>
          </p:cNvSpPr>
          <p:nvPr>
            <p:ph type="sldNum" sz="quarter" idx="5"/>
          </p:nvPr>
        </p:nvSpPr>
        <p:spPr>
          <a:xfrm>
            <a:off x="4024313" y="9721850"/>
            <a:ext cx="3078162" cy="511175"/>
          </a:xfrm>
          <a:prstGeom prst="rect">
            <a:avLst/>
          </a:prstGeom>
        </p:spPr>
        <p:txBody>
          <a:bodyPr vert="horz" wrap="square" lIns="99075" tIns="49538" rIns="99075" bIns="49538" numCol="1" anchor="b" anchorCtr="0" compatLnSpc="1">
            <a:prstTxWarp prst="textNoShape">
              <a:avLst/>
            </a:prstTxWarp>
          </a:bodyPr>
          <a:lstStyle>
            <a:lvl1pPr algn="r" eaLnBrk="1" hangingPunct="1">
              <a:defRPr sz="1300">
                <a:latin typeface="Calibri" pitchFamily="34" charset="0"/>
              </a:defRPr>
            </a:lvl1pPr>
          </a:lstStyle>
          <a:p>
            <a:fld id="{722DFA5A-79E3-4533-A1E0-79252CADEB2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71" name="Title 8"/>
          <p:cNvSpPr>
            <a:spLocks noGrp="1"/>
          </p:cNvSpPr>
          <p:nvPr>
            <p:ph type="ctrTitle"/>
          </p:nvPr>
        </p:nvSpPr>
        <p:spPr>
          <a:xfrm>
            <a:off x="457200" y="1752600"/>
            <a:ext cx="6629400" cy="25908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FC3E349C-3BB1-4441-9598-7385183D9E03}" type="datetime4">
              <a:rPr lang="en-US"/>
              <a:pPr>
                <a:defRPr/>
              </a:pPr>
              <a:t>July 9, 2024</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MSRIT, Bangalore - 54</a:t>
            </a:r>
          </a:p>
        </p:txBody>
      </p:sp>
      <p:sp>
        <p:nvSpPr>
          <p:cNvPr id="7" name="Slide Number Placeholder 26"/>
          <p:cNvSpPr>
            <a:spLocks noGrp="1"/>
          </p:cNvSpPr>
          <p:nvPr>
            <p:ph type="sldNum" sz="quarter" idx="12"/>
          </p:nvPr>
        </p:nvSpPr>
        <p:spPr/>
        <p:txBody>
          <a:bodyPr/>
          <a:lstStyle>
            <a:lvl1pPr>
              <a:defRPr/>
            </a:lvl1pPr>
          </a:lstStyle>
          <a:p>
            <a:fld id="{3AAB8470-621A-4D5F-8E5C-868FB963F40A}"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9" name="Title 1"/>
          <p:cNvSpPr>
            <a:spLocks noGrp="1"/>
          </p:cNvSpPr>
          <p:nvPr>
            <p:ph type="title"/>
          </p:nvPr>
        </p:nvSpPr>
        <p:spPr>
          <a:xfrm>
            <a:off x="228600" y="152400"/>
            <a:ext cx="7696200" cy="990600"/>
          </a:xfrm>
        </p:spPr>
        <p:txBody>
          <a:bodyPr/>
          <a:lstStyle>
            <a:lvl1pPr algn="l"/>
          </a:lstStyle>
          <a:p>
            <a:r>
              <a:rPr lang="en-US"/>
              <a:t>Click to edit Master title style</a:t>
            </a:r>
          </a:p>
        </p:txBody>
      </p:sp>
      <p:sp>
        <p:nvSpPr>
          <p:cNvPr id="1048600" name="Content Placeholder 2"/>
          <p:cNvSpPr>
            <a:spLocks noGrp="1"/>
          </p:cNvSpPr>
          <p:nvPr>
            <p:ph idx="1"/>
          </p:nvPr>
        </p:nvSpPr>
        <p:spPr>
          <a:xfrm>
            <a:off x="228600" y="1371600"/>
            <a:ext cx="8610600" cy="4678363"/>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228600"/>
          </a:xfrm>
        </p:spPr>
        <p:txBody>
          <a:bodyPr anchor="t"/>
          <a:lstStyle>
            <a:lvl1pPr>
              <a:defRPr/>
            </a:lvl1pPr>
          </a:lstStyle>
          <a:p>
            <a:pPr>
              <a:defRPr/>
            </a:pPr>
            <a:fld id="{4A4C099B-A88E-433C-B393-79A5FD6CFF9D}" type="datetime4">
              <a:rPr lang="en-US"/>
              <a:pPr>
                <a:defRPr/>
              </a:pPr>
              <a:t>July 9,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5"/>
          <p:cNvSpPr>
            <a:spLocks noGrp="1"/>
          </p:cNvSpPr>
          <p:nvPr>
            <p:ph type="sldNum" sz="quarter" idx="12"/>
          </p:nvPr>
        </p:nvSpPr>
        <p:spPr/>
        <p:txBody>
          <a:bodyPr/>
          <a:lstStyle>
            <a:lvl1pPr>
              <a:defRPr/>
            </a:lvl1pPr>
          </a:lstStyle>
          <a:p>
            <a:fld id="{B01A9520-9C13-42F6-B778-5D2C2F9052DA}"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92" name="Title 1"/>
          <p:cNvSpPr>
            <a:spLocks noGrp="1"/>
          </p:cNvSpPr>
          <p:nvPr>
            <p:ph type="title"/>
          </p:nvPr>
        </p:nvSpPr>
        <p:spPr>
          <a:xfrm>
            <a:off x="609600" y="2133600"/>
            <a:ext cx="6629400" cy="1826363"/>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0"/>
            <a:ext cx="1219200" cy="284163"/>
          </a:xfrm>
        </p:spPr>
        <p:txBody>
          <a:bodyPr anchor="t"/>
          <a:lstStyle>
            <a:lvl1pPr>
              <a:defRPr/>
            </a:lvl1pPr>
          </a:lstStyle>
          <a:p>
            <a:pPr>
              <a:defRPr/>
            </a:pPr>
            <a:fld id="{8CFCA4A3-FFE7-450D-AB01-591E1F108729}" type="datetime4">
              <a:rPr lang="en-US"/>
              <a:pPr>
                <a:defRPr/>
              </a:pPr>
              <a:t>July 9,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825C13BF-B321-4287-839C-07C6ACB0A795}"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7" name="Title 1"/>
          <p:cNvSpPr>
            <a:spLocks noGrp="1"/>
          </p:cNvSpPr>
          <p:nvPr>
            <p:ph type="title"/>
          </p:nvPr>
        </p:nvSpPr>
        <p:spPr>
          <a:xfrm>
            <a:off x="457200" y="274638"/>
            <a:ext cx="7467600" cy="1143000"/>
          </a:xfrm>
        </p:spPr>
        <p:txBody>
          <a:bodyPr/>
          <a:lstStyle/>
          <a:p>
            <a:r>
              <a:rPr lang="en-US"/>
              <a:t>Click to edit Master title style</a:t>
            </a:r>
          </a:p>
        </p:txBody>
      </p:sp>
      <p:sp>
        <p:nvSpPr>
          <p:cNvPr id="1048718" name="Content Placeholder 2"/>
          <p:cNvSpPr>
            <a:spLocks noGrp="1"/>
          </p:cNvSpPr>
          <p:nvPr>
            <p:ph sz="half" idx="1"/>
          </p:nvPr>
        </p:nvSpPr>
        <p:spPr>
          <a:xfrm>
            <a:off x="45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9" name="Content Placeholder 3"/>
          <p:cNvSpPr>
            <a:spLocks noGrp="1"/>
          </p:cNvSpPr>
          <p:nvPr>
            <p:ph sz="half" idx="2"/>
          </p:nvPr>
        </p:nvSpPr>
        <p:spPr>
          <a:xfrm>
            <a:off x="426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0"/>
            <a:ext cx="1143000" cy="365125"/>
          </a:xfrm>
        </p:spPr>
        <p:txBody>
          <a:bodyPr anchor="t"/>
          <a:lstStyle>
            <a:lvl1pPr>
              <a:defRPr/>
            </a:lvl1pPr>
          </a:lstStyle>
          <a:p>
            <a:pPr>
              <a:defRPr/>
            </a:pPr>
            <a:fld id="{6F8267F7-E5E9-42FD-9E6A-B755052B2DA0}" type="datetime4">
              <a:rPr lang="en-US"/>
              <a:pPr>
                <a:defRPr/>
              </a:pPr>
              <a:t>July 9,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p:txBody>
          <a:bodyPr/>
          <a:lstStyle>
            <a:lvl1pPr>
              <a:defRPr/>
            </a:lvl1pPr>
          </a:lstStyle>
          <a:p>
            <a:fld id="{4EAEBFF4-474F-42E8-B530-9F7EEBB83E5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6" name="Title 1"/>
          <p:cNvSpPr>
            <a:spLocks noGrp="1"/>
          </p:cNvSpPr>
          <p:nvPr>
            <p:ph type="title"/>
          </p:nvPr>
        </p:nvSpPr>
        <p:spPr>
          <a:xfrm>
            <a:off x="457200" y="273050"/>
            <a:ext cx="8229600" cy="1143000"/>
          </a:xfrm>
        </p:spPr>
        <p:txBody>
          <a:bodyPr/>
          <a:lstStyle/>
          <a:p>
            <a:r>
              <a:rPr lang="en-US"/>
              <a:t>Click to edit Master title style</a:t>
            </a:r>
          </a:p>
        </p:txBody>
      </p:sp>
      <p:sp>
        <p:nvSpPr>
          <p:cNvPr id="1048697" name="Text Placeholder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1048698" name="Text Placeholder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048699" name="Content Placeholder 4"/>
          <p:cNvSpPr>
            <a:spLocks noGrp="1"/>
          </p:cNvSpPr>
          <p:nvPr>
            <p:ph sz="quarter" idx="2"/>
          </p:nvPr>
        </p:nvSpPr>
        <p:spPr>
          <a:xfrm>
            <a:off x="457200" y="1516912"/>
            <a:ext cx="4040188"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Content Placeholder 5"/>
          <p:cNvSpPr>
            <a:spLocks noGrp="1"/>
          </p:cNvSpPr>
          <p:nvPr>
            <p:ph sz="quarter" idx="4"/>
          </p:nvPr>
        </p:nvSpPr>
        <p:spPr>
          <a:xfrm>
            <a:off x="4645025" y="1516912"/>
            <a:ext cx="4041775"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0"/>
            <a:ext cx="1143000" cy="365125"/>
          </a:xfrm>
        </p:spPr>
        <p:txBody>
          <a:bodyPr anchor="t"/>
          <a:lstStyle>
            <a:lvl1pPr>
              <a:defRPr/>
            </a:lvl1pPr>
          </a:lstStyle>
          <a:p>
            <a:pPr>
              <a:defRPr/>
            </a:pPr>
            <a:fld id="{D0F435B1-29E4-49BD-A149-C5555E043C0E}" type="datetime4">
              <a:rPr lang="en-US"/>
              <a:pPr>
                <a:defRPr/>
              </a:pPr>
              <a:t>July 9, 2024</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MSRIT, Bangalore - 54</a:t>
            </a:r>
          </a:p>
        </p:txBody>
      </p:sp>
      <p:sp>
        <p:nvSpPr>
          <p:cNvPr id="9" name="Slide Number Placeholder 8"/>
          <p:cNvSpPr>
            <a:spLocks noGrp="1"/>
          </p:cNvSpPr>
          <p:nvPr>
            <p:ph type="sldNum" sz="quarter" idx="12"/>
          </p:nvPr>
        </p:nvSpPr>
        <p:spPr/>
        <p:txBody>
          <a:bodyPr/>
          <a:lstStyle>
            <a:lvl1pPr>
              <a:defRPr/>
            </a:lvl1pPr>
          </a:lstStyle>
          <a:p>
            <a:fld id="{F29097ED-38EA-4005-BCCB-17081F174C5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75"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9156AE75-B3FB-49D0-B7E0-54938871B5E8}" type="datetime4">
              <a:rPr lang="en-US"/>
              <a:pPr>
                <a:defRPr/>
              </a:pPr>
              <a:t>July 9, 2024</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MSRIT, Bangalore - 54</a:t>
            </a:r>
          </a:p>
        </p:txBody>
      </p:sp>
      <p:sp>
        <p:nvSpPr>
          <p:cNvPr id="5" name="Slide Number Placeholder 17"/>
          <p:cNvSpPr>
            <a:spLocks noGrp="1"/>
          </p:cNvSpPr>
          <p:nvPr>
            <p:ph type="sldNum" sz="quarter" idx="12"/>
          </p:nvPr>
        </p:nvSpPr>
        <p:spPr/>
        <p:txBody>
          <a:bodyPr/>
          <a:lstStyle>
            <a:lvl1pPr>
              <a:defRPr/>
            </a:lvl1pPr>
          </a:lstStyle>
          <a:p>
            <a:fld id="{4F4A914D-FADC-41DA-801A-A2DE0BD96A02}"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916CF7BD-80D7-4182-9023-2FD14B7C52EA}" type="datetime4">
              <a:rPr lang="en-US"/>
              <a:pPr>
                <a:defRPr/>
              </a:pPr>
              <a:t>July 9, 2024</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MSRIT, Bangalore - 54</a:t>
            </a:r>
          </a:p>
        </p:txBody>
      </p:sp>
      <p:sp>
        <p:nvSpPr>
          <p:cNvPr id="4" name="Slide Number Placeholder 17"/>
          <p:cNvSpPr>
            <a:spLocks noGrp="1"/>
          </p:cNvSpPr>
          <p:nvPr>
            <p:ph type="sldNum" sz="quarter" idx="12"/>
          </p:nvPr>
        </p:nvSpPr>
        <p:spPr/>
        <p:txBody>
          <a:bodyPr/>
          <a:lstStyle>
            <a:lvl1pPr>
              <a:defRPr/>
            </a:lvl1pPr>
          </a:lstStyle>
          <a:p>
            <a:fld id="{8F5E18D7-4F5F-402B-8C89-01E5A229D9FC}"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3"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n-US"/>
              <a:t>Click to edit Master title style</a:t>
            </a:r>
          </a:p>
        </p:txBody>
      </p:sp>
      <p:sp>
        <p:nvSpPr>
          <p:cNvPr id="1048724"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048725" name="Content Placeholder 3"/>
          <p:cNvSpPr>
            <a:spLocks noGrp="1"/>
          </p:cNvSpPr>
          <p:nvPr>
            <p:ph sz="half" idx="1"/>
          </p:nvPr>
        </p:nvSpPr>
        <p:spPr>
          <a:xfrm>
            <a:off x="457200" y="1981200"/>
            <a:ext cx="7086600" cy="38100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F3C76DBD-8BC9-4C62-93AD-EBB15ADB9BC9}" type="datetime4">
              <a:rPr lang="en-US"/>
              <a:pPr>
                <a:defRPr/>
              </a:pPr>
              <a:t>July 9,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a:xfrm>
            <a:off x="8156575" y="6421438"/>
            <a:ext cx="762000" cy="365125"/>
          </a:xfrm>
        </p:spPr>
        <p:txBody>
          <a:bodyPr/>
          <a:lstStyle>
            <a:lvl1pPr>
              <a:defRPr/>
            </a:lvl1pPr>
          </a:lstStyle>
          <a:p>
            <a:fld id="{51D4C46A-DD38-4B9B-9F42-63AD57C6933D}"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4" name="Title 1"/>
          <p:cNvSpPr>
            <a:spLocks noGrp="1"/>
          </p:cNvSpPr>
          <p:nvPr>
            <p:ph type="title"/>
          </p:nvPr>
        </p:nvSpPr>
        <p:spPr>
          <a:xfrm>
            <a:off x="5562600" y="1219200"/>
            <a:ext cx="3053868" cy="1253808"/>
          </a:xfrm>
        </p:spPr>
        <p:txBody>
          <a:bodyPr anchor="b"/>
          <a:lstStyle>
            <a:lvl1pPr algn="l">
              <a:buNone/>
              <a:defRPr sz="2200" b="1">
                <a:solidFill>
                  <a:srgbClr val="FFD03B"/>
                </a:solidFill>
              </a:defRPr>
            </a:lvl1pPr>
          </a:lstStyle>
          <a:p>
            <a:r>
              <a:rPr lang="en-US"/>
              <a:t>Click to edit Master title style</a:t>
            </a:r>
          </a:p>
        </p:txBody>
      </p:sp>
      <p:sp>
        <p:nvSpPr>
          <p:cNvPr id="1048685"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1048686" name="Text Placeholder 3"/>
          <p:cNvSpPr>
            <a:spLocks noGrp="1"/>
          </p:cNvSpPr>
          <p:nvPr>
            <p:ph type="body" sz="half" idx="2"/>
          </p:nvPr>
        </p:nvSpPr>
        <p:spPr>
          <a:xfrm>
            <a:off x="5562600" y="2743200"/>
            <a:ext cx="3053866" cy="266348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0ED4BD44-D27C-4228-9B19-221E0AADB205}" type="datetime4">
              <a:rPr lang="en-US"/>
              <a:pPr>
                <a:defRPr/>
              </a:pPr>
              <a:t>July 9, 2024</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17"/>
          <p:cNvSpPr>
            <a:spLocks noGrp="1"/>
          </p:cNvSpPr>
          <p:nvPr>
            <p:ph type="sldNum" sz="quarter" idx="12"/>
          </p:nvPr>
        </p:nvSpPr>
        <p:spPr/>
        <p:txBody>
          <a:bodyPr/>
          <a:lstStyle>
            <a:lvl1pPr>
              <a:defRPr/>
            </a:lvl1pPr>
          </a:lstStyle>
          <a:p>
            <a:fld id="{2534D676-1AC6-47FF-A609-68B579A5C5E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2" name="Title 1"/>
          <p:cNvSpPr>
            <a:spLocks noGrp="1"/>
          </p:cNvSpPr>
          <p:nvPr>
            <p:ph type="title"/>
          </p:nvPr>
        </p:nvSpPr>
        <p:spPr/>
        <p:txBody>
          <a:bodyPr/>
          <a:lstStyle/>
          <a:p>
            <a:r>
              <a:rPr lang="en-US"/>
              <a:t>Click to edit Master title style</a:t>
            </a:r>
          </a:p>
        </p:txBody>
      </p:sp>
      <p:sp>
        <p:nvSpPr>
          <p:cNvPr id="104871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8FE03502-A26B-4B1A-9E6F-603622473C37}" type="datetime4">
              <a:rPr lang="en-US"/>
              <a:pPr>
                <a:defRPr/>
              </a:pPr>
              <a:t>July 9,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00E500CF-7DF5-474C-A4DC-851F9846807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9"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80" name="Vertical Text Placeholder 2"/>
          <p:cNvSpPr>
            <a:spLocks noGrp="1"/>
          </p:cNvSpPr>
          <p:nvPr>
            <p:ph type="body" orient="vert" idx="1"/>
          </p:nvPr>
        </p:nvSpPr>
        <p:spPr>
          <a:xfrm>
            <a:off x="457200" y="274638"/>
            <a:ext cx="6019800" cy="5851525"/>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E40D75AE-4815-443D-A2BA-308073E26317}" type="datetime4">
              <a:rPr lang="en-US"/>
              <a:pPr>
                <a:defRPr/>
              </a:pPr>
              <a:t>July 9,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6D00B3C1-51F1-4070-853C-3C896E2A788C}"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104870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08" name="Text Placeholder 2"/>
          <p:cNvSpPr>
            <a:spLocks noGrp="1"/>
          </p:cNvSpPr>
          <p:nvPr>
            <p:ph type="body" idx="1"/>
          </p:nvPr>
        </p:nvSpPr>
        <p:spPr>
          <a:xfrm>
            <a:off x="722313" y="2906713"/>
            <a:ext cx="7772400" cy="1500187"/>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6A94BBD-121E-4A91-B755-F9E15CA10A8C}" type="datetime4">
              <a:rPr lang="en-US"/>
              <a:pPr>
                <a:defRPr/>
              </a:pPr>
              <a:t>July 9,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endParaRPr lang="en-US" dirty="0"/>
          </a:p>
        </p:txBody>
      </p:sp>
      <p:sp>
        <p:nvSpPr>
          <p:cNvPr id="6" name="Slide Number Placeholder 5"/>
          <p:cNvSpPr>
            <a:spLocks noGrp="1"/>
          </p:cNvSpPr>
          <p:nvPr>
            <p:ph type="sldNum" sz="quarter" idx="12"/>
          </p:nvPr>
        </p:nvSpPr>
        <p:spPr/>
        <p:txBody>
          <a:bodyPr/>
          <a:lstStyle>
            <a:lvl1pPr>
              <a:defRPr/>
            </a:lvl1pPr>
          </a:lstStyle>
          <a:p>
            <a:fld id="{79672586-0B34-4B84-A94A-7B01315591F9}"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4" name="Rectangle 3"/>
          <p:cNvSpPr/>
          <p:nvPr userDrawn="1"/>
        </p:nvSpPr>
        <p:spPr>
          <a:xfrm>
            <a:off x="0" y="0"/>
            <a:ext cx="9144000" cy="9144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48589"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90" name="Subtitle 2"/>
          <p:cNvSpPr>
            <a:spLocks noGrp="1"/>
          </p:cNvSpPr>
          <p:nvPr>
            <p:ph type="subTitle" idx="1"/>
          </p:nvPr>
        </p:nvSpPr>
        <p:spPr>
          <a:xfrm>
            <a:off x="1371600" y="3886200"/>
            <a:ext cx="6400800" cy="1752600"/>
          </a:xfrm>
        </p:spPr>
        <p:txBody>
          <a:bodyPr/>
          <a:lstStyle>
            <a:lvl1pPr marL="0" indent="0" algn="ctr">
              <a:buNone/>
              <a:defRPr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6D5FBC73-EF85-4A88-98EF-3D30FE943CD7}" type="datetime4">
              <a:rPr lang="en-US"/>
              <a:pPr>
                <a:defRPr/>
              </a:pPr>
              <a:t>July 9,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7E3D8A1A-F310-4C9F-9F39-DEED8B092108}"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431925" y="365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3" name="Text Box 5"/>
          <p:cNvSpPr txBox="1">
            <a:spLocks noChangeArrowheads="1"/>
          </p:cNvSpPr>
          <p:nvPr/>
        </p:nvSpPr>
        <p:spPr bwMode="auto">
          <a:xfrm>
            <a:off x="1584325" y="265113"/>
            <a:ext cx="6950075" cy="36671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4" name="Text Box 6"/>
          <p:cNvSpPr txBox="1">
            <a:spLocks noChangeArrowheads="1"/>
          </p:cNvSpPr>
          <p:nvPr/>
        </p:nvSpPr>
        <p:spPr bwMode="auto">
          <a:xfrm>
            <a:off x="152400" y="0"/>
            <a:ext cx="8778875" cy="366713"/>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5" name="Text Box 7"/>
          <p:cNvSpPr txBox="1">
            <a:spLocks noChangeArrowheads="1"/>
          </p:cNvSpPr>
          <p:nvPr/>
        </p:nvSpPr>
        <p:spPr bwMode="auto">
          <a:xfrm>
            <a:off x="1431925" y="2651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46"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4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720AD12-4C7D-48ED-A781-1D90EAF8F27D}"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4" name="Title 1"/>
          <p:cNvSpPr>
            <a:spLocks noGrp="1"/>
          </p:cNvSpPr>
          <p:nvPr>
            <p:ph type="title"/>
          </p:nvPr>
        </p:nvSpPr>
        <p:spPr/>
        <p:txBody>
          <a:bodyPr/>
          <a:lstStyle/>
          <a:p>
            <a:r>
              <a:rPr lang="en-US"/>
              <a:t>Click to edit Master title style</a:t>
            </a:r>
          </a:p>
        </p:txBody>
      </p:sp>
      <p:sp>
        <p:nvSpPr>
          <p:cNvPr id="1048665"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266AE6B-2183-4854-B748-44186F8C5598}"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9"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6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4BC9AF8-C5DE-4806-92A9-EE8242DE140E}"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1" name="Title 1"/>
          <p:cNvSpPr>
            <a:spLocks noGrp="1"/>
          </p:cNvSpPr>
          <p:nvPr>
            <p:ph type="title"/>
          </p:nvPr>
        </p:nvSpPr>
        <p:spPr/>
        <p:txBody>
          <a:bodyPr/>
          <a:lstStyle/>
          <a:p>
            <a:r>
              <a:rPr lang="en-US"/>
              <a:t>Click to edit Master title style</a:t>
            </a:r>
          </a:p>
        </p:txBody>
      </p:sp>
      <p:sp>
        <p:nvSpPr>
          <p:cNvPr id="104861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9A3A83D-79B4-45DB-9CD2-65B55F6C98F5}"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p>
        </p:txBody>
      </p:sp>
      <p:sp>
        <p:nvSpPr>
          <p:cNvPr id="1048652"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41EF6AB0-0D75-4ADF-8D76-DFC49B5D4226}"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3"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D458017C-6284-4482-882E-C30184979605}"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1A12DB6F-C3AF-4FAE-A7A6-D1B35630A24C}"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AC2CA08-EB1D-45EA-A306-09E31D898AD8}"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7"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28"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62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21B76E4-A9B1-4889-842E-5068B48DAC8C}"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r>
              <a:rPr lang="en-US"/>
              <a:t>Click to edit Master title style</a:t>
            </a:r>
          </a:p>
        </p:txBody>
      </p:sp>
      <p:sp>
        <p:nvSpPr>
          <p:cNvPr id="104861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D79E108D-97AB-4851-B10F-017F82988B0D}"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2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7/9/2024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6F62FF3-9B14-415A-AD6D-2D35045551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48576" name="Freeform 11"/>
          <p:cNvSpPr/>
          <p:nvPr/>
        </p:nvSpPr>
        <p:spPr bwMode="auto">
          <a:xfrm>
            <a:off x="0" y="5410200"/>
            <a:ext cx="9144000" cy="1454150"/>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27" name="Title Placeholder 8"/>
          <p:cNvSpPr>
            <a:spLocks noGrp="1"/>
          </p:cNvSpPr>
          <p:nvPr>
            <p:ph type="title"/>
          </p:nvPr>
        </p:nvSpPr>
        <p:spPr bwMode="auto">
          <a:xfrm>
            <a:off x="304800" y="152400"/>
            <a:ext cx="7620000" cy="9906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1028" name="Text Placeholder 29"/>
          <p:cNvSpPr>
            <a:spLocks noGrp="1"/>
          </p:cNvSpPr>
          <p:nvPr>
            <p:ph type="body" idx="1"/>
          </p:nvPr>
        </p:nvSpPr>
        <p:spPr bwMode="auto">
          <a:xfrm>
            <a:off x="304800" y="1371600"/>
            <a:ext cx="76200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579"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CE502735-63BE-4EE3-9EFC-E3669953DA34}" type="datetime4">
              <a:rPr lang="en-US"/>
              <a:pPr>
                <a:defRPr/>
              </a:pPr>
              <a:t>July 9, 2024</a:t>
            </a:fld>
            <a:endParaRPr lang="en-US"/>
          </a:p>
        </p:txBody>
      </p:sp>
      <p:sp>
        <p:nvSpPr>
          <p:cNvPr id="1048580"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MSRIT, Bangalore - 54</a:t>
            </a:r>
          </a:p>
        </p:txBody>
      </p:sp>
      <p:sp>
        <p:nvSpPr>
          <p:cNvPr id="1048581" name="Slide Number Placeholder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b="1"/>
            </a:lvl1pPr>
          </a:lstStyle>
          <a:p>
            <a:fld id="{A0DE0D6A-5BD3-4220-8C61-BD0CB23BE6E6}" type="slidenum">
              <a:rPr lang="en-US"/>
              <a:pPr/>
              <a:t>‹#›</a:t>
            </a:fld>
            <a:endParaRPr lang="en-US"/>
          </a:p>
        </p:txBody>
      </p:sp>
    </p:spTree>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685" r:id="rId6"/>
    <p:sldLayoutId id="2147483686" r:id="rId7"/>
    <p:sldLayoutId id="2147483706" r:id="rId8"/>
    <p:sldLayoutId id="2147483687" r:id="rId9"/>
    <p:sldLayoutId id="2147483688" r:id="rId10"/>
    <p:sldLayoutId id="2147483689" r:id="rId11"/>
    <p:sldLayoutId id="2147483707" r:id="rId12"/>
    <p:sldLayoutId id="2147483708" r:id="rId13"/>
    <p:sldLayoutId id="2147483709" r:id="rId14"/>
  </p:sldLayoutIdLst>
  <p:hf hdr="0" ft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0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fld id="{F5CA11FA-81BA-4E1A-93CB-0E664232FF38}" type="datetimeFigureOut">
              <a:rPr lang="en-US"/>
              <a:pPr>
                <a:defRPr/>
              </a:pPr>
              <a:t>7/9/2024</a:t>
            </a:fld>
            <a:endParaRPr lang="en-US"/>
          </a:p>
        </p:txBody>
      </p:sp>
      <p:sp>
        <p:nvSpPr>
          <p:cNvPr id="104860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endParaRPr lang="en-US"/>
          </a:p>
        </p:txBody>
      </p:sp>
      <p:sp>
        <p:nvSpPr>
          <p:cNvPr id="1048610"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9D1A466F-D17A-47B5-BF09-1FD6E1EA762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bject 2"/>
          <p:cNvSpPr>
            <a:spLocks/>
          </p:cNvSpPr>
          <p:nvPr/>
        </p:nvSpPr>
        <p:spPr bwMode="auto">
          <a:xfrm>
            <a:off x="0" y="0"/>
            <a:ext cx="9144000" cy="944563"/>
          </a:xfrm>
          <a:custGeom>
            <a:avLst/>
            <a:gdLst/>
            <a:ahLst/>
            <a:cxnLst>
              <a:cxn ang="0">
                <a:pos x="9144000" y="0"/>
              </a:cxn>
              <a:cxn ang="0">
                <a:pos x="0" y="0"/>
              </a:cxn>
              <a:cxn ang="0">
                <a:pos x="0" y="914400"/>
              </a:cxn>
              <a:cxn ang="0">
                <a:pos x="9144000" y="914400"/>
              </a:cxn>
              <a:cxn ang="0">
                <a:pos x="9144000" y="0"/>
              </a:cxn>
            </a:cxnLst>
            <a:rect l="0" t="0" r="r" b="b"/>
            <a:pathLst>
              <a:path w="9144000" h="914400">
                <a:moveTo>
                  <a:pt x="9144000" y="0"/>
                </a:moveTo>
                <a:lnTo>
                  <a:pt x="0" y="0"/>
                </a:lnTo>
                <a:lnTo>
                  <a:pt x="0" y="914400"/>
                </a:lnTo>
                <a:lnTo>
                  <a:pt x="9144000" y="914400"/>
                </a:lnTo>
                <a:lnTo>
                  <a:pt x="9144000" y="0"/>
                </a:lnTo>
                <a:close/>
              </a:path>
            </a:pathLst>
          </a:custGeom>
          <a:solidFill>
            <a:srgbClr val="2D6FA0"/>
          </a:solidFill>
          <a:ln w="9525">
            <a:noFill/>
            <a:round/>
            <a:headEnd/>
            <a:tailEnd/>
          </a:ln>
        </p:spPr>
        <p:txBody>
          <a:bodyPr lIns="0" tIns="0" rIns="0" bIns="0"/>
          <a:lstStyle/>
          <a:p>
            <a:endParaRPr lang="en-US"/>
          </a:p>
        </p:txBody>
      </p:sp>
      <p:sp>
        <p:nvSpPr>
          <p:cNvPr id="13315" name="TextBox 2"/>
          <p:cNvSpPr txBox="1">
            <a:spLocks noChangeArrowheads="1"/>
          </p:cNvSpPr>
          <p:nvPr/>
        </p:nvSpPr>
        <p:spPr bwMode="auto">
          <a:xfrm>
            <a:off x="249238" y="257175"/>
            <a:ext cx="8078787" cy="492125"/>
          </a:xfrm>
          <a:prstGeom prst="rect">
            <a:avLst/>
          </a:prstGeom>
          <a:noFill/>
          <a:ln w="9525">
            <a:noFill/>
            <a:miter lim="800000"/>
            <a:headEnd/>
            <a:tailEnd/>
          </a:ln>
        </p:spPr>
        <p:txBody>
          <a:bodyPr>
            <a:spAutoFit/>
          </a:bodyPr>
          <a:lstStyle/>
          <a:p>
            <a:pPr eaLnBrk="1" hangingPunct="1"/>
            <a:r>
              <a:rPr lang="en-US" sz="2600" b="1" dirty="0">
                <a:latin typeface="Times New Roman" pitchFamily="18" charset="0"/>
                <a:cs typeface="Times New Roman" pitchFamily="18" charset="0"/>
              </a:rPr>
              <a:t>  INSTITUTE OF AERONAUTICAL ENGINEERING</a:t>
            </a:r>
            <a:endParaRPr lang="en-IN" sz="2600" dirty="0">
              <a:latin typeface="Times New Roman" pitchFamily="18" charset="0"/>
              <a:cs typeface="Times New Roman" pitchFamily="18" charset="0"/>
            </a:endParaRPr>
          </a:p>
        </p:txBody>
      </p:sp>
      <p:pic>
        <p:nvPicPr>
          <p:cNvPr id="13316" name="Picture 3"/>
          <p:cNvPicPr>
            <a:picLocks noChangeAspect="1"/>
          </p:cNvPicPr>
          <p:nvPr/>
        </p:nvPicPr>
        <p:blipFill>
          <a:blip r:embed="rId2"/>
          <a:srcRect/>
          <a:stretch>
            <a:fillRect/>
          </a:stretch>
        </p:blipFill>
        <p:spPr bwMode="auto">
          <a:xfrm>
            <a:off x="8328025" y="23813"/>
            <a:ext cx="731838" cy="822325"/>
          </a:xfrm>
          <a:prstGeom prst="rect">
            <a:avLst/>
          </a:prstGeom>
          <a:noFill/>
          <a:ln w="9525">
            <a:noFill/>
            <a:miter lim="800000"/>
            <a:headEnd/>
            <a:tailEnd/>
          </a:ln>
        </p:spPr>
      </p:pic>
      <p:sp>
        <p:nvSpPr>
          <p:cNvPr id="13317" name="TextBox 4"/>
          <p:cNvSpPr txBox="1">
            <a:spLocks noChangeArrowheads="1"/>
          </p:cNvSpPr>
          <p:nvPr/>
        </p:nvSpPr>
        <p:spPr bwMode="auto">
          <a:xfrm>
            <a:off x="5334000" y="5278438"/>
            <a:ext cx="3725863" cy="1323439"/>
          </a:xfrm>
          <a:prstGeom prst="rect">
            <a:avLst/>
          </a:prstGeom>
          <a:noFill/>
          <a:ln w="9525">
            <a:noFill/>
            <a:miter lim="800000"/>
            <a:headEnd/>
            <a:tailEnd/>
          </a:ln>
        </p:spPr>
        <p:txBody>
          <a:bodyPr>
            <a:spAutoFit/>
          </a:bodyPr>
          <a:lstStyle/>
          <a:p>
            <a:pPr eaLnBrk="1" hangingPunct="1"/>
            <a:r>
              <a:rPr lang="en-US" sz="1600" b="1" dirty="0">
                <a:solidFill>
                  <a:schemeClr val="bg1"/>
                </a:solidFill>
                <a:latin typeface="Times New Roman" pitchFamily="18" charset="0"/>
                <a:cs typeface="Times New Roman" pitchFamily="18" charset="0"/>
              </a:rPr>
              <a:t>Presented by –</a:t>
            </a:r>
            <a:r>
              <a:rPr lang="en-US" sz="1600" dirty="0">
                <a:solidFill>
                  <a:schemeClr val="bg1"/>
                </a:solidFill>
                <a:latin typeface="Times New Roman" pitchFamily="18" charset="0"/>
                <a:cs typeface="Times New Roman" pitchFamily="18" charset="0"/>
              </a:rPr>
              <a:t>                                                        </a:t>
            </a:r>
          </a:p>
          <a:p>
            <a:pPr eaLnBrk="1" hangingPunct="1"/>
            <a:r>
              <a:rPr lang="en-US" sz="1600" dirty="0" err="1" smtClean="0">
                <a:solidFill>
                  <a:schemeClr val="bg1"/>
                </a:solidFill>
                <a:latin typeface="Times New Roman" pitchFamily="18" charset="0"/>
                <a:cs typeface="Times New Roman" pitchFamily="18" charset="0"/>
              </a:rPr>
              <a:t>D.Neha</a:t>
            </a:r>
            <a:r>
              <a:rPr lang="en-US" sz="1600" dirty="0" smtClean="0">
                <a:solidFill>
                  <a:schemeClr val="bg1"/>
                </a:solidFill>
                <a:latin typeface="Times New Roman" pitchFamily="18" charset="0"/>
                <a:cs typeface="Times New Roman" pitchFamily="18" charset="0"/>
              </a:rPr>
              <a:t>  - 21951A05B8</a:t>
            </a:r>
            <a:endParaRPr lang="en-US" sz="1600" dirty="0">
              <a:solidFill>
                <a:schemeClr val="bg1"/>
              </a:solidFill>
              <a:latin typeface="Times New Roman" pitchFamily="18" charset="0"/>
              <a:cs typeface="Times New Roman" pitchFamily="18" charset="0"/>
            </a:endParaRPr>
          </a:p>
          <a:p>
            <a:pPr eaLnBrk="1" hangingPunct="1"/>
            <a:r>
              <a:rPr lang="en-US" sz="1600" dirty="0" smtClean="0">
                <a:solidFill>
                  <a:schemeClr val="bg1"/>
                </a:solidFill>
                <a:latin typeface="Times New Roman" pitchFamily="18" charset="0"/>
                <a:cs typeface="Times New Roman" pitchFamily="18" charset="0"/>
              </a:rPr>
              <a:t>Mohammed </a:t>
            </a:r>
            <a:r>
              <a:rPr lang="en-US" sz="1600" dirty="0" err="1" smtClean="0">
                <a:solidFill>
                  <a:schemeClr val="bg1"/>
                </a:solidFill>
                <a:latin typeface="Times New Roman" pitchFamily="18" charset="0"/>
                <a:cs typeface="Times New Roman" pitchFamily="18" charset="0"/>
              </a:rPr>
              <a:t>Ameesha</a:t>
            </a:r>
            <a:r>
              <a:rPr lang="en-US" sz="1600" dirty="0" smtClean="0">
                <a:solidFill>
                  <a:schemeClr val="bg1"/>
                </a:solidFill>
                <a:latin typeface="Times New Roman" pitchFamily="18" charset="0"/>
                <a:cs typeface="Times New Roman" pitchFamily="18" charset="0"/>
              </a:rPr>
              <a:t>   - 21951A05A4                                                          </a:t>
            </a:r>
            <a:r>
              <a:rPr lang="en-US" sz="1600" dirty="0" err="1" smtClean="0">
                <a:solidFill>
                  <a:schemeClr val="bg1"/>
                </a:solidFill>
                <a:latin typeface="Times New Roman" pitchFamily="18" charset="0"/>
                <a:cs typeface="Times New Roman" pitchFamily="18" charset="0"/>
              </a:rPr>
              <a:t>M.Dheeraj</a:t>
            </a:r>
            <a:r>
              <a:rPr lang="en-US" sz="1600" dirty="0" smtClean="0">
                <a:solidFill>
                  <a:schemeClr val="bg1"/>
                </a:solidFill>
                <a:latin typeface="Times New Roman" pitchFamily="18" charset="0"/>
                <a:cs typeface="Times New Roman" pitchFamily="18" charset="0"/>
              </a:rPr>
              <a:t> – 21951A0538              </a:t>
            </a:r>
            <a:r>
              <a:rPr lang="en-IN" sz="1600" dirty="0">
                <a:solidFill>
                  <a:schemeClr val="bg1"/>
                </a:solidFill>
                <a:latin typeface="Times New Roman" pitchFamily="18" charset="0"/>
                <a:cs typeface="Times New Roman" pitchFamily="18" charset="0"/>
              </a:rPr>
              <a:t>	</a:t>
            </a:r>
          </a:p>
        </p:txBody>
      </p:sp>
      <p:sp>
        <p:nvSpPr>
          <p:cNvPr id="13318" name="TextBox 5"/>
          <p:cNvSpPr txBox="1">
            <a:spLocks noChangeArrowheads="1"/>
          </p:cNvSpPr>
          <p:nvPr/>
        </p:nvSpPr>
        <p:spPr bwMode="auto">
          <a:xfrm>
            <a:off x="0" y="1387475"/>
            <a:ext cx="9059863" cy="461963"/>
          </a:xfrm>
          <a:prstGeom prst="rect">
            <a:avLst/>
          </a:prstGeom>
          <a:noFill/>
          <a:ln w="9525">
            <a:noFill/>
            <a:miter lim="800000"/>
            <a:headEnd/>
            <a:tailEnd/>
          </a:ln>
        </p:spPr>
        <p:txBody>
          <a:bodyPr>
            <a:spAutoFit/>
          </a:bodyPr>
          <a:lstStyle/>
          <a:p>
            <a:pPr algn="ctr" eaLnBrk="1" hangingPunct="1"/>
            <a:r>
              <a:rPr lang="en-IN" sz="2400" b="1" dirty="0" smtClean="0">
                <a:solidFill>
                  <a:schemeClr val="bg1"/>
                </a:solidFill>
                <a:latin typeface="Times New Roman" pitchFamily="18" charset="0"/>
                <a:cs typeface="Times New Roman" pitchFamily="18" charset="0"/>
              </a:rPr>
              <a:t>REVIEW-3</a:t>
            </a:r>
            <a:endParaRPr lang="en-IN" sz="2400" b="1" dirty="0">
              <a:solidFill>
                <a:schemeClr val="bg1"/>
              </a:solidFill>
              <a:latin typeface="Times New Roman" pitchFamily="18" charset="0"/>
              <a:cs typeface="Times New Roman" pitchFamily="18" charset="0"/>
            </a:endParaRPr>
          </a:p>
        </p:txBody>
      </p:sp>
      <p:sp>
        <p:nvSpPr>
          <p:cNvPr id="13319" name="TextBox 6"/>
          <p:cNvSpPr txBox="1">
            <a:spLocks noChangeArrowheads="1"/>
          </p:cNvSpPr>
          <p:nvPr/>
        </p:nvSpPr>
        <p:spPr bwMode="auto">
          <a:xfrm>
            <a:off x="760414" y="2041525"/>
            <a:ext cx="7538856" cy="2031325"/>
          </a:xfrm>
          <a:prstGeom prst="rect">
            <a:avLst/>
          </a:prstGeom>
          <a:noFill/>
          <a:ln w="9525">
            <a:noFill/>
            <a:miter lim="800000"/>
            <a:headEnd/>
            <a:tailEnd/>
          </a:ln>
        </p:spPr>
        <p:txBody>
          <a:bodyPr wrap="square">
            <a:spAutoFit/>
          </a:bodyPr>
          <a:lstStyle/>
          <a:p>
            <a:pPr eaLnBrk="1" hangingPunct="1">
              <a:lnSpc>
                <a:spcPct val="150000"/>
              </a:lnSpc>
            </a:pPr>
            <a:r>
              <a:rPr lang="en-US" sz="24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Department</a:t>
            </a:r>
            <a:r>
              <a:rPr lang="en-IN" sz="2400" dirty="0">
                <a:solidFill>
                  <a:srgbClr val="C00000"/>
                </a:solidFill>
                <a:latin typeface="Times New Roman" pitchFamily="18" charset="0"/>
                <a:cs typeface="Times New Roman" pitchFamily="18" charset="0"/>
              </a:rPr>
              <a:t>:</a:t>
            </a:r>
            <a:r>
              <a:rPr lang="en-US" sz="2400" dirty="0">
                <a:solidFill>
                  <a:srgbClr val="C00000"/>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Computer Science and Engineering  </a:t>
            </a:r>
            <a:endParaRPr lang="en-US" sz="2400" dirty="0">
              <a:solidFill>
                <a:schemeClr val="bg1"/>
              </a:solidFill>
              <a:latin typeface="Times New Roman" pitchFamily="18" charset="0"/>
              <a:cs typeface="Times New Roman" pitchFamily="18" charset="0"/>
            </a:endParaRPr>
          </a:p>
          <a:p>
            <a:pPr eaLnBrk="1" hangingPunct="1">
              <a:lnSpc>
                <a:spcPct val="150000"/>
              </a:lnSpc>
            </a:pPr>
            <a:r>
              <a:rPr lang="en-IN" sz="30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Project </a:t>
            </a:r>
            <a:r>
              <a:rPr lang="en-IN" sz="2400" b="1" dirty="0" smtClean="0">
                <a:solidFill>
                  <a:srgbClr val="C00000"/>
                </a:solidFill>
                <a:latin typeface="Times New Roman" pitchFamily="18" charset="0"/>
                <a:cs typeface="Times New Roman" pitchFamily="18" charset="0"/>
              </a:rPr>
              <a:t>title: </a:t>
            </a:r>
            <a:r>
              <a:rPr lang="en-IN" sz="2400" b="1" dirty="0" smtClean="0">
                <a:solidFill>
                  <a:schemeClr val="bg1"/>
                </a:solidFill>
                <a:latin typeface="Times New Roman" pitchFamily="18" charset="0"/>
                <a:cs typeface="Times New Roman" pitchFamily="18" charset="0"/>
              </a:rPr>
              <a:t>Optimizing Telecom Operations with Segmentation and Churn Prediction  </a:t>
            </a:r>
            <a:r>
              <a:rPr lang="en-IN" sz="2400" dirty="0" smtClean="0">
                <a:solidFill>
                  <a:schemeClr val="bg1"/>
                </a:solidFill>
                <a:latin typeface="Times New Roman" pitchFamily="18" charset="0"/>
                <a:cs typeface="Times New Roman" pitchFamily="18" charset="0"/>
              </a:rPr>
              <a:t>.    </a:t>
            </a:r>
            <a:r>
              <a:rPr lang="en-IN" sz="3000" dirty="0">
                <a:solidFill>
                  <a:schemeClr val="bg1"/>
                </a:solidFill>
                <a:latin typeface="Times New Roman" pitchFamily="18" charset="0"/>
                <a:cs typeface="Times New Roman" pitchFamily="18" charset="0"/>
              </a:rPr>
              <a:t>	</a:t>
            </a:r>
          </a:p>
        </p:txBody>
      </p:sp>
      <p:sp>
        <p:nvSpPr>
          <p:cNvPr id="13320" name="TextBox 7"/>
          <p:cNvSpPr txBox="1">
            <a:spLocks noChangeArrowheads="1"/>
          </p:cNvSpPr>
          <p:nvPr/>
        </p:nvSpPr>
        <p:spPr bwMode="auto">
          <a:xfrm>
            <a:off x="225425" y="3997234"/>
            <a:ext cx="8693150" cy="577081"/>
          </a:xfrm>
          <a:prstGeom prst="rect">
            <a:avLst/>
          </a:prstGeom>
          <a:noFill/>
          <a:ln w="9525">
            <a:noFill/>
            <a:miter lim="800000"/>
            <a:headEnd/>
            <a:tailEnd/>
          </a:ln>
        </p:spPr>
        <p:txBody>
          <a:bodyPr wrap="square">
            <a:spAutoFit/>
          </a:bodyPr>
          <a:lstStyle/>
          <a:p>
            <a:pPr algn="ctr" eaLnBrk="1" hangingPunct="1">
              <a:lnSpc>
                <a:spcPct val="150000"/>
              </a:lnSpc>
            </a:pPr>
            <a:r>
              <a:rPr lang="en-IN" b="1" dirty="0">
                <a:solidFill>
                  <a:srgbClr val="C00000"/>
                </a:solidFill>
                <a:latin typeface="Times New Roman" pitchFamily="18" charset="0"/>
                <a:cs typeface="Times New Roman" pitchFamily="18" charset="0"/>
              </a:rPr>
              <a:t>Mentor</a:t>
            </a:r>
            <a:r>
              <a:rPr lang="en-IN" dirty="0">
                <a:solidFill>
                  <a:srgbClr val="C00000"/>
                </a:solidFill>
                <a:latin typeface="Times New Roman" pitchFamily="18" charset="0"/>
                <a:cs typeface="Times New Roman" pitchFamily="18" charset="0"/>
              </a:rPr>
              <a:t>: </a:t>
            </a:r>
            <a:r>
              <a:rPr lang="en-IN" dirty="0">
                <a:solidFill>
                  <a:schemeClr val="bg1"/>
                </a:solidFill>
                <a:latin typeface="Times New Roman" pitchFamily="18" charset="0"/>
                <a:cs typeface="Times New Roman" pitchFamily="18" charset="0"/>
              </a:rPr>
              <a:t>Ms. </a:t>
            </a:r>
            <a:r>
              <a:rPr lang="en-IN" dirty="0" err="1" smtClean="0">
                <a:solidFill>
                  <a:schemeClr val="bg1"/>
                </a:solidFill>
                <a:latin typeface="Times New Roman" pitchFamily="18" charset="0"/>
                <a:cs typeface="Times New Roman" pitchFamily="18" charset="0"/>
              </a:rPr>
              <a:t>K.Sangeeta</a:t>
            </a:r>
            <a:r>
              <a:rPr lang="en-IN" dirty="0" smtClean="0">
                <a:solidFill>
                  <a:schemeClr val="bg1"/>
                </a:solidFill>
                <a:latin typeface="Times New Roman" pitchFamily="18" charset="0"/>
                <a:cs typeface="Times New Roman" pitchFamily="18" charset="0"/>
              </a:rPr>
              <a:t> , </a:t>
            </a:r>
            <a:r>
              <a:rPr lang="en-IN" dirty="0">
                <a:solidFill>
                  <a:schemeClr val="bg1"/>
                </a:solidFill>
                <a:latin typeface="Times New Roman" pitchFamily="18" charset="0"/>
                <a:cs typeface="Times New Roman" pitchFamily="18" charset="0"/>
              </a:rPr>
              <a:t>Assistant Professor, </a:t>
            </a:r>
            <a:r>
              <a:rPr lang="en-IN" dirty="0" smtClean="0">
                <a:solidFill>
                  <a:schemeClr val="bg1"/>
                </a:solidFill>
                <a:latin typeface="Times New Roman" pitchFamily="18" charset="0"/>
                <a:cs typeface="Times New Roman" pitchFamily="18" charset="0"/>
              </a:rPr>
              <a:t>CSE </a:t>
            </a:r>
            <a:r>
              <a:rPr lang="en-IN" dirty="0">
                <a:solidFill>
                  <a:schemeClr val="bg1"/>
                </a:solidFill>
                <a:latin typeface="Times New Roman" pitchFamily="18" charset="0"/>
                <a:cs typeface="Times New Roman" pitchFamily="18" charset="0"/>
              </a:rPr>
              <a:t>Departmen</a:t>
            </a:r>
            <a:r>
              <a:rPr lang="en-IN" sz="2100" dirty="0">
                <a:solidFill>
                  <a:schemeClr val="bg1"/>
                </a:solidFill>
                <a:latin typeface="Times New Roman" pitchFamily="18" charset="0"/>
                <a:cs typeface="Times New Roman" pitchFamily="18" charset="0"/>
              </a:rPr>
              <a:t>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a:solidFill>
                  <a:schemeClr val="tx1"/>
                </a:solidFill>
              </a:rPr>
              <a:t>ABSTRACT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marL="285750" indent="-285750" algn="just">
              <a:lnSpc>
                <a:spcPct val="150000"/>
              </a:lnSpc>
              <a:buFont typeface="Wingdings" panose="05000000000000000000" pitchFamily="2" charset="2"/>
              <a:buChar char="§"/>
              <a:defRPr/>
            </a:pPr>
            <a:r>
              <a:rPr lang="en-US" sz="2000" b="0" dirty="0">
                <a:solidFill>
                  <a:schemeClr val="bg1"/>
                </a:solidFill>
              </a:rPr>
              <a:t>Telecom companies operate in highly competitive environments where customer churn poses a significant challenge. To address this issue, this </a:t>
            </a:r>
            <a:r>
              <a:rPr lang="en-US" sz="2000" b="0" dirty="0" smtClean="0">
                <a:solidFill>
                  <a:schemeClr val="bg1"/>
                </a:solidFill>
              </a:rPr>
              <a:t>explores </a:t>
            </a:r>
            <a:r>
              <a:rPr lang="en-US" sz="2000" b="0" dirty="0">
                <a:solidFill>
                  <a:schemeClr val="bg1"/>
                </a:solidFill>
              </a:rPr>
              <a:t>the implementation of segmentation and churn prediction techniques to optimize telecom operations. By segmenting customers based on their behavior, preferences, and usage patterns, telecom companies can personalize their offerings and improve customer satisfaction. Additionally, employing churn prediction models enables proactive measures to retain at-risk customers, thereby reducing churn rates and enhancing revenue. </a:t>
            </a:r>
            <a:r>
              <a:rPr lang="en-US" sz="2000" b="0" dirty="0" smtClean="0">
                <a:solidFill>
                  <a:schemeClr val="bg1"/>
                </a:solidFill>
              </a:rPr>
              <a:t>This outlines </a:t>
            </a:r>
            <a:r>
              <a:rPr lang="en-US" sz="2000" b="0" dirty="0">
                <a:solidFill>
                  <a:schemeClr val="bg1"/>
                </a:solidFill>
              </a:rPr>
              <a:t>the objectives and approaches utilized in optimizing telecom operations through segmentation and churn prediction.</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774062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4563" y="208320"/>
            <a:ext cx="7798837" cy="631436"/>
          </a:xfrm>
        </p:spPr>
        <p:txBody>
          <a:bodyPr/>
          <a:lstStyle/>
          <a:p>
            <a:r>
              <a:rPr lang="en-US" dirty="0" smtClean="0">
                <a:solidFill>
                  <a:schemeClr val="tx1"/>
                </a:solidFill>
              </a:rPr>
              <a:t>INTRODUCTION </a:t>
            </a:r>
            <a:endParaRPr lang="en-IN" dirty="0">
              <a:solidFill>
                <a:schemeClr val="tx1"/>
              </a:solidFill>
            </a:endParaRPr>
          </a:p>
        </p:txBody>
      </p:sp>
      <p:sp>
        <p:nvSpPr>
          <p:cNvPr id="3" name="Subtitle 2"/>
          <p:cNvSpPr>
            <a:spLocks noGrp="1"/>
          </p:cNvSpPr>
          <p:nvPr>
            <p:ph type="subTitle" idx="1"/>
          </p:nvPr>
        </p:nvSpPr>
        <p:spPr>
          <a:xfrm>
            <a:off x="205273" y="1156997"/>
            <a:ext cx="8938727" cy="4481804"/>
          </a:xfrm>
        </p:spPr>
        <p:txBody>
          <a:bodyPr/>
          <a:lstStyle/>
          <a:p>
            <a:pPr algn="l" latinLnBrk="1"/>
            <a:r>
              <a:rPr lang="en-US" sz="2000" b="0" dirty="0">
                <a:solidFill>
                  <a:schemeClr val="bg1"/>
                </a:solidFill>
              </a:rPr>
              <a:t>The telecommunications sector has displayed one of the central </a:t>
            </a:r>
            <a:r>
              <a:rPr lang="en-US" sz="2000" b="0" dirty="0" smtClean="0">
                <a:solidFill>
                  <a:schemeClr val="bg1"/>
                </a:solidFill>
              </a:rPr>
              <a:t>industries in</a:t>
            </a:r>
          </a:p>
          <a:p>
            <a:pPr algn="l" latinLnBrk="1"/>
            <a:r>
              <a:rPr lang="en-US" sz="2000" b="0" dirty="0" smtClean="0">
                <a:solidFill>
                  <a:schemeClr val="bg1"/>
                </a:solidFill>
              </a:rPr>
              <a:t>developed </a:t>
            </a:r>
            <a:r>
              <a:rPr lang="en-US" sz="2000" b="0" dirty="0">
                <a:solidFill>
                  <a:schemeClr val="bg1"/>
                </a:solidFill>
              </a:rPr>
              <a:t>countries. Service companies like these suffer, particularly </a:t>
            </a:r>
            <a:r>
              <a:rPr lang="en-US" sz="2000" b="0" dirty="0" smtClean="0">
                <a:solidFill>
                  <a:schemeClr val="bg1"/>
                </a:solidFill>
              </a:rPr>
              <a:t>from </a:t>
            </a:r>
          </a:p>
          <a:p>
            <a:pPr algn="l" latinLnBrk="1"/>
            <a:r>
              <a:rPr lang="en-US" sz="2000" b="0" dirty="0" smtClean="0">
                <a:solidFill>
                  <a:schemeClr val="bg1"/>
                </a:solidFill>
              </a:rPr>
              <a:t>the </a:t>
            </a:r>
            <a:r>
              <a:rPr lang="en-US" sz="2000" b="0" dirty="0">
                <a:solidFill>
                  <a:schemeClr val="bg1"/>
                </a:solidFill>
              </a:rPr>
              <a:t>loss of valuable customers due to competitors known as </a:t>
            </a:r>
            <a:r>
              <a:rPr lang="en-US" sz="2000" b="0" dirty="0" smtClean="0">
                <a:solidFill>
                  <a:schemeClr val="bg1"/>
                </a:solidFill>
              </a:rPr>
              <a:t>customer </a:t>
            </a:r>
            <a:r>
              <a:rPr lang="en-US" sz="2000" b="0" dirty="0">
                <a:solidFill>
                  <a:schemeClr val="bg1"/>
                </a:solidFill>
              </a:rPr>
              <a:t>churn. The scientific progress and the growing number of </a:t>
            </a:r>
            <a:r>
              <a:rPr lang="en-US" sz="2000" b="0" dirty="0" smtClean="0">
                <a:solidFill>
                  <a:schemeClr val="bg1"/>
                </a:solidFill>
              </a:rPr>
              <a:t>operators </a:t>
            </a:r>
            <a:r>
              <a:rPr lang="en-US" sz="2000" b="0" dirty="0">
                <a:solidFill>
                  <a:schemeClr val="bg1"/>
                </a:solidFill>
              </a:rPr>
              <a:t>increased the </a:t>
            </a:r>
            <a:endParaRPr lang="en-US" sz="2000" b="0" dirty="0" smtClean="0">
              <a:solidFill>
                <a:schemeClr val="bg1"/>
              </a:solidFill>
            </a:endParaRPr>
          </a:p>
          <a:p>
            <a:pPr algn="l" latinLnBrk="1"/>
            <a:r>
              <a:rPr lang="en-US" sz="2000" b="0" dirty="0" smtClean="0">
                <a:solidFill>
                  <a:schemeClr val="bg1"/>
                </a:solidFill>
              </a:rPr>
              <a:t>level </a:t>
            </a:r>
            <a:r>
              <a:rPr lang="en-US" sz="2000" b="0" dirty="0">
                <a:solidFill>
                  <a:schemeClr val="bg1"/>
                </a:solidFill>
              </a:rPr>
              <a:t>of opposition. Companies are pulling hard to survive in this aggressive </a:t>
            </a:r>
            <a:endParaRPr lang="en-US" sz="2000" b="0" dirty="0" smtClean="0">
              <a:solidFill>
                <a:schemeClr val="bg1"/>
              </a:solidFill>
            </a:endParaRPr>
          </a:p>
          <a:p>
            <a:pPr algn="l" latinLnBrk="1"/>
            <a:r>
              <a:rPr lang="en-US" sz="2000" b="0" dirty="0" smtClean="0">
                <a:solidFill>
                  <a:schemeClr val="bg1"/>
                </a:solidFill>
              </a:rPr>
              <a:t>market</a:t>
            </a:r>
            <a:r>
              <a:rPr lang="en-US" sz="2000" b="0" dirty="0">
                <a:solidFill>
                  <a:schemeClr val="bg1"/>
                </a:solidFill>
              </a:rPr>
              <a:t>, </a:t>
            </a:r>
            <a:r>
              <a:rPr lang="en-US" sz="2000" b="0" dirty="0" smtClean="0">
                <a:solidFill>
                  <a:schemeClr val="bg1"/>
                </a:solidFill>
              </a:rPr>
              <a:t>depending </a:t>
            </a:r>
            <a:r>
              <a:rPr lang="en-US" sz="2000" b="0" dirty="0">
                <a:solidFill>
                  <a:schemeClr val="bg1"/>
                </a:solidFill>
              </a:rPr>
              <a:t>on complicated strategies. </a:t>
            </a:r>
            <a:endParaRPr lang="en-US" sz="2000" b="0" dirty="0" smtClean="0">
              <a:solidFill>
                <a:schemeClr val="bg1"/>
              </a:solidFill>
            </a:endParaRPr>
          </a:p>
          <a:p>
            <a:pPr algn="l" latinLnBrk="1"/>
            <a:r>
              <a:rPr lang="en-US" sz="2000" b="0" dirty="0" smtClean="0">
                <a:solidFill>
                  <a:schemeClr val="bg1"/>
                </a:solidFill>
              </a:rPr>
              <a:t>The </a:t>
            </a:r>
            <a:r>
              <a:rPr lang="en-US" sz="2000" b="0" dirty="0">
                <a:solidFill>
                  <a:schemeClr val="bg1"/>
                </a:solidFill>
              </a:rPr>
              <a:t>customer churn causes a considerable loss of telecom services and </a:t>
            </a:r>
            <a:endParaRPr lang="en-US" sz="2000" b="0" dirty="0" smtClean="0">
              <a:solidFill>
                <a:schemeClr val="bg1"/>
              </a:solidFill>
            </a:endParaRPr>
          </a:p>
          <a:p>
            <a:pPr algn="l" latinLnBrk="1"/>
            <a:r>
              <a:rPr lang="en-US" sz="2000" b="0" dirty="0" smtClean="0">
                <a:solidFill>
                  <a:schemeClr val="bg1"/>
                </a:solidFill>
              </a:rPr>
              <a:t>becomes </a:t>
            </a:r>
            <a:r>
              <a:rPr lang="en-US" sz="2000" b="0" dirty="0">
                <a:solidFill>
                  <a:schemeClr val="bg1"/>
                </a:solidFill>
              </a:rPr>
              <a:t>a severe problem. we aim to personalize customer experiences, </a:t>
            </a:r>
            <a:endParaRPr lang="en-US" sz="2000" b="0" dirty="0" smtClean="0">
              <a:solidFill>
                <a:schemeClr val="bg1"/>
              </a:solidFill>
            </a:endParaRPr>
          </a:p>
          <a:p>
            <a:pPr algn="l" latinLnBrk="1"/>
            <a:r>
              <a:rPr lang="en-US" sz="2000" b="0" dirty="0" smtClean="0">
                <a:solidFill>
                  <a:schemeClr val="bg1"/>
                </a:solidFill>
              </a:rPr>
              <a:t>reduce </a:t>
            </a:r>
            <a:r>
              <a:rPr lang="en-US" sz="2000" b="0" dirty="0">
                <a:solidFill>
                  <a:schemeClr val="bg1"/>
                </a:solidFill>
              </a:rPr>
              <a:t>churn rates, and allocate resources more effectively. The objective is </a:t>
            </a:r>
            <a:endParaRPr lang="en-US" sz="2000" b="0" dirty="0" smtClean="0">
              <a:solidFill>
                <a:schemeClr val="bg1"/>
              </a:solidFill>
            </a:endParaRPr>
          </a:p>
          <a:p>
            <a:pPr algn="l" latinLnBrk="1"/>
            <a:r>
              <a:rPr lang="en-US" sz="2000" b="0" dirty="0" smtClean="0">
                <a:solidFill>
                  <a:schemeClr val="bg1"/>
                </a:solidFill>
              </a:rPr>
              <a:t>to </a:t>
            </a:r>
            <a:r>
              <a:rPr lang="en-US" sz="2000" b="0" dirty="0">
                <a:solidFill>
                  <a:schemeClr val="bg1"/>
                </a:solidFill>
              </a:rPr>
              <a:t>maximize revenue growth by retaining high-value customers and </a:t>
            </a:r>
            <a:r>
              <a:rPr lang="en-US" sz="2000" b="0" dirty="0" smtClean="0">
                <a:solidFill>
                  <a:schemeClr val="bg1"/>
                </a:solidFill>
              </a:rPr>
              <a:t>improving</a:t>
            </a:r>
          </a:p>
          <a:p>
            <a:pPr algn="l" latinLnBrk="1"/>
            <a:r>
              <a:rPr lang="en-US" sz="2000" b="0" dirty="0" smtClean="0">
                <a:solidFill>
                  <a:schemeClr val="bg1"/>
                </a:solidFill>
              </a:rPr>
              <a:t>overall </a:t>
            </a:r>
            <a:r>
              <a:rPr lang="en-US" sz="2000" b="0" dirty="0">
                <a:solidFill>
                  <a:schemeClr val="bg1"/>
                </a:solidFill>
              </a:rPr>
              <a:t>operational efficiency. Through data-driven insights and targeted </a:t>
            </a:r>
            <a:endParaRPr lang="en-US" sz="2000" b="0" dirty="0" smtClean="0">
              <a:solidFill>
                <a:schemeClr val="bg1"/>
              </a:solidFill>
            </a:endParaRPr>
          </a:p>
          <a:p>
            <a:pPr algn="l" latinLnBrk="1"/>
            <a:r>
              <a:rPr lang="en-US" sz="2000" b="0" dirty="0" smtClean="0">
                <a:solidFill>
                  <a:schemeClr val="bg1"/>
                </a:solidFill>
              </a:rPr>
              <a:t>interventions</a:t>
            </a:r>
            <a:r>
              <a:rPr lang="en-US" sz="2000" b="0" dirty="0">
                <a:solidFill>
                  <a:schemeClr val="bg1"/>
                </a:solidFill>
              </a:rPr>
              <a:t>, this project seeks to position our telecom company for success </a:t>
            </a:r>
            <a:endParaRPr lang="en-US" sz="2000" b="0" dirty="0" smtClean="0">
              <a:solidFill>
                <a:schemeClr val="bg1"/>
              </a:solidFill>
            </a:endParaRPr>
          </a:p>
          <a:p>
            <a:pPr algn="l" latinLnBrk="1"/>
            <a:r>
              <a:rPr lang="en-US" sz="2000" b="0" dirty="0" smtClean="0">
                <a:solidFill>
                  <a:schemeClr val="bg1"/>
                </a:solidFill>
              </a:rPr>
              <a:t>in </a:t>
            </a:r>
            <a:r>
              <a:rPr lang="en-US" sz="2000" b="0" dirty="0">
                <a:solidFill>
                  <a:schemeClr val="bg1"/>
                </a:solidFill>
              </a:rPr>
              <a:t>a dynamic and evolving marketplace.</a:t>
            </a:r>
            <a:endParaRPr lang="en-IN" sz="20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3</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6495547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152400" y="152400"/>
            <a:ext cx="7696200" cy="609600"/>
          </a:xfrm>
        </p:spPr>
        <p:txBody>
          <a:bodyPr/>
          <a:lstStyle/>
          <a:p>
            <a:r>
              <a:rPr lang="en-US" dirty="0">
                <a:solidFill>
                  <a:schemeClr val="tx1"/>
                </a:solidFill>
              </a:rPr>
              <a:t>OBJECTIVES </a:t>
            </a:r>
            <a:endParaRPr lang="en-IN" dirty="0" smtClean="0">
              <a:solidFill>
                <a:schemeClr val="tx1"/>
              </a:solidFill>
            </a:endParaRPr>
          </a:p>
        </p:txBody>
      </p:sp>
      <p:sp>
        <p:nvSpPr>
          <p:cNvPr id="3" name="Subtitle 2">
            <a:extLst>
              <a:ext uri="{FF2B5EF4-FFF2-40B4-BE49-F238E27FC236}">
                <a16:creationId xmlns:a16="http://schemas.microsoft.com/office/drawing/2014/main" id="{38F83DA7-CCC7-79F9-685B-9B211F9ED03C}"/>
              </a:ext>
            </a:extLst>
          </p:cNvPr>
          <p:cNvSpPr>
            <a:spLocks noGrp="1"/>
          </p:cNvSpPr>
          <p:nvPr>
            <p:ph type="subTitle" idx="1"/>
          </p:nvPr>
        </p:nvSpPr>
        <p:spPr>
          <a:xfrm>
            <a:off x="152400" y="1066800"/>
            <a:ext cx="8763000" cy="5410200"/>
          </a:xfrm>
        </p:spPr>
        <p:txBody>
          <a:bodyPr/>
          <a:lstStyle/>
          <a:p>
            <a:pPr marL="285750" indent="-285750" algn="l">
              <a:buFont typeface="Wingdings" panose="05000000000000000000" pitchFamily="2" charset="2"/>
              <a:buChar char="§"/>
            </a:pPr>
            <a:r>
              <a:rPr lang="en-US" sz="2000" dirty="0">
                <a:solidFill>
                  <a:schemeClr val="bg1"/>
                </a:solidFill>
              </a:rPr>
              <a:t>1</a:t>
            </a:r>
            <a:r>
              <a:rPr lang="en-US" sz="2000" dirty="0" smtClean="0">
                <a:solidFill>
                  <a:schemeClr val="bg1"/>
                </a:solidFill>
              </a:rPr>
              <a:t>. Enhance </a:t>
            </a:r>
            <a:r>
              <a:rPr lang="en-US" sz="2000" dirty="0">
                <a:solidFill>
                  <a:schemeClr val="bg1"/>
                </a:solidFill>
              </a:rPr>
              <a:t>Customer Segmentation </a:t>
            </a:r>
            <a:r>
              <a:rPr lang="en-US" sz="2000" dirty="0" smtClean="0">
                <a:solidFill>
                  <a:schemeClr val="bg1"/>
                </a:solidFill>
              </a:rPr>
              <a:t>Accuracy:</a:t>
            </a:r>
            <a:r>
              <a:rPr lang="en-US" sz="2000" dirty="0">
                <a:solidFill>
                  <a:schemeClr val="bg1"/>
                </a:solidFill>
              </a:rPr>
              <a:t/>
            </a:r>
            <a:br>
              <a:rPr lang="en-US" sz="2000" dirty="0">
                <a:solidFill>
                  <a:schemeClr val="bg1"/>
                </a:solidFill>
              </a:rPr>
            </a:br>
            <a:r>
              <a:rPr lang="en-US" sz="2000" b="0" dirty="0" smtClean="0">
                <a:solidFill>
                  <a:schemeClr val="bg1"/>
                </a:solidFill>
              </a:rPr>
              <a:t>Improve </a:t>
            </a:r>
            <a:r>
              <a:rPr lang="en-US" sz="2000" b="0" dirty="0">
                <a:solidFill>
                  <a:schemeClr val="bg1"/>
                </a:solidFill>
              </a:rPr>
              <a:t>the precision and granularity of customer segmentation to better understand customer behavior and preferences.</a:t>
            </a:r>
            <a:br>
              <a:rPr lang="en-US" sz="2000" b="0" dirty="0">
                <a:solidFill>
                  <a:schemeClr val="bg1"/>
                </a:solidFill>
              </a:rPr>
            </a:br>
            <a:r>
              <a:rPr lang="en-US" sz="2000" b="0" dirty="0">
                <a:solidFill>
                  <a:schemeClr val="bg1"/>
                </a:solidFill>
              </a:rPr>
              <a:t/>
            </a:r>
            <a:br>
              <a:rPr lang="en-US" sz="2000" b="0" dirty="0">
                <a:solidFill>
                  <a:schemeClr val="bg1"/>
                </a:solidFill>
              </a:rPr>
            </a:br>
            <a:r>
              <a:rPr lang="en-US" sz="2000" dirty="0">
                <a:solidFill>
                  <a:schemeClr val="bg1"/>
                </a:solidFill>
              </a:rPr>
              <a:t>2. </a:t>
            </a:r>
            <a:r>
              <a:rPr lang="en-US" sz="2000" dirty="0" smtClean="0">
                <a:solidFill>
                  <a:schemeClr val="bg1"/>
                </a:solidFill>
              </a:rPr>
              <a:t>Predict </a:t>
            </a:r>
            <a:r>
              <a:rPr lang="en-US" sz="2000" dirty="0">
                <a:solidFill>
                  <a:schemeClr val="bg1"/>
                </a:solidFill>
              </a:rPr>
              <a:t>Customer Churn </a:t>
            </a:r>
            <a:r>
              <a:rPr lang="en-US" sz="2000" dirty="0" smtClean="0">
                <a:solidFill>
                  <a:schemeClr val="bg1"/>
                </a:solidFill>
              </a:rPr>
              <a:t>Proactively:</a:t>
            </a:r>
            <a:r>
              <a:rPr lang="en-US" sz="2000" dirty="0">
                <a:solidFill>
                  <a:schemeClr val="bg1"/>
                </a:solidFill>
              </a:rPr>
              <a:t/>
            </a:r>
            <a:br>
              <a:rPr lang="en-US" sz="2000" dirty="0">
                <a:solidFill>
                  <a:schemeClr val="bg1"/>
                </a:solidFill>
              </a:rPr>
            </a:br>
            <a:r>
              <a:rPr lang="en-US" sz="2000" b="0" dirty="0" smtClean="0">
                <a:solidFill>
                  <a:schemeClr val="bg1"/>
                </a:solidFill>
              </a:rPr>
              <a:t>Anticipate </a:t>
            </a:r>
            <a:r>
              <a:rPr lang="en-US" sz="2000" b="0" dirty="0">
                <a:solidFill>
                  <a:schemeClr val="bg1"/>
                </a:solidFill>
              </a:rPr>
              <a:t>and prevent customer churn by identifying at-risk customers and implementing proactive retention strategies.</a:t>
            </a:r>
            <a:br>
              <a:rPr lang="en-US" sz="2000" b="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3. </a:t>
            </a:r>
            <a:r>
              <a:rPr lang="en-US" sz="2000" dirty="0" smtClean="0">
                <a:solidFill>
                  <a:schemeClr val="bg1"/>
                </a:solidFill>
              </a:rPr>
              <a:t>Optimize </a:t>
            </a:r>
            <a:r>
              <a:rPr lang="en-US" sz="2000" dirty="0">
                <a:solidFill>
                  <a:schemeClr val="bg1"/>
                </a:solidFill>
              </a:rPr>
              <a:t>Resource Allocation and Network </a:t>
            </a:r>
            <a:r>
              <a:rPr lang="en-US" sz="2000" dirty="0" smtClean="0">
                <a:solidFill>
                  <a:schemeClr val="bg1"/>
                </a:solidFill>
              </a:rPr>
              <a:t>Management:</a:t>
            </a:r>
            <a:r>
              <a:rPr lang="en-US" sz="2000" dirty="0">
                <a:solidFill>
                  <a:schemeClr val="bg1"/>
                </a:solidFill>
              </a:rPr>
              <a:t/>
            </a:r>
            <a:br>
              <a:rPr lang="en-US" sz="2000" dirty="0">
                <a:solidFill>
                  <a:schemeClr val="bg1"/>
                </a:solidFill>
              </a:rPr>
            </a:br>
            <a:r>
              <a:rPr lang="en-US" sz="2000" b="0" dirty="0" smtClean="0">
                <a:solidFill>
                  <a:schemeClr val="bg1"/>
                </a:solidFill>
              </a:rPr>
              <a:t>Enhance </a:t>
            </a:r>
            <a:r>
              <a:rPr lang="en-US" sz="2000" b="0" dirty="0">
                <a:solidFill>
                  <a:schemeClr val="bg1"/>
                </a:solidFill>
              </a:rPr>
              <a:t>network efficiency, capacity planning, and resource allocation to improve service quality and minimize operational costs.</a:t>
            </a:r>
            <a:br>
              <a:rPr lang="en-US" sz="2000" b="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4. </a:t>
            </a:r>
            <a:r>
              <a:rPr lang="en-US" sz="2000" dirty="0" smtClean="0">
                <a:solidFill>
                  <a:schemeClr val="bg1"/>
                </a:solidFill>
              </a:rPr>
              <a:t>Enhance </a:t>
            </a:r>
            <a:r>
              <a:rPr lang="en-US" sz="2000" dirty="0">
                <a:solidFill>
                  <a:schemeClr val="bg1"/>
                </a:solidFill>
              </a:rPr>
              <a:t>Customer Experience and Service </a:t>
            </a:r>
            <a:r>
              <a:rPr lang="en-US" sz="2000" dirty="0" smtClean="0">
                <a:solidFill>
                  <a:schemeClr val="bg1"/>
                </a:solidFill>
              </a:rPr>
              <a:t>Quality:</a:t>
            </a:r>
            <a:r>
              <a:rPr lang="en-US" sz="2000" dirty="0">
                <a:solidFill>
                  <a:schemeClr val="bg1"/>
                </a:solidFill>
              </a:rPr>
              <a:t/>
            </a:r>
            <a:br>
              <a:rPr lang="en-US" sz="2000" dirty="0">
                <a:solidFill>
                  <a:schemeClr val="bg1"/>
                </a:solidFill>
              </a:rPr>
            </a:br>
            <a:r>
              <a:rPr lang="en-US" sz="2000" b="0" dirty="0" smtClean="0">
                <a:solidFill>
                  <a:schemeClr val="bg1"/>
                </a:solidFill>
              </a:rPr>
              <a:t>Deliver </a:t>
            </a:r>
            <a:r>
              <a:rPr lang="en-US" sz="2000" b="0" dirty="0">
                <a:solidFill>
                  <a:schemeClr val="bg1"/>
                </a:solidFill>
              </a:rPr>
              <a:t>personalized services, resolve issues promptly, and enhance overall customer experience to increase satisfaction and loyalty</a:t>
            </a:r>
            <a:r>
              <a:rPr lang="en-US" sz="2000" b="0" dirty="0" smtClean="0">
                <a:solidFill>
                  <a:schemeClr val="bg1"/>
                </a:solidFill>
              </a:rPr>
              <a:t>.</a:t>
            </a:r>
            <a:endParaRPr lang="en-US" sz="2000" b="0" dirty="0">
              <a:solidFill>
                <a:schemeClr val="bg1"/>
              </a:solidFill>
            </a:endParaRPr>
          </a:p>
        </p:txBody>
      </p:sp>
      <p:sp>
        <p:nvSpPr>
          <p:cNvPr id="4" name="Slide Number Placeholder 3">
            <a:extLst>
              <a:ext uri="{FF2B5EF4-FFF2-40B4-BE49-F238E27FC236}">
                <a16:creationId xmlns:a16="http://schemas.microsoft.com/office/drawing/2014/main" id="{57106545-6296-0EE6-D2B2-7B2F8B33E369}"/>
              </a:ext>
            </a:extLst>
          </p:cNvPr>
          <p:cNvSpPr>
            <a:spLocks noGrp="1"/>
          </p:cNvSpPr>
          <p:nvPr>
            <p:ph type="sldNum" sz="quarter" idx="12"/>
          </p:nvPr>
        </p:nvSpPr>
        <p:spPr/>
        <p:txBody>
          <a:bodyPr/>
          <a:lstStyle/>
          <a:p>
            <a:fld id="{F3222F5A-0AC2-4789-9ACB-D0C8EB02FB50}" type="slidenum">
              <a:rPr lang="en-US"/>
              <a:pPr/>
              <a:t>4</a:t>
            </a:fld>
            <a:endParaRPr lang="en-US"/>
          </a:p>
        </p:txBody>
      </p:sp>
      <p:pic>
        <p:nvPicPr>
          <p:cNvPr id="14341" name="Picture 4"/>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smtClean="0">
                <a:solidFill>
                  <a:schemeClr val="tx1"/>
                </a:solidFill>
              </a:rPr>
              <a:t>PROPOSED APPROACH </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93306" y="961053"/>
            <a:ext cx="8669694" cy="5592147"/>
          </a:xfrm>
        </p:spPr>
        <p:txBody>
          <a:bodyPr/>
          <a:lstStyle/>
          <a:p>
            <a:pPr marL="457200" indent="-457200" algn="just">
              <a:lnSpc>
                <a:spcPct val="150000"/>
              </a:lnSpc>
              <a:buFont typeface="Arial" panose="020B0604020202020204" pitchFamily="34" charset="0"/>
              <a:buChar char="•"/>
              <a:defRPr/>
            </a:pPr>
            <a:r>
              <a:rPr lang="en-US" sz="2000" b="0" dirty="0">
                <a:solidFill>
                  <a:schemeClr val="bg1"/>
                </a:solidFill>
                <a:latin typeface="Times New Roman" panose="02020603050405020304" pitchFamily="18" charset="0"/>
                <a:cs typeface="Times New Roman" panose="02020603050405020304" pitchFamily="18" charset="0"/>
              </a:rPr>
              <a:t>In this system, we use various algorithms </a:t>
            </a:r>
            <a:r>
              <a:rPr lang="en-US" sz="2000" b="0" dirty="0" smtClean="0">
                <a:solidFill>
                  <a:schemeClr val="bg1"/>
                </a:solidFill>
                <a:latin typeface="Times New Roman" panose="02020603050405020304" pitchFamily="18" charset="0"/>
                <a:cs typeface="Times New Roman" panose="02020603050405020304" pitchFamily="18" charset="0"/>
              </a:rPr>
              <a:t>like K-Nearest </a:t>
            </a:r>
            <a:r>
              <a:rPr lang="en-US" sz="2000" b="0" dirty="0">
                <a:solidFill>
                  <a:schemeClr val="bg1"/>
                </a:solidFill>
                <a:latin typeface="Times New Roman" panose="02020603050405020304" pitchFamily="18" charset="0"/>
                <a:cs typeface="Times New Roman" panose="02020603050405020304" pitchFamily="18" charset="0"/>
              </a:rPr>
              <a:t>Neighbors (KNN), Decision Tree, and Support Vector Machine (SVM) </a:t>
            </a:r>
            <a:r>
              <a:rPr lang="en-US" sz="2000" b="0" dirty="0" smtClean="0">
                <a:solidFill>
                  <a:schemeClr val="bg1"/>
                </a:solidFill>
                <a:latin typeface="Times New Roman" panose="02020603050405020304" pitchFamily="18" charset="0"/>
                <a:cs typeface="Times New Roman" panose="02020603050405020304" pitchFamily="18" charset="0"/>
              </a:rPr>
              <a:t>classifiers. </a:t>
            </a:r>
            <a:r>
              <a:rPr lang="en-US" sz="2000" b="0" dirty="0">
                <a:solidFill>
                  <a:schemeClr val="bg1"/>
                </a:solidFill>
                <a:latin typeface="Times New Roman" panose="02020603050405020304" pitchFamily="18" charset="0"/>
                <a:cs typeface="Times New Roman" panose="02020603050405020304" pitchFamily="18" charset="0"/>
              </a:rPr>
              <a:t>This example assumes you have a dataset with features and a target variable indicating whether a customer has churned or </a:t>
            </a:r>
            <a:r>
              <a:rPr lang="en-US" sz="2000" b="0" dirty="0" err="1" smtClean="0">
                <a:solidFill>
                  <a:schemeClr val="bg1"/>
                </a:solidFill>
                <a:latin typeface="Times New Roman" panose="02020603050405020304" pitchFamily="18" charset="0"/>
                <a:cs typeface="Times New Roman" panose="02020603050405020304" pitchFamily="18" charset="0"/>
              </a:rPr>
              <a:t>not.</a:t>
            </a:r>
            <a:r>
              <a:rPr lang="en-US" sz="2000" b="0" dirty="0" err="1">
                <a:solidFill>
                  <a:schemeClr val="bg1"/>
                </a:solidFill>
                <a:latin typeface="Times New Roman" panose="02020603050405020304" pitchFamily="18" charset="0"/>
                <a:cs typeface="Times New Roman" panose="02020603050405020304" pitchFamily="18" charset="0"/>
              </a:rPr>
              <a:t>T</a:t>
            </a:r>
            <a:r>
              <a:rPr lang="en-US" sz="2000" b="0" dirty="0" err="1" smtClean="0">
                <a:solidFill>
                  <a:schemeClr val="bg1"/>
                </a:solidFill>
                <a:latin typeface="Times New Roman" panose="02020603050405020304" pitchFamily="18" charset="0"/>
                <a:cs typeface="Times New Roman" panose="02020603050405020304" pitchFamily="18" charset="0"/>
              </a:rPr>
              <a:t>o</a:t>
            </a:r>
            <a:r>
              <a:rPr lang="en-US" sz="2000" b="0" dirty="0" smtClean="0">
                <a:solidFill>
                  <a:schemeClr val="bg1"/>
                </a:solidFill>
                <a:latin typeface="Times New Roman" panose="02020603050405020304" pitchFamily="18" charset="0"/>
                <a:cs typeface="Times New Roman" panose="02020603050405020304" pitchFamily="18" charset="0"/>
              </a:rPr>
              <a:t> </a:t>
            </a:r>
            <a:r>
              <a:rPr lang="en-US" sz="2000" b="0" dirty="0">
                <a:solidFill>
                  <a:schemeClr val="bg1"/>
                </a:solidFill>
                <a:latin typeface="Times New Roman" panose="02020603050405020304" pitchFamily="18" charset="0"/>
                <a:cs typeface="Times New Roman" panose="02020603050405020304" pitchFamily="18" charset="0"/>
              </a:rPr>
              <a:t>find accurate values and which helps us to predict the churn of the customer. Here we implement the model by having a dataset that is trained and tested, which makes us have maximum correct </a:t>
            </a:r>
            <a:r>
              <a:rPr lang="en-US" sz="2000" b="0" dirty="0" err="1" smtClean="0">
                <a:solidFill>
                  <a:schemeClr val="bg1"/>
                </a:solidFill>
                <a:latin typeface="Times New Roman" panose="02020603050405020304" pitchFamily="18" charset="0"/>
                <a:cs typeface="Times New Roman" panose="02020603050405020304" pitchFamily="18" charset="0"/>
              </a:rPr>
              <a:t>values.In</a:t>
            </a:r>
            <a:r>
              <a:rPr lang="en-US" sz="2000" b="0" dirty="0" smtClean="0">
                <a:solidFill>
                  <a:schemeClr val="bg1"/>
                </a:solidFill>
                <a:latin typeface="Times New Roman" panose="02020603050405020304" pitchFamily="18" charset="0"/>
                <a:cs typeface="Times New Roman" panose="02020603050405020304" pitchFamily="18" charset="0"/>
              </a:rPr>
              <a:t> </a:t>
            </a:r>
            <a:r>
              <a:rPr lang="en-US" sz="2000" b="0" dirty="0">
                <a:solidFill>
                  <a:schemeClr val="bg1"/>
                </a:solidFill>
                <a:latin typeface="Times New Roman" panose="02020603050405020304" pitchFamily="18" charset="0"/>
                <a:cs typeface="Times New Roman" panose="02020603050405020304" pitchFamily="18" charset="0"/>
              </a:rPr>
              <a:t>the Initial step, data preprocessing is performed in which we do filtering data and convert data into a similar form, and then we make feature selection. </a:t>
            </a:r>
            <a:r>
              <a:rPr lang="en-US" sz="2000" b="0" dirty="0" smtClean="0">
                <a:solidFill>
                  <a:schemeClr val="bg1"/>
                </a:solidFill>
                <a:latin typeface="Times New Roman" panose="02020603050405020304" pitchFamily="18" charset="0"/>
                <a:cs typeface="Times New Roman" panose="02020603050405020304" pitchFamily="18" charset="0"/>
              </a:rPr>
              <a:t>we </a:t>
            </a:r>
            <a:r>
              <a:rPr lang="en-US" sz="2000" b="0" dirty="0">
                <a:solidFill>
                  <a:schemeClr val="bg1"/>
                </a:solidFill>
                <a:latin typeface="Times New Roman" panose="02020603050405020304" pitchFamily="18" charset="0"/>
                <a:cs typeface="Times New Roman" panose="02020603050405020304" pitchFamily="18" charset="0"/>
              </a:rPr>
              <a:t>observe the behavior of the customer and analyze them. In the final step, we do analysis based on the results obtained and predict the customer churn. </a:t>
            </a:r>
            <a:endParaRPr lang="en-US" sz="20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5</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967" y="149291"/>
            <a:ext cx="8346233" cy="643811"/>
          </a:xfrm>
        </p:spPr>
        <p:txBody>
          <a:bodyPr/>
          <a:lstStyle/>
          <a:p>
            <a:r>
              <a:rPr lang="en-IN" dirty="0" smtClean="0"/>
              <a:t>WORKFLOW</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6</a:t>
            </a:fld>
            <a:endParaRPr lang="en-US"/>
          </a:p>
        </p:txBody>
      </p:sp>
      <p:pic>
        <p:nvPicPr>
          <p:cNvPr id="12" name="Picture 11"/>
          <p:cNvPicPr>
            <a:picLocks noChangeAspect="1"/>
          </p:cNvPicPr>
          <p:nvPr/>
        </p:nvPicPr>
        <p:blipFill>
          <a:blip r:embed="rId2"/>
          <a:stretch>
            <a:fillRect/>
          </a:stretch>
        </p:blipFill>
        <p:spPr>
          <a:xfrm>
            <a:off x="1493520" y="1183900"/>
            <a:ext cx="5364945" cy="4846740"/>
          </a:xfrm>
          <a:prstGeom prst="rect">
            <a:avLst/>
          </a:prstGeom>
        </p:spPr>
      </p:pic>
    </p:spTree>
    <p:extLst>
      <p:ext uri="{BB962C8B-B14F-4D97-AF65-F5344CB8AC3E}">
        <p14:creationId xmlns:p14="http://schemas.microsoft.com/office/powerpoint/2010/main" val="675453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282" y="167951"/>
            <a:ext cx="7976118" cy="662474"/>
          </a:xfrm>
        </p:spPr>
        <p:txBody>
          <a:bodyPr/>
          <a:lstStyle/>
          <a:p>
            <a:r>
              <a:rPr lang="en-IN" dirty="0"/>
              <a:t>LIBRARIES</a:t>
            </a:r>
          </a:p>
        </p:txBody>
      </p:sp>
      <p:pic>
        <p:nvPicPr>
          <p:cNvPr id="9" name="Picture 8"/>
          <p:cNvPicPr>
            <a:picLocks noChangeAspect="1"/>
          </p:cNvPicPr>
          <p:nvPr/>
        </p:nvPicPr>
        <p:blipFill>
          <a:blip r:embed="rId2"/>
          <a:stretch>
            <a:fillRect/>
          </a:stretch>
        </p:blipFill>
        <p:spPr>
          <a:xfrm>
            <a:off x="640080" y="1229360"/>
            <a:ext cx="5628640" cy="2763520"/>
          </a:xfrm>
          <a:prstGeom prst="rect">
            <a:avLst/>
          </a:prstGeom>
        </p:spPr>
      </p:pic>
      <p:sp>
        <p:nvSpPr>
          <p:cNvPr id="3" name="Subtitle 2"/>
          <p:cNvSpPr>
            <a:spLocks noGrp="1"/>
          </p:cNvSpPr>
          <p:nvPr>
            <p:ph type="subTitle" idx="1"/>
          </p:nvPr>
        </p:nvSpPr>
        <p:spPr>
          <a:xfrm>
            <a:off x="284480" y="4135120"/>
            <a:ext cx="7193280" cy="1503680"/>
          </a:xfrm>
        </p:spPr>
        <p:txBody>
          <a:bodyPr/>
          <a:lstStyle/>
          <a:p>
            <a:pPr algn="l"/>
            <a:r>
              <a:rPr lang="en-US" sz="2000" b="0" dirty="0" smtClean="0">
                <a:solidFill>
                  <a:schemeClr val="bg1"/>
                </a:solidFill>
                <a:latin typeface="Times New Roman" panose="02020603050405020304" pitchFamily="18" charset="0"/>
                <a:cs typeface="Times New Roman" panose="02020603050405020304" pitchFamily="18" charset="0"/>
              </a:rPr>
              <a:t>In this step multiple python libraries are imported using import statement. </a:t>
            </a:r>
            <a:r>
              <a:rPr lang="en-US" sz="2000" b="0" dirty="0" err="1" smtClean="0">
                <a:solidFill>
                  <a:schemeClr val="bg1"/>
                </a:solidFill>
                <a:latin typeface="Times New Roman" panose="02020603050405020304" pitchFamily="18" charset="0"/>
                <a:cs typeface="Times New Roman" panose="02020603050405020304" pitchFamily="18" charset="0"/>
              </a:rPr>
              <a:t>Thes</a:t>
            </a:r>
            <a:r>
              <a:rPr lang="en-US" sz="2000" b="0" dirty="0" smtClean="0">
                <a:solidFill>
                  <a:schemeClr val="bg1"/>
                </a:solidFill>
                <a:latin typeface="Times New Roman" panose="02020603050405020304" pitchFamily="18" charset="0"/>
                <a:cs typeface="Times New Roman" panose="02020603050405020304" pitchFamily="18" charset="0"/>
              </a:rPr>
              <a:t> libraries are used for data handling , pre-processing , Training models, data analysis and feature extraction . </a:t>
            </a:r>
            <a:r>
              <a:rPr lang="en-US" sz="2000" b="0" dirty="0" err="1" smtClean="0">
                <a:solidFill>
                  <a:schemeClr val="bg1"/>
                </a:solidFill>
                <a:latin typeface="Times New Roman" panose="02020603050405020304" pitchFamily="18" charset="0"/>
                <a:cs typeface="Times New Roman" panose="02020603050405020304" pitchFamily="18" charset="0"/>
              </a:rPr>
              <a:t>Sklearn</a:t>
            </a:r>
            <a:r>
              <a:rPr lang="en-US" sz="2000" b="0" dirty="0" smtClean="0">
                <a:solidFill>
                  <a:schemeClr val="bg1"/>
                </a:solidFill>
                <a:latin typeface="Times New Roman" panose="02020603050405020304" pitchFamily="18" charset="0"/>
                <a:cs typeface="Times New Roman" panose="02020603050405020304" pitchFamily="18" charset="0"/>
              </a:rPr>
              <a:t> is main for all machine learning algorithms which is imported in this step</a:t>
            </a:r>
            <a:endParaRPr lang="en-IN" sz="20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7</a:t>
            </a:fld>
            <a:endParaRPr lang="en-US"/>
          </a:p>
        </p:txBody>
      </p:sp>
      <p:pic>
        <p:nvPicPr>
          <p:cNvPr id="5" name="Picture 5"/>
          <p:cNvPicPr>
            <a:picLocks noChangeAspect="1"/>
          </p:cNvPicPr>
          <p:nvPr/>
        </p:nvPicPr>
        <p:blipFill>
          <a:blip r:embed="rId3"/>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767312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299" y="205273"/>
            <a:ext cx="8336902" cy="587829"/>
          </a:xfrm>
        </p:spPr>
        <p:txBody>
          <a:bodyPr/>
          <a:lstStyle/>
          <a:p>
            <a:r>
              <a:rPr lang="en-IN" dirty="0" smtClean="0"/>
              <a:t>ALGORITHMS</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8</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
        <p:nvSpPr>
          <p:cNvPr id="7" name="Rectangle 1"/>
          <p:cNvSpPr>
            <a:spLocks noGrp="1" noChangeArrowheads="1"/>
          </p:cNvSpPr>
          <p:nvPr>
            <p:ph type="subTitle" idx="1"/>
          </p:nvPr>
        </p:nvSpPr>
        <p:spPr bwMode="auto">
          <a:xfrm>
            <a:off x="121299" y="1352928"/>
            <a:ext cx="8336902" cy="400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a:spcBef>
                <a:spcPct val="0"/>
              </a:spcBef>
              <a:buClrTx/>
              <a:buSzTx/>
            </a:pPr>
            <a:r>
              <a:rPr lang="en-IN" sz="3600" dirty="0">
                <a:solidFill>
                  <a:schemeClr val="bg1"/>
                </a:solidFill>
                <a:latin typeface="Times New Roman" panose="02020603050405020304" pitchFamily="18" charset="0"/>
                <a:cs typeface="Times New Roman" panose="02020603050405020304" pitchFamily="18" charset="0"/>
              </a:rPr>
              <a:t>Random Forest model</a:t>
            </a:r>
            <a:endParaRPr kumimoji="0" lang="en-US" altLang="en-US" sz="36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Training Multiple Decision Trees</a:t>
            </a:r>
            <a:endPar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Bootstrap Sampling and Feature Selection</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Create multiple subsets of the training data using bootstrap sampling (sampling with replacement) and train individual decision trees on these subsets, each time using a random subset of features.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Aggregating Predictions</a:t>
            </a:r>
            <a:endPar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Majority Voting or Averaging</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For classification tasks, aggregate the predictions by majority voting among the trees; for regression tasks, aggregate by averaging the predictions of all the trees to get the final result.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948312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588" y="161667"/>
            <a:ext cx="7739742" cy="687420"/>
          </a:xfrm>
        </p:spPr>
        <p:txBody>
          <a:bodyPr/>
          <a:lstStyle/>
          <a:p>
            <a:r>
              <a:rPr lang="en-IN" dirty="0"/>
              <a:t>ALGORITHMS</a:t>
            </a:r>
          </a:p>
        </p:txBody>
      </p:sp>
      <p:sp>
        <p:nvSpPr>
          <p:cNvPr id="4" name="Slide Number Placeholder 3"/>
          <p:cNvSpPr>
            <a:spLocks noGrp="1"/>
          </p:cNvSpPr>
          <p:nvPr>
            <p:ph type="sldNum" sz="quarter" idx="12"/>
          </p:nvPr>
        </p:nvSpPr>
        <p:spPr/>
        <p:txBody>
          <a:bodyPr/>
          <a:lstStyle/>
          <a:p>
            <a:fld id="{7E3D8A1A-F310-4C9F-9F39-DEED8B092108}" type="slidenum">
              <a:rPr lang="en-US" smtClean="0"/>
              <a:pPr/>
              <a:t>9</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
        <p:nvSpPr>
          <p:cNvPr id="3" name="Rectangle 1"/>
          <p:cNvSpPr>
            <a:spLocks noChangeArrowheads="1"/>
          </p:cNvSpPr>
          <p:nvPr/>
        </p:nvSpPr>
        <p:spPr bwMode="auto">
          <a:xfrm rot="10800000" flipV="1">
            <a:off x="152399" y="1025328"/>
            <a:ext cx="8398594"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IN" sz="3600" dirty="0">
                <a:solidFill>
                  <a:schemeClr val="bg1"/>
                </a:solidFill>
                <a:latin typeface="Times New Roman" panose="02020603050405020304" pitchFamily="18" charset="0"/>
                <a:cs typeface="Times New Roman" panose="02020603050405020304" pitchFamily="18" charset="0"/>
              </a:rPr>
              <a:t>Logistic Regression (</a:t>
            </a:r>
            <a:r>
              <a:rPr lang="en-IN" sz="3600" dirty="0" smtClean="0">
                <a:solidFill>
                  <a:schemeClr val="bg1"/>
                </a:solidFill>
                <a:latin typeface="Times New Roman" panose="02020603050405020304" pitchFamily="18" charset="0"/>
                <a:cs typeface="Times New Roman" panose="02020603050405020304" pitchFamily="18" charset="0"/>
              </a:rPr>
              <a:t>LR)</a:t>
            </a:r>
            <a:endParaRPr kumimoji="0" lang="en-US" altLang="en-US" sz="36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Model Training and Evaluation</a:t>
            </a:r>
            <a:endPar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Data Preparation</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Use historical machine data to train Machine Learning (ML) classification algorithms, including Logistic Regression (LR), Random Forest (RF), and </a:t>
            </a:r>
            <a:r>
              <a:rPr kumimoji="0" lang="en-US" altLang="en-US" sz="2000" b="0" i="0" u="none" strike="noStrike" cap="none" normalizeH="0" baseline="0" dirty="0" err="1" smtClean="0">
                <a:ln>
                  <a:noFill/>
                </a:ln>
                <a:solidFill>
                  <a:schemeClr val="bg1"/>
                </a:solidFill>
                <a:effectLst/>
                <a:latin typeface="Times New Roman" panose="02020603050405020304" pitchFamily="18" charset="0"/>
                <a:cs typeface="Times New Roman" panose="02020603050405020304" pitchFamily="18" charset="0"/>
              </a:rPr>
              <a:t>XGBoost</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Model Training</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Train each algorithm (LR, RF, </a:t>
            </a:r>
            <a:r>
              <a:rPr kumimoji="0" lang="en-US" altLang="en-US" sz="2000" b="0" i="0" u="none" strike="noStrike" cap="none" normalizeH="0" baseline="0" dirty="0" err="1" smtClean="0">
                <a:ln>
                  <a:noFill/>
                </a:ln>
                <a:solidFill>
                  <a:schemeClr val="bg1"/>
                </a:solidFill>
                <a:effectLst/>
                <a:latin typeface="Times New Roman" panose="02020603050405020304" pitchFamily="18" charset="0"/>
                <a:cs typeface="Times New Roman" panose="02020603050405020304" pitchFamily="18" charset="0"/>
              </a:rPr>
              <a:t>XGBoost</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to forecast printing machine downtime based on real-time predictions of impending failures.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Performance Comparison</a:t>
            </a:r>
            <a:endPar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Evaluation Metrics</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Analyze performance using metrics such as AUC (Area Under the Curve), ROC (Receiver Operating Characteristic) curve, Precision-Recall Curve (PRC), and confusion matrix components (False Positives (FP), True Positives (TP), False Negatives (FN), True Negatives (TN)) at different decision thresholds. Additionally, examine calibration curves.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Results</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Although all algorithms perform similarly well in terms of the ROC curve, RF and </a:t>
            </a:r>
            <a:r>
              <a:rPr kumimoji="0" lang="en-US" altLang="en-US" sz="2000" b="0" i="0" u="none" strike="noStrike" cap="none" normalizeH="0" baseline="0" dirty="0" err="1" smtClean="0">
                <a:ln>
                  <a:noFill/>
                </a:ln>
                <a:solidFill>
                  <a:schemeClr val="bg1"/>
                </a:solidFill>
                <a:effectLst/>
                <a:latin typeface="Times New Roman" panose="02020603050405020304" pitchFamily="18" charset="0"/>
                <a:cs typeface="Times New Roman" panose="02020603050405020304" pitchFamily="18" charset="0"/>
              </a:rPr>
              <a:t>XGBoost</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outperform LR at different decision thresholds. Logistic Regression is noted for estimating categorical outcomes based on independent variables, in contrast to linear regression, which estimates continuous outcomes.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3754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1257" y="195943"/>
            <a:ext cx="8196943" cy="559837"/>
          </a:xfrm>
        </p:spPr>
        <p:txBody>
          <a:bodyPr/>
          <a:lstStyle/>
          <a:p>
            <a:r>
              <a:rPr lang="en-IN" dirty="0"/>
              <a:t>ALGORITHMS</a:t>
            </a:r>
          </a:p>
        </p:txBody>
      </p:sp>
      <p:sp>
        <p:nvSpPr>
          <p:cNvPr id="3" name="Subtitle 2"/>
          <p:cNvSpPr>
            <a:spLocks noGrp="1"/>
          </p:cNvSpPr>
          <p:nvPr>
            <p:ph type="subTitle" idx="1"/>
          </p:nvPr>
        </p:nvSpPr>
        <p:spPr>
          <a:xfrm>
            <a:off x="261257" y="1007706"/>
            <a:ext cx="8388221" cy="4631094"/>
          </a:xfrm>
        </p:spPr>
        <p:txBody>
          <a:bodyPr/>
          <a:lstStyle/>
          <a:p>
            <a:pPr algn="just"/>
            <a:r>
              <a:rPr lang="en-US" sz="3600" dirty="0" err="1" smtClean="0">
                <a:solidFill>
                  <a:schemeClr val="bg1"/>
                </a:solidFill>
                <a:latin typeface="Times New Roman" panose="02020603050405020304" pitchFamily="18" charset="0"/>
                <a:cs typeface="Times New Roman" panose="02020603050405020304" pitchFamily="18" charset="0"/>
              </a:rPr>
              <a:t>XGBoost</a:t>
            </a:r>
            <a:endParaRPr lang="en-US" sz="3600" dirty="0">
              <a:solidFill>
                <a:schemeClr val="bg1"/>
              </a:solidFill>
              <a:latin typeface="Times New Roman" panose="02020603050405020304" pitchFamily="18" charset="0"/>
              <a:cs typeface="Times New Roman" panose="02020603050405020304" pitchFamily="18" charset="0"/>
            </a:endParaRPr>
          </a:p>
          <a:p>
            <a:pPr algn="just"/>
            <a:r>
              <a:rPr lang="en-US" sz="2000" dirty="0">
                <a:solidFill>
                  <a:schemeClr val="bg1"/>
                </a:solidFill>
                <a:latin typeface="Times New Roman" panose="02020603050405020304" pitchFamily="18" charset="0"/>
                <a:cs typeface="Times New Roman" panose="02020603050405020304" pitchFamily="18" charset="0"/>
              </a:rPr>
              <a:t>Step 1: Model Training</a:t>
            </a:r>
          </a:p>
          <a:p>
            <a:pPr algn="just"/>
            <a:r>
              <a:rPr lang="en-US" sz="2000" dirty="0">
                <a:solidFill>
                  <a:schemeClr val="bg1"/>
                </a:solidFill>
                <a:latin typeface="Times New Roman" panose="02020603050405020304" pitchFamily="18" charset="0"/>
                <a:cs typeface="Times New Roman" panose="02020603050405020304" pitchFamily="18" charset="0"/>
              </a:rPr>
              <a:t>Initialization and Data Preparation</a:t>
            </a:r>
          </a:p>
          <a:p>
            <a:pPr lvl="1" algn="just"/>
            <a:r>
              <a:rPr lang="en-US" sz="2000" dirty="0">
                <a:solidFill>
                  <a:schemeClr val="bg1"/>
                </a:solidFill>
                <a:latin typeface="Times New Roman" panose="02020603050405020304" pitchFamily="18" charset="0"/>
                <a:cs typeface="Times New Roman" panose="02020603050405020304" pitchFamily="18" charset="0"/>
              </a:rPr>
              <a:t>Start with an initial prediction.</a:t>
            </a:r>
          </a:p>
          <a:p>
            <a:pPr lvl="1" algn="just"/>
            <a:r>
              <a:rPr lang="en-US" sz="2000" dirty="0">
                <a:solidFill>
                  <a:schemeClr val="bg1"/>
                </a:solidFill>
                <a:latin typeface="Times New Roman" panose="02020603050405020304" pitchFamily="18" charset="0"/>
                <a:cs typeface="Times New Roman" panose="02020603050405020304" pitchFamily="18" charset="0"/>
              </a:rPr>
              <a:t>Preprocess and split the data.</a:t>
            </a:r>
          </a:p>
          <a:p>
            <a:pPr algn="just"/>
            <a:r>
              <a:rPr lang="en-US" sz="2000" dirty="0">
                <a:solidFill>
                  <a:schemeClr val="bg1"/>
                </a:solidFill>
                <a:latin typeface="Times New Roman" panose="02020603050405020304" pitchFamily="18" charset="0"/>
                <a:cs typeface="Times New Roman" panose="02020603050405020304" pitchFamily="18" charset="0"/>
              </a:rPr>
              <a:t>Sequential Tree Building</a:t>
            </a:r>
          </a:p>
          <a:p>
            <a:pPr lvl="1" algn="just"/>
            <a:r>
              <a:rPr lang="en-US" sz="2000" dirty="0">
                <a:solidFill>
                  <a:schemeClr val="bg1"/>
                </a:solidFill>
                <a:latin typeface="Times New Roman" panose="02020603050405020304" pitchFamily="18" charset="0"/>
                <a:cs typeface="Times New Roman" panose="02020603050405020304" pitchFamily="18" charset="0"/>
              </a:rPr>
              <a:t>Train the first tree to minimize the loss.</a:t>
            </a:r>
          </a:p>
          <a:p>
            <a:pPr lvl="1" algn="just"/>
            <a:r>
              <a:rPr lang="en-US" sz="2000" dirty="0">
                <a:solidFill>
                  <a:schemeClr val="bg1"/>
                </a:solidFill>
                <a:latin typeface="Times New Roman" panose="02020603050405020304" pitchFamily="18" charset="0"/>
                <a:cs typeface="Times New Roman" panose="02020603050405020304" pitchFamily="18" charset="0"/>
              </a:rPr>
              <a:t>Train each new tree to correct errors of the previous trees.</a:t>
            </a:r>
          </a:p>
          <a:p>
            <a:pPr lvl="1" algn="just"/>
            <a:r>
              <a:rPr lang="en-US" sz="2000" dirty="0">
                <a:solidFill>
                  <a:schemeClr val="bg1"/>
                </a:solidFill>
                <a:latin typeface="Times New Roman" panose="02020603050405020304" pitchFamily="18" charset="0"/>
                <a:cs typeface="Times New Roman" panose="02020603050405020304" pitchFamily="18" charset="0"/>
              </a:rPr>
              <a:t>Use gradient descent and regularization to optimize and prevent overfitting.</a:t>
            </a:r>
          </a:p>
          <a:p>
            <a:pPr algn="just"/>
            <a:r>
              <a:rPr lang="en-US" sz="2000" dirty="0">
                <a:solidFill>
                  <a:schemeClr val="bg1"/>
                </a:solidFill>
                <a:latin typeface="Times New Roman" panose="02020603050405020304" pitchFamily="18" charset="0"/>
                <a:cs typeface="Times New Roman" panose="02020603050405020304" pitchFamily="18" charset="0"/>
              </a:rPr>
              <a:t>Step 2: Prediction and Evaluation</a:t>
            </a:r>
          </a:p>
          <a:p>
            <a:pPr algn="just"/>
            <a:r>
              <a:rPr lang="en-US" sz="2000" dirty="0">
                <a:solidFill>
                  <a:schemeClr val="bg1"/>
                </a:solidFill>
                <a:latin typeface="Times New Roman" panose="02020603050405020304" pitchFamily="18" charset="0"/>
                <a:cs typeface="Times New Roman" panose="02020603050405020304" pitchFamily="18" charset="0"/>
              </a:rPr>
              <a:t>Aggregating Predictions</a:t>
            </a:r>
          </a:p>
          <a:p>
            <a:pPr lvl="1" algn="just"/>
            <a:r>
              <a:rPr lang="en-US" sz="2000" dirty="0">
                <a:solidFill>
                  <a:schemeClr val="bg1"/>
                </a:solidFill>
                <a:latin typeface="Times New Roman" panose="02020603050405020304" pitchFamily="18" charset="0"/>
                <a:cs typeface="Times New Roman" panose="02020603050405020304" pitchFamily="18" charset="0"/>
              </a:rPr>
              <a:t>Sum predictions from all trees.</a:t>
            </a:r>
          </a:p>
          <a:p>
            <a:pPr lvl="1" algn="just"/>
            <a:r>
              <a:rPr lang="en-US" sz="2000" dirty="0">
                <a:solidFill>
                  <a:schemeClr val="bg1"/>
                </a:solidFill>
                <a:latin typeface="Times New Roman" panose="02020603050405020304" pitchFamily="18" charset="0"/>
                <a:cs typeface="Times New Roman" panose="02020603050405020304" pitchFamily="18" charset="0"/>
              </a:rPr>
              <a:t>Convert to probabilities for classification and apply a decision threshold</a:t>
            </a:r>
            <a:r>
              <a:rPr lang="en-US" sz="2000" dirty="0" smtClean="0">
                <a:solidFill>
                  <a:schemeClr val="bg1"/>
                </a:solidFill>
                <a:latin typeface="Times New Roman" panose="02020603050405020304" pitchFamily="18" charset="0"/>
                <a:cs typeface="Times New Roman" panose="02020603050405020304" pitchFamily="18" charset="0"/>
              </a:rPr>
              <a:t>.</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10</a:t>
            </a:fld>
            <a:endParaRPr lang="en-US"/>
          </a:p>
        </p:txBody>
      </p:sp>
    </p:spTree>
    <p:extLst>
      <p:ext uri="{BB962C8B-B14F-4D97-AF65-F5344CB8AC3E}">
        <p14:creationId xmlns:p14="http://schemas.microsoft.com/office/powerpoint/2010/main" val="3613652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5600" y="179705"/>
            <a:ext cx="7706360" cy="612775"/>
          </a:xfrm>
        </p:spPr>
        <p:txBody>
          <a:bodyPr/>
          <a:lstStyle/>
          <a:p>
            <a:r>
              <a:rPr lang="en-IN" dirty="0"/>
              <a:t>ALGORITHMS</a:t>
            </a:r>
          </a:p>
        </p:txBody>
      </p:sp>
      <p:sp>
        <p:nvSpPr>
          <p:cNvPr id="3" name="Subtitle 2"/>
          <p:cNvSpPr>
            <a:spLocks noGrp="1"/>
          </p:cNvSpPr>
          <p:nvPr>
            <p:ph type="subTitle" idx="1"/>
          </p:nvPr>
        </p:nvSpPr>
        <p:spPr>
          <a:xfrm>
            <a:off x="355600" y="1351280"/>
            <a:ext cx="8559800" cy="4287520"/>
          </a:xfrm>
        </p:spPr>
        <p:txBody>
          <a:bodyPr/>
          <a:lstStyle/>
          <a:p>
            <a:pPr algn="just"/>
            <a:r>
              <a:rPr lang="en-US" sz="2000" dirty="0">
                <a:solidFill>
                  <a:schemeClr val="bg1"/>
                </a:solidFill>
                <a:latin typeface="Times New Roman" panose="02020603050405020304" pitchFamily="18" charset="0"/>
                <a:cs typeface="Times New Roman" panose="02020603050405020304" pitchFamily="18" charset="0"/>
              </a:rPr>
              <a:t>Performance Evaluation</a:t>
            </a:r>
          </a:p>
          <a:p>
            <a:pPr lvl="1" algn="just"/>
            <a:r>
              <a:rPr lang="en-US" sz="2000" dirty="0">
                <a:solidFill>
                  <a:schemeClr val="bg1"/>
                </a:solidFill>
                <a:latin typeface="Times New Roman" panose="02020603050405020304" pitchFamily="18" charset="0"/>
                <a:cs typeface="Times New Roman" panose="02020603050405020304" pitchFamily="18" charset="0"/>
              </a:rPr>
              <a:t>Evaluate using metrics like accuracy, AUC-ROC, and others.</a:t>
            </a:r>
          </a:p>
          <a:p>
            <a:pPr lvl="1" algn="just"/>
            <a:r>
              <a:rPr lang="en-US" sz="2000" dirty="0">
                <a:solidFill>
                  <a:schemeClr val="bg1"/>
                </a:solidFill>
                <a:latin typeface="Times New Roman" panose="02020603050405020304" pitchFamily="18" charset="0"/>
                <a:cs typeface="Times New Roman" panose="02020603050405020304" pitchFamily="18" charset="0"/>
              </a:rPr>
              <a:t>Fine-tune </a:t>
            </a:r>
            <a:r>
              <a:rPr lang="en-US" sz="2000" dirty="0" err="1">
                <a:solidFill>
                  <a:schemeClr val="bg1"/>
                </a:solidFill>
                <a:latin typeface="Times New Roman" panose="02020603050405020304" pitchFamily="18" charset="0"/>
                <a:cs typeface="Times New Roman" panose="02020603050405020304" pitchFamily="18" charset="0"/>
              </a:rPr>
              <a:t>hyperparameters</a:t>
            </a:r>
            <a:r>
              <a:rPr lang="en-US" sz="2000" dirty="0">
                <a:solidFill>
                  <a:schemeClr val="bg1"/>
                </a:solidFill>
                <a:latin typeface="Times New Roman" panose="02020603050405020304" pitchFamily="18" charset="0"/>
                <a:cs typeface="Times New Roman" panose="02020603050405020304" pitchFamily="18" charset="0"/>
              </a:rPr>
              <a:t> with cross-validation.</a:t>
            </a:r>
          </a:p>
          <a:p>
            <a:pPr lvl="1" algn="just"/>
            <a:r>
              <a:rPr lang="en-US" sz="2000" dirty="0">
                <a:solidFill>
                  <a:schemeClr val="bg1"/>
                </a:solidFill>
                <a:latin typeface="Times New Roman" panose="02020603050405020304" pitchFamily="18" charset="0"/>
                <a:cs typeface="Times New Roman" panose="02020603050405020304" pitchFamily="18" charset="0"/>
              </a:rPr>
              <a:t>Deploy and monitor the model</a:t>
            </a:r>
            <a:r>
              <a:rPr lang="en-US" sz="2000" dirty="0" smtClean="0">
                <a:solidFill>
                  <a:schemeClr val="bg1"/>
                </a:solidFill>
                <a:latin typeface="Times New Roman" panose="02020603050405020304" pitchFamily="18" charset="0"/>
                <a:cs typeface="Times New Roman" panose="02020603050405020304" pitchFamily="18" charset="0"/>
              </a:rPr>
              <a:t>.</a:t>
            </a:r>
          </a:p>
          <a:p>
            <a:pPr lvl="0" algn="l">
              <a:spcBef>
                <a:spcPct val="0"/>
              </a:spcBef>
              <a:buClrTx/>
              <a:buSzTx/>
            </a:pPr>
            <a:r>
              <a:rPr lang="en-US" altLang="en-US" sz="3600" dirty="0">
                <a:solidFill>
                  <a:schemeClr val="bg1"/>
                </a:solidFill>
                <a:latin typeface="Times New Roman" panose="02020603050405020304" pitchFamily="18" charset="0"/>
                <a:cs typeface="Times New Roman" panose="02020603050405020304" pitchFamily="18" charset="0"/>
              </a:rPr>
              <a:t>Gradient Boosted Machine Trees (GBM)</a:t>
            </a:r>
          </a:p>
          <a:p>
            <a:pPr lvl="0" algn="l">
              <a:spcBef>
                <a:spcPct val="0"/>
              </a:spcBef>
              <a:buClrTx/>
              <a:buSzTx/>
            </a:pPr>
            <a:endParaRPr lang="en-US" altLang="en-US" sz="2000" dirty="0">
              <a:solidFill>
                <a:schemeClr val="bg1"/>
              </a:solidFill>
              <a:latin typeface="Times New Roman" panose="02020603050405020304" pitchFamily="18" charset="0"/>
              <a:cs typeface="Times New Roman" panose="02020603050405020304" pitchFamily="18" charset="0"/>
            </a:endParaRPr>
          </a:p>
          <a:p>
            <a:pPr lvl="0" algn="l">
              <a:spcBef>
                <a:spcPct val="0"/>
              </a:spcBef>
              <a:buClrTx/>
              <a:buSzTx/>
            </a:pPr>
            <a:r>
              <a:rPr lang="en-US" altLang="en-US" sz="2000" dirty="0">
                <a:solidFill>
                  <a:schemeClr val="bg1"/>
                </a:solidFill>
                <a:latin typeface="Times New Roman" panose="02020603050405020304" pitchFamily="18" charset="0"/>
                <a:cs typeface="Times New Roman" panose="02020603050405020304" pitchFamily="18" charset="0"/>
              </a:rPr>
              <a:t>Step 1: Model Training</a:t>
            </a:r>
          </a:p>
          <a:p>
            <a:pPr lvl="0" algn="l">
              <a:spcBef>
                <a:spcPct val="0"/>
              </a:spcBef>
              <a:buClrTx/>
              <a:buSzTx/>
              <a:buFontTx/>
              <a:buAutoNum type="arabicPeriod"/>
            </a:pPr>
            <a:r>
              <a:rPr lang="en-US" altLang="en-US" sz="2000" dirty="0">
                <a:solidFill>
                  <a:schemeClr val="bg1"/>
                </a:solidFill>
                <a:latin typeface="Times New Roman" panose="02020603050405020304" pitchFamily="18" charset="0"/>
                <a:cs typeface="Times New Roman" panose="02020603050405020304" pitchFamily="18" charset="0"/>
              </a:rPr>
              <a:t>Initialization and Data Preparation</a:t>
            </a:r>
            <a:endParaRPr lang="en-US" altLang="en-US" sz="2000" b="0" dirty="0">
              <a:solidFill>
                <a:schemeClr val="bg1"/>
              </a:solidFill>
              <a:latin typeface="Times New Roman" panose="02020603050405020304" pitchFamily="18" charset="0"/>
              <a:cs typeface="Times New Roman" panose="02020603050405020304" pitchFamily="18" charset="0"/>
            </a:endParaRPr>
          </a:p>
          <a:p>
            <a:pPr lvl="1" algn="l">
              <a:spcBef>
                <a:spcPct val="0"/>
              </a:spcBef>
              <a:buClrTx/>
              <a:buSzTx/>
              <a:buFontTx/>
              <a:buChar char="•"/>
            </a:pPr>
            <a:r>
              <a:rPr lang="en-US" altLang="en-US" sz="2000" dirty="0">
                <a:solidFill>
                  <a:schemeClr val="bg1"/>
                </a:solidFill>
                <a:latin typeface="Times New Roman" panose="02020603050405020304" pitchFamily="18" charset="0"/>
                <a:cs typeface="Times New Roman" panose="02020603050405020304" pitchFamily="18" charset="0"/>
              </a:rPr>
              <a:t>Start with an initial prediction and preprocess the data.</a:t>
            </a:r>
          </a:p>
          <a:p>
            <a:pPr lvl="1" algn="l">
              <a:spcBef>
                <a:spcPct val="0"/>
              </a:spcBef>
              <a:buClrTx/>
              <a:buSzTx/>
              <a:buFontTx/>
              <a:buChar char="•"/>
            </a:pPr>
            <a:r>
              <a:rPr lang="en-US" altLang="en-US" sz="2000" dirty="0">
                <a:solidFill>
                  <a:schemeClr val="bg1"/>
                </a:solidFill>
                <a:latin typeface="Times New Roman" panose="02020603050405020304" pitchFamily="18" charset="0"/>
                <a:cs typeface="Times New Roman" panose="02020603050405020304" pitchFamily="18" charset="0"/>
              </a:rPr>
              <a:t>Split the data into training and testing sets.</a:t>
            </a:r>
          </a:p>
          <a:p>
            <a:pPr lvl="0" algn="l">
              <a:spcBef>
                <a:spcPct val="0"/>
              </a:spcBef>
              <a:buClrTx/>
              <a:buSzTx/>
              <a:buFontTx/>
              <a:buAutoNum type="arabicPeriod" startAt="2"/>
            </a:pPr>
            <a:r>
              <a:rPr lang="en-US" altLang="en-US" sz="2000" dirty="0">
                <a:solidFill>
                  <a:schemeClr val="bg1"/>
                </a:solidFill>
                <a:latin typeface="Times New Roman" panose="02020603050405020304" pitchFamily="18" charset="0"/>
                <a:cs typeface="Times New Roman" panose="02020603050405020304" pitchFamily="18" charset="0"/>
              </a:rPr>
              <a:t>Sequential Tree Construction</a:t>
            </a:r>
            <a:endParaRPr lang="en-US" altLang="en-US" sz="2000" b="0" dirty="0">
              <a:solidFill>
                <a:schemeClr val="bg1"/>
              </a:solidFill>
              <a:latin typeface="Times New Roman" panose="02020603050405020304" pitchFamily="18" charset="0"/>
              <a:cs typeface="Times New Roman" panose="02020603050405020304" pitchFamily="18" charset="0"/>
            </a:endParaRPr>
          </a:p>
          <a:p>
            <a:pPr lvl="1" algn="l">
              <a:spcBef>
                <a:spcPct val="0"/>
              </a:spcBef>
              <a:buClrTx/>
              <a:buSzTx/>
              <a:buFontTx/>
              <a:buChar char="•"/>
            </a:pPr>
            <a:r>
              <a:rPr lang="en-US" altLang="en-US" sz="2000" dirty="0">
                <a:solidFill>
                  <a:schemeClr val="bg1"/>
                </a:solidFill>
                <a:latin typeface="Times New Roman" panose="02020603050405020304" pitchFamily="18" charset="0"/>
                <a:cs typeface="Times New Roman" panose="02020603050405020304" pitchFamily="18" charset="0"/>
              </a:rPr>
              <a:t>Train the first tree to minimize the loss function.</a:t>
            </a:r>
          </a:p>
          <a:p>
            <a:pPr lvl="1" algn="l">
              <a:spcBef>
                <a:spcPct val="0"/>
              </a:spcBef>
              <a:buClrTx/>
              <a:buSzTx/>
              <a:buFontTx/>
              <a:buChar char="•"/>
            </a:pPr>
            <a:r>
              <a:rPr lang="en-US" altLang="en-US" sz="2000" dirty="0">
                <a:solidFill>
                  <a:schemeClr val="bg1"/>
                </a:solidFill>
                <a:latin typeface="Times New Roman" panose="02020603050405020304" pitchFamily="18" charset="0"/>
                <a:cs typeface="Times New Roman" panose="02020603050405020304" pitchFamily="18" charset="0"/>
              </a:rPr>
              <a:t>Train each subsequent tree to correct the errors of previous trees using gradient descent.</a:t>
            </a:r>
          </a:p>
          <a:p>
            <a:pPr lvl="1" algn="just"/>
            <a:endParaRPr lang="en-US" sz="2000" dirty="0">
              <a:solidFill>
                <a:schemeClr val="bg1"/>
              </a:solidFill>
              <a:latin typeface="Times New Roman" panose="02020603050405020304" pitchFamily="18" charset="0"/>
              <a:cs typeface="Times New Roman" panose="02020603050405020304" pitchFamily="18" charset="0"/>
            </a:endParaRPr>
          </a:p>
          <a:p>
            <a:pPr lvl="1" algn="just"/>
            <a:endParaRPr lang="en-US" sz="200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11</a:t>
            </a:fld>
            <a:endParaRPr lang="en-US"/>
          </a:p>
        </p:txBody>
      </p:sp>
    </p:spTree>
    <p:extLst>
      <p:ext uri="{BB962C8B-B14F-4D97-AF65-F5344CB8AC3E}">
        <p14:creationId xmlns:p14="http://schemas.microsoft.com/office/powerpoint/2010/main" val="2726699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5760" y="149225"/>
            <a:ext cx="7762240" cy="663575"/>
          </a:xfrm>
        </p:spPr>
        <p:txBody>
          <a:bodyPr/>
          <a:lstStyle/>
          <a:p>
            <a:r>
              <a:rPr lang="en-IN" dirty="0"/>
              <a:t>ALGORITHMS</a:t>
            </a:r>
          </a:p>
        </p:txBody>
      </p:sp>
      <p:sp>
        <p:nvSpPr>
          <p:cNvPr id="4" name="Slide Number Placeholder 3"/>
          <p:cNvSpPr>
            <a:spLocks noGrp="1"/>
          </p:cNvSpPr>
          <p:nvPr>
            <p:ph type="sldNum" sz="quarter" idx="12"/>
          </p:nvPr>
        </p:nvSpPr>
        <p:spPr/>
        <p:txBody>
          <a:bodyPr/>
          <a:lstStyle/>
          <a:p>
            <a:fld id="{7E3D8A1A-F310-4C9F-9F39-DEED8B092108}" type="slidenum">
              <a:rPr lang="en-US" smtClean="0"/>
              <a:pPr/>
              <a:t>12</a:t>
            </a:fld>
            <a:endParaRPr lang="en-US"/>
          </a:p>
        </p:txBody>
      </p:sp>
      <p:sp>
        <p:nvSpPr>
          <p:cNvPr id="5" name="Rectangle 1"/>
          <p:cNvSpPr>
            <a:spLocks noGrp="1" noChangeArrowheads="1"/>
          </p:cNvSpPr>
          <p:nvPr>
            <p:ph type="subTitle" idx="1"/>
          </p:nvPr>
        </p:nvSpPr>
        <p:spPr bwMode="auto">
          <a:xfrm>
            <a:off x="193040" y="1413413"/>
            <a:ext cx="81788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Step 2: Prediction and Evaluation</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Aggregating Predictions</a:t>
            </a:r>
            <a:endPar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Sum the predictions from all trees.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Convert to probabilities for classification and apply a decision threshold.</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Performance Evaluation</a:t>
            </a:r>
            <a:endPar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Evaluate using metrics like accuracy, AUC-ROC, and others.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Fine-tune </a:t>
            </a:r>
            <a:r>
              <a:rPr kumimoji="0" lang="en-US" altLang="en-US" sz="2000" b="0" i="0" u="none" strike="noStrike" cap="none" normalizeH="0" baseline="0" dirty="0" err="1" smtClean="0">
                <a:ln>
                  <a:noFill/>
                </a:ln>
                <a:solidFill>
                  <a:schemeClr val="bg1"/>
                </a:solidFill>
                <a:effectLst/>
                <a:latin typeface="Times New Roman" panose="02020603050405020304" pitchFamily="18" charset="0"/>
                <a:cs typeface="Times New Roman" panose="02020603050405020304" pitchFamily="18" charset="0"/>
              </a:rPr>
              <a:t>hyperparameters</a:t>
            </a:r>
            <a:r>
              <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and deploy the model for real-time churn prediction.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6022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760" y="132081"/>
            <a:ext cx="8346440" cy="761999"/>
          </a:xfrm>
        </p:spPr>
        <p:txBody>
          <a:bodyPr/>
          <a:lstStyle/>
          <a:p>
            <a:r>
              <a:rPr lang="en-IN" dirty="0"/>
              <a:t>CODING </a:t>
            </a:r>
          </a:p>
        </p:txBody>
      </p:sp>
      <p:sp>
        <p:nvSpPr>
          <p:cNvPr id="4" name="Slide Number Placeholder 3"/>
          <p:cNvSpPr>
            <a:spLocks noGrp="1"/>
          </p:cNvSpPr>
          <p:nvPr>
            <p:ph type="sldNum" sz="quarter" idx="12"/>
          </p:nvPr>
        </p:nvSpPr>
        <p:spPr/>
        <p:txBody>
          <a:bodyPr/>
          <a:lstStyle/>
          <a:p>
            <a:fld id="{7E3D8A1A-F310-4C9F-9F39-DEED8B092108}" type="slidenum">
              <a:rPr lang="en-US" smtClean="0"/>
              <a:pPr/>
              <a:t>13</a:t>
            </a:fld>
            <a:endParaRPr lang="en-US"/>
          </a:p>
        </p:txBody>
      </p:sp>
      <p:pic>
        <p:nvPicPr>
          <p:cNvPr id="6" name="Picture 5"/>
          <p:cNvPicPr>
            <a:picLocks noChangeAspect="1"/>
          </p:cNvPicPr>
          <p:nvPr/>
        </p:nvPicPr>
        <p:blipFill>
          <a:blip r:embed="rId2"/>
          <a:stretch>
            <a:fillRect/>
          </a:stretch>
        </p:blipFill>
        <p:spPr>
          <a:xfrm>
            <a:off x="335280" y="1097448"/>
            <a:ext cx="6134301" cy="4555472"/>
          </a:xfrm>
          <a:prstGeom prst="rect">
            <a:avLst/>
          </a:prstGeom>
        </p:spPr>
      </p:pic>
    </p:spTree>
    <p:extLst>
      <p:ext uri="{BB962C8B-B14F-4D97-AF65-F5344CB8AC3E}">
        <p14:creationId xmlns:p14="http://schemas.microsoft.com/office/powerpoint/2010/main" val="1642588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4960" y="284481"/>
            <a:ext cx="8143240" cy="518159"/>
          </a:xfrm>
        </p:spPr>
        <p:txBody>
          <a:bodyPr/>
          <a:lstStyle/>
          <a:p>
            <a:r>
              <a:rPr lang="en-US" dirty="0" smtClean="0"/>
              <a:t>CODING</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14</a:t>
            </a:fld>
            <a:endParaRPr lang="en-US"/>
          </a:p>
        </p:txBody>
      </p:sp>
      <p:pic>
        <p:nvPicPr>
          <p:cNvPr id="6" name="Picture 5"/>
          <p:cNvPicPr>
            <a:picLocks noChangeAspect="1"/>
          </p:cNvPicPr>
          <p:nvPr/>
        </p:nvPicPr>
        <p:blipFill rotWithShape="1">
          <a:blip r:embed="rId2"/>
          <a:srcRect t="2737"/>
          <a:stretch/>
        </p:blipFill>
        <p:spPr>
          <a:xfrm>
            <a:off x="154730" y="1097280"/>
            <a:ext cx="5494230" cy="5415280"/>
          </a:xfrm>
          <a:prstGeom prst="rect">
            <a:avLst/>
          </a:prstGeom>
        </p:spPr>
      </p:pic>
    </p:spTree>
    <p:extLst>
      <p:ext uri="{BB962C8B-B14F-4D97-AF65-F5344CB8AC3E}">
        <p14:creationId xmlns:p14="http://schemas.microsoft.com/office/powerpoint/2010/main" val="3289864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72721"/>
            <a:ext cx="8458200" cy="690879"/>
          </a:xfrm>
        </p:spPr>
        <p:txBody>
          <a:bodyPr/>
          <a:lstStyle/>
          <a:p>
            <a:r>
              <a:rPr lang="en-US" dirty="0" smtClean="0"/>
              <a:t>CODING</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15</a:t>
            </a:fld>
            <a:endParaRPr lang="en-US"/>
          </a:p>
        </p:txBody>
      </p:sp>
      <p:pic>
        <p:nvPicPr>
          <p:cNvPr id="5" name="Picture 4"/>
          <p:cNvPicPr>
            <a:picLocks noChangeAspect="1"/>
          </p:cNvPicPr>
          <p:nvPr/>
        </p:nvPicPr>
        <p:blipFill>
          <a:blip r:embed="rId2"/>
          <a:stretch>
            <a:fillRect/>
          </a:stretch>
        </p:blipFill>
        <p:spPr>
          <a:xfrm>
            <a:off x="520493" y="1394442"/>
            <a:ext cx="5392627" cy="1978678"/>
          </a:xfrm>
          <a:prstGeom prst="rect">
            <a:avLst/>
          </a:prstGeom>
        </p:spPr>
      </p:pic>
    </p:spTree>
    <p:extLst>
      <p:ext uri="{BB962C8B-B14F-4D97-AF65-F5344CB8AC3E}">
        <p14:creationId xmlns:p14="http://schemas.microsoft.com/office/powerpoint/2010/main" val="956066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200" y="101601"/>
            <a:ext cx="8255000" cy="762000"/>
          </a:xfrm>
        </p:spPr>
        <p:txBody>
          <a:bodyPr/>
          <a:lstStyle/>
          <a:p>
            <a:r>
              <a:rPr lang="en-US" dirty="0" smtClean="0"/>
              <a:t>IMPLEMENTATION </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16</a:t>
            </a:fld>
            <a:endParaRPr lang="en-US"/>
          </a:p>
        </p:txBody>
      </p:sp>
      <p:pic>
        <p:nvPicPr>
          <p:cNvPr id="6" name="Picture 5"/>
          <p:cNvPicPr>
            <a:picLocks noChangeAspect="1"/>
          </p:cNvPicPr>
          <p:nvPr/>
        </p:nvPicPr>
        <p:blipFill>
          <a:blip r:embed="rId2"/>
          <a:stretch>
            <a:fillRect/>
          </a:stretch>
        </p:blipFill>
        <p:spPr>
          <a:xfrm>
            <a:off x="619760" y="1327060"/>
            <a:ext cx="7650479" cy="4098379"/>
          </a:xfrm>
          <a:prstGeom prst="rect">
            <a:avLst/>
          </a:prstGeom>
        </p:spPr>
      </p:pic>
    </p:spTree>
    <p:extLst>
      <p:ext uri="{BB962C8B-B14F-4D97-AF65-F5344CB8AC3E}">
        <p14:creationId xmlns:p14="http://schemas.microsoft.com/office/powerpoint/2010/main" val="3478648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160" y="223521"/>
            <a:ext cx="8194040" cy="701039"/>
          </a:xfrm>
        </p:spPr>
        <p:txBody>
          <a:bodyPr/>
          <a:lstStyle/>
          <a:p>
            <a:r>
              <a:rPr lang="en-US" dirty="0"/>
              <a:t>RESULT</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17</a:t>
            </a:fld>
            <a:endParaRPr lang="en-US"/>
          </a:p>
        </p:txBody>
      </p:sp>
      <p:pic>
        <p:nvPicPr>
          <p:cNvPr id="5" name="Picture 4"/>
          <p:cNvPicPr>
            <a:picLocks noChangeAspect="1"/>
          </p:cNvPicPr>
          <p:nvPr/>
        </p:nvPicPr>
        <p:blipFill>
          <a:blip r:embed="rId2"/>
          <a:stretch>
            <a:fillRect/>
          </a:stretch>
        </p:blipFill>
        <p:spPr>
          <a:xfrm>
            <a:off x="1368788" y="1288912"/>
            <a:ext cx="6556012" cy="3598047"/>
          </a:xfrm>
          <a:prstGeom prst="rect">
            <a:avLst/>
          </a:prstGeom>
        </p:spPr>
      </p:pic>
    </p:spTree>
    <p:extLst>
      <p:ext uri="{BB962C8B-B14F-4D97-AF65-F5344CB8AC3E}">
        <p14:creationId xmlns:p14="http://schemas.microsoft.com/office/powerpoint/2010/main" val="2689285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680" y="240665"/>
            <a:ext cx="7757160" cy="673735"/>
          </a:xfrm>
        </p:spPr>
        <p:txBody>
          <a:bodyPr/>
          <a:lstStyle/>
          <a:p>
            <a:r>
              <a:rPr lang="en-US" dirty="0" smtClean="0"/>
              <a:t>RESULT</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18</a:t>
            </a:fld>
            <a:endParaRPr lang="en-US"/>
          </a:p>
        </p:txBody>
      </p:sp>
      <p:pic>
        <p:nvPicPr>
          <p:cNvPr id="5" name="Picture 4"/>
          <p:cNvPicPr>
            <a:picLocks noChangeAspect="1"/>
          </p:cNvPicPr>
          <p:nvPr/>
        </p:nvPicPr>
        <p:blipFill>
          <a:blip r:embed="rId2"/>
          <a:stretch>
            <a:fillRect/>
          </a:stretch>
        </p:blipFill>
        <p:spPr>
          <a:xfrm>
            <a:off x="1437072" y="1188565"/>
            <a:ext cx="6553768" cy="3566469"/>
          </a:xfrm>
          <a:prstGeom prst="rect">
            <a:avLst/>
          </a:prstGeom>
        </p:spPr>
      </p:pic>
    </p:spTree>
    <p:extLst>
      <p:ext uri="{BB962C8B-B14F-4D97-AF65-F5344CB8AC3E}">
        <p14:creationId xmlns:p14="http://schemas.microsoft.com/office/powerpoint/2010/main" val="3607160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E3D8A1A-F310-4C9F-9F39-DEED8B092108}" type="slidenum">
              <a:rPr lang="en-US" smtClean="0"/>
              <a:pPr/>
              <a:t>19</a:t>
            </a:fld>
            <a:endParaRPr lang="en-US"/>
          </a:p>
        </p:txBody>
      </p:sp>
      <p:pic>
        <p:nvPicPr>
          <p:cNvPr id="5" name="Picture 4"/>
          <p:cNvPicPr>
            <a:picLocks noChangeAspect="1"/>
          </p:cNvPicPr>
          <p:nvPr/>
        </p:nvPicPr>
        <p:blipFill>
          <a:blip r:embed="rId2"/>
          <a:stretch>
            <a:fillRect/>
          </a:stretch>
        </p:blipFill>
        <p:spPr>
          <a:xfrm>
            <a:off x="1278603" y="1351136"/>
            <a:ext cx="6607113" cy="3667904"/>
          </a:xfrm>
          <a:prstGeom prst="rect">
            <a:avLst/>
          </a:prstGeom>
        </p:spPr>
      </p:pic>
    </p:spTree>
    <p:extLst>
      <p:ext uri="{BB962C8B-B14F-4D97-AF65-F5344CB8AC3E}">
        <p14:creationId xmlns:p14="http://schemas.microsoft.com/office/powerpoint/2010/main" val="3872385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smtClean="0">
                <a:solidFill>
                  <a:schemeClr val="tx1"/>
                </a:solidFill>
              </a:rPr>
              <a:t>EXPECTED RESULT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1. Improved </a:t>
            </a:r>
            <a:r>
              <a:rPr lang="en-US" sz="1800" dirty="0">
                <a:solidFill>
                  <a:schemeClr val="bg1"/>
                </a:solidFill>
                <a:latin typeface="Times New Roman" panose="02020603050405020304" pitchFamily="18" charset="0"/>
                <a:cs typeface="Times New Roman" panose="02020603050405020304" pitchFamily="18" charset="0"/>
              </a:rPr>
              <a:t>Churn Prediction </a:t>
            </a:r>
            <a:r>
              <a:rPr lang="en-US" sz="1800" dirty="0" smtClean="0">
                <a:solidFill>
                  <a:schemeClr val="bg1"/>
                </a:solidFill>
                <a:latin typeface="Times New Roman" panose="02020603050405020304" pitchFamily="18" charset="0"/>
                <a:cs typeface="Times New Roman" panose="02020603050405020304" pitchFamily="18" charset="0"/>
              </a:rPr>
              <a:t>Accuracy: </a:t>
            </a:r>
            <a:r>
              <a:rPr lang="en-US" sz="1800" b="0" dirty="0">
                <a:solidFill>
                  <a:schemeClr val="bg1"/>
                </a:solidFill>
                <a:latin typeface="Times New Roman" panose="02020603050405020304" pitchFamily="18" charset="0"/>
                <a:cs typeface="Times New Roman" panose="02020603050405020304" pitchFamily="18" charset="0"/>
              </a:rPr>
              <a:t>Achieve a higher accuracy rate in predicting customer churn, leading to early identification of at-risk customers and proactive retention efforts</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2</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Reduction </a:t>
            </a:r>
            <a:r>
              <a:rPr lang="en-US" sz="1800" dirty="0">
                <a:solidFill>
                  <a:schemeClr val="bg1"/>
                </a:solidFill>
                <a:latin typeface="Times New Roman" panose="02020603050405020304" pitchFamily="18" charset="0"/>
                <a:cs typeface="Times New Roman" panose="02020603050405020304" pitchFamily="18" charset="0"/>
              </a:rPr>
              <a:t>in Churn </a:t>
            </a:r>
            <a:r>
              <a:rPr lang="en-US" sz="1800" dirty="0" smtClean="0">
                <a:solidFill>
                  <a:schemeClr val="bg1"/>
                </a:solidFill>
                <a:latin typeface="Times New Roman" panose="02020603050405020304" pitchFamily="18" charset="0"/>
                <a:cs typeface="Times New Roman" panose="02020603050405020304" pitchFamily="18" charset="0"/>
              </a:rPr>
              <a:t>Rate: </a:t>
            </a:r>
            <a:r>
              <a:rPr lang="en-US" sz="1800" b="0" dirty="0">
                <a:solidFill>
                  <a:schemeClr val="bg1"/>
                </a:solidFill>
                <a:latin typeface="Times New Roman" panose="02020603050405020304" pitchFamily="18" charset="0"/>
                <a:cs typeface="Times New Roman" panose="02020603050405020304" pitchFamily="18" charset="0"/>
              </a:rPr>
              <a:t>Realize a measurable decrease in overall churn rate among targeted customer segments, resulting in improved customer retention and reduced revenue loss</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3. Enhanced </a:t>
            </a:r>
            <a:r>
              <a:rPr lang="en-US" sz="1800" dirty="0">
                <a:solidFill>
                  <a:schemeClr val="bg1"/>
                </a:solidFill>
                <a:latin typeface="Times New Roman" panose="02020603050405020304" pitchFamily="18" charset="0"/>
                <a:cs typeface="Times New Roman" panose="02020603050405020304" pitchFamily="18" charset="0"/>
              </a:rPr>
              <a:t>Customer </a:t>
            </a:r>
            <a:r>
              <a:rPr lang="en-US" sz="1800" dirty="0" smtClean="0">
                <a:solidFill>
                  <a:schemeClr val="bg1"/>
                </a:solidFill>
                <a:latin typeface="Times New Roman" panose="02020603050405020304" pitchFamily="18" charset="0"/>
                <a:cs typeface="Times New Roman" panose="02020603050405020304" pitchFamily="18" charset="0"/>
              </a:rPr>
              <a:t>Segmentation: </a:t>
            </a:r>
            <a:r>
              <a:rPr lang="en-US" sz="1800" b="0" dirty="0">
                <a:solidFill>
                  <a:schemeClr val="bg1"/>
                </a:solidFill>
                <a:latin typeface="Times New Roman" panose="02020603050405020304" pitchFamily="18" charset="0"/>
                <a:cs typeface="Times New Roman" panose="02020603050405020304" pitchFamily="18" charset="0"/>
              </a:rPr>
              <a:t>Utilize advanced segmentation to deliver personalized interventions and offers, resulting in increased customer satisfaction and loyalty</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4</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Increase </a:t>
            </a:r>
            <a:r>
              <a:rPr lang="en-US" sz="1800" dirty="0">
                <a:solidFill>
                  <a:schemeClr val="bg1"/>
                </a:solidFill>
                <a:latin typeface="Times New Roman" panose="02020603050405020304" pitchFamily="18" charset="0"/>
                <a:cs typeface="Times New Roman" panose="02020603050405020304" pitchFamily="18" charset="0"/>
              </a:rPr>
              <a:t>in Customer Lifetime Value (CLV</a:t>
            </a:r>
            <a:r>
              <a:rPr lang="en-US" sz="1800" dirty="0" smtClean="0">
                <a:solidFill>
                  <a:schemeClr val="bg1"/>
                </a:solidFill>
                <a:latin typeface="Times New Roman" panose="02020603050405020304" pitchFamily="18" charset="0"/>
                <a:cs typeface="Times New Roman" panose="02020603050405020304" pitchFamily="18" charset="0"/>
              </a:rPr>
              <a:t>): </a:t>
            </a:r>
            <a:r>
              <a:rPr lang="en-US" sz="1800" b="0" dirty="0">
                <a:solidFill>
                  <a:schemeClr val="bg1"/>
                </a:solidFill>
                <a:latin typeface="Times New Roman" panose="02020603050405020304" pitchFamily="18" charset="0"/>
                <a:cs typeface="Times New Roman" panose="02020603050405020304" pitchFamily="18" charset="0"/>
              </a:rPr>
              <a:t>Improve CLV by retaining high-value customers identified through churn prediction models, leading to higher revenue generation over the </a:t>
            </a:r>
            <a:r>
              <a:rPr lang="en-US" sz="1800" b="0" dirty="0" smtClean="0">
                <a:solidFill>
                  <a:schemeClr val="bg1"/>
                </a:solidFill>
                <a:latin typeface="Times New Roman" panose="02020603050405020304" pitchFamily="18" charset="0"/>
                <a:cs typeface="Times New Roman" panose="02020603050405020304" pitchFamily="18" charset="0"/>
              </a:rPr>
              <a:t>customer</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20</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0818651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a:solidFill>
                  <a:schemeClr val="tx1"/>
                </a:solidFill>
              </a:rPr>
              <a:t>EXPECTED RESULT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5</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Optimized </a:t>
            </a:r>
            <a:r>
              <a:rPr lang="en-US" sz="1800" dirty="0">
                <a:solidFill>
                  <a:schemeClr val="bg1"/>
                </a:solidFill>
                <a:latin typeface="Times New Roman" panose="02020603050405020304" pitchFamily="18" charset="0"/>
                <a:cs typeface="Times New Roman" panose="02020603050405020304" pitchFamily="18" charset="0"/>
              </a:rPr>
              <a:t>Resource </a:t>
            </a:r>
            <a:r>
              <a:rPr lang="en-US" sz="1800" dirty="0" smtClean="0">
                <a:solidFill>
                  <a:schemeClr val="bg1"/>
                </a:solidFill>
                <a:latin typeface="Times New Roman" panose="02020603050405020304" pitchFamily="18" charset="0"/>
                <a:cs typeface="Times New Roman" panose="02020603050405020304" pitchFamily="18" charset="0"/>
              </a:rPr>
              <a:t>Allocation: </a:t>
            </a:r>
            <a:r>
              <a:rPr lang="en-US" sz="1800" b="0" dirty="0">
                <a:solidFill>
                  <a:schemeClr val="bg1"/>
                </a:solidFill>
                <a:latin typeface="Times New Roman" panose="02020603050405020304" pitchFamily="18" charset="0"/>
                <a:cs typeface="Times New Roman" panose="02020603050405020304" pitchFamily="18" charset="0"/>
              </a:rPr>
              <a:t>Allocate resources more efficiently by focusing efforts on retaining existing customers rather than solely acquiring new ones, leading to improved operational efficiency and cost savings</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6</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Positive </a:t>
            </a:r>
            <a:r>
              <a:rPr lang="en-US" sz="1800" dirty="0">
                <a:solidFill>
                  <a:schemeClr val="bg1"/>
                </a:solidFill>
                <a:latin typeface="Times New Roman" panose="02020603050405020304" pitchFamily="18" charset="0"/>
                <a:cs typeface="Times New Roman" panose="02020603050405020304" pitchFamily="18" charset="0"/>
              </a:rPr>
              <a:t>Impact on Revenue and </a:t>
            </a:r>
            <a:r>
              <a:rPr lang="en-US" sz="1800" dirty="0" smtClean="0">
                <a:solidFill>
                  <a:schemeClr val="bg1"/>
                </a:solidFill>
                <a:latin typeface="Times New Roman" panose="02020603050405020304" pitchFamily="18" charset="0"/>
                <a:cs typeface="Times New Roman" panose="02020603050405020304" pitchFamily="18" charset="0"/>
              </a:rPr>
              <a:t>Profitability: </a:t>
            </a:r>
            <a:r>
              <a:rPr lang="en-US" sz="1800" b="0" dirty="0">
                <a:solidFill>
                  <a:schemeClr val="bg1"/>
                </a:solidFill>
                <a:latin typeface="Times New Roman" panose="02020603050405020304" pitchFamily="18" charset="0"/>
                <a:cs typeface="Times New Roman" panose="02020603050405020304" pitchFamily="18" charset="0"/>
              </a:rPr>
              <a:t>Ultimately, achieve a positive impact on revenue and profitability through reduced churn, increased customer engagement, and optimized retention strategies.</a:t>
            </a: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21</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73559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283" y="167952"/>
            <a:ext cx="8280918" cy="643812"/>
          </a:xfrm>
        </p:spPr>
        <p:txBody>
          <a:bodyPr/>
          <a:lstStyle/>
          <a:p>
            <a:r>
              <a:rPr lang="en-IN" dirty="0" smtClean="0"/>
              <a:t>CONCLUSION</a:t>
            </a:r>
            <a:endParaRPr lang="en-IN" dirty="0"/>
          </a:p>
        </p:txBody>
      </p:sp>
      <p:sp>
        <p:nvSpPr>
          <p:cNvPr id="3" name="Subtitle 2"/>
          <p:cNvSpPr>
            <a:spLocks noGrp="1"/>
          </p:cNvSpPr>
          <p:nvPr>
            <p:ph type="subTitle" idx="1"/>
          </p:nvPr>
        </p:nvSpPr>
        <p:spPr>
          <a:xfrm>
            <a:off x="177283" y="1278294"/>
            <a:ext cx="7595117" cy="4360506"/>
          </a:xfrm>
        </p:spPr>
        <p:txBody>
          <a:bodyPr/>
          <a:lstStyle/>
          <a:p>
            <a:pPr algn="l"/>
            <a:r>
              <a:rPr lang="en-US" sz="2400" b="0" dirty="0">
                <a:solidFill>
                  <a:schemeClr val="bg1"/>
                </a:solidFill>
              </a:rPr>
              <a:t>The importance of churn prediction will help many companies, mainly in telecom industries, to have a profitable income and achieve good revenue. Customer churn prediction is the major issue in the Telecom Industry, and due to this, companies are trying to keep the existing ones from leaving rather than acquiring a new customer.</a:t>
            </a:r>
            <a:endParaRPr lang="en-IN" sz="24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22</a:t>
            </a:fld>
            <a:endParaRPr lang="en-US"/>
          </a:p>
        </p:txBody>
      </p:sp>
    </p:spTree>
    <p:extLst>
      <p:ext uri="{BB962C8B-B14F-4D97-AF65-F5344CB8AC3E}">
        <p14:creationId xmlns:p14="http://schemas.microsoft.com/office/powerpoint/2010/main" val="2481690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14400"/>
          </a:xfrm>
          <a:prstGeom prst="rect">
            <a:avLst/>
          </a:prstGeom>
          <a:solidFill>
            <a:srgbClr val="2F71A2"/>
          </a:solidFill>
          <a:ln w="25400" cap="flat" cmpd="sng" algn="ctr">
            <a:noFill/>
            <a:prstDash val="solid"/>
          </a:ln>
          <a:effectLst/>
        </p:spPr>
        <p:txBody>
          <a:bodyPr anchor="ctr"/>
          <a:lstStyle/>
          <a:p>
            <a:pPr algn="ctr" fontAlgn="auto">
              <a:spcBef>
                <a:spcPts val="0"/>
              </a:spcBef>
              <a:spcAft>
                <a:spcPts val="0"/>
              </a:spcAft>
              <a:defRPr/>
            </a:pPr>
            <a:endParaRPr lang="en-US" kern="0">
              <a:solidFill>
                <a:sysClr val="window" lastClr="FFFFFF"/>
              </a:solidFill>
              <a:latin typeface="Calibri"/>
              <a:cs typeface="+mn-cs"/>
            </a:endParaRPr>
          </a:p>
        </p:txBody>
      </p:sp>
      <p:pic>
        <p:nvPicPr>
          <p:cNvPr id="154627" name="Picture 4" descr="http://www.hiltonheadislandbuilder.com/wp-content/uploads/2012/12/thank-you-card.jpg"/>
          <p:cNvPicPr>
            <a:picLocks noChangeAspect="1" noChangeArrowheads="1"/>
          </p:cNvPicPr>
          <p:nvPr/>
        </p:nvPicPr>
        <p:blipFill>
          <a:blip r:embed="rId2" cstate="print"/>
          <a:srcRect/>
          <a:stretch>
            <a:fillRect/>
          </a:stretch>
        </p:blipFill>
        <p:spPr bwMode="auto">
          <a:xfrm>
            <a:off x="0" y="914400"/>
            <a:ext cx="9144000" cy="59436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19FA1906-51BE-4B49-A728-D60CC9E44BA8}" type="slidenum">
              <a:rPr lang="en-US" smtClean="0"/>
              <a:pPr>
                <a:defRPr/>
              </a:pPr>
              <a:t>23</a:t>
            </a:fld>
            <a:endParaRPr lang="en-US"/>
          </a:p>
        </p:txBody>
      </p:sp>
      <p:pic>
        <p:nvPicPr>
          <p:cNvPr id="7" name="Picture 5"/>
          <p:cNvPicPr>
            <a:picLocks noChangeAspect="1"/>
          </p:cNvPicPr>
          <p:nvPr/>
        </p:nvPicPr>
        <p:blipFill>
          <a:blip r:embed="rId3"/>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467807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1082</TotalTime>
  <Words>1254</Words>
  <Application>Microsoft Office PowerPoint</Application>
  <PresentationFormat>On-screen Show (4:3)</PresentationFormat>
  <Paragraphs>120</Paragraphs>
  <Slides>23</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23</vt:i4>
      </vt:variant>
    </vt:vector>
  </HeadingPairs>
  <TitlesOfParts>
    <vt:vector size="33" baseType="lpstr">
      <vt:lpstr>Arial</vt:lpstr>
      <vt:lpstr>Berlin Sans FB</vt:lpstr>
      <vt:lpstr>Brush Script MT</vt:lpstr>
      <vt:lpstr>Calibri</vt:lpstr>
      <vt:lpstr>Franklin Gothic Book</vt:lpstr>
      <vt:lpstr>Times New Roman</vt:lpstr>
      <vt:lpstr>Wingdings</vt:lpstr>
      <vt:lpstr>Wingdings 2</vt:lpstr>
      <vt:lpstr>Technic</vt:lpstr>
      <vt:lpstr>Custom Design</vt:lpstr>
      <vt:lpstr>PowerPoint Presentation</vt:lpstr>
      <vt:lpstr>ABSTRACT</vt:lpstr>
      <vt:lpstr>INTRODUCTION </vt:lpstr>
      <vt:lpstr>OBJECTIVES </vt:lpstr>
      <vt:lpstr>PROPOSED APPROACH </vt:lpstr>
      <vt:lpstr>WORKFLOW</vt:lpstr>
      <vt:lpstr>LIBRARIES</vt:lpstr>
      <vt:lpstr>ALGORITHMS</vt:lpstr>
      <vt:lpstr>ALGORITHMS</vt:lpstr>
      <vt:lpstr>ALGORITHMS</vt:lpstr>
      <vt:lpstr>ALGORITHMS</vt:lpstr>
      <vt:lpstr>ALGORITHMS</vt:lpstr>
      <vt:lpstr>CODING </vt:lpstr>
      <vt:lpstr>CODING</vt:lpstr>
      <vt:lpstr>CODING</vt:lpstr>
      <vt:lpstr>IMPLEMENTATION </vt:lpstr>
      <vt:lpstr>RESULT</vt:lpstr>
      <vt:lpstr>RESULT</vt:lpstr>
      <vt:lpstr>PowerPoint Presentation</vt:lpstr>
      <vt:lpstr>EXPECTED RESULT</vt:lpstr>
      <vt:lpstr>EXPECTED 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NH</dc:creator>
  <cp:lastModifiedBy>home</cp:lastModifiedBy>
  <cp:revision>72</cp:revision>
  <dcterms:modified xsi:type="dcterms:W3CDTF">2024-07-09T06:48:45Z</dcterms:modified>
</cp:coreProperties>
</file>