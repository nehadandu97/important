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49" r:id="rId2"/>
  </p:sldMasterIdLst>
  <p:notesMasterIdLst>
    <p:notesMasterId r:id="rId21"/>
  </p:notesMasterIdLst>
  <p:sldIdLst>
    <p:sldId id="256" r:id="rId3"/>
    <p:sldId id="285" r:id="rId4"/>
    <p:sldId id="276" r:id="rId5"/>
    <p:sldId id="257" r:id="rId6"/>
    <p:sldId id="262" r:id="rId7"/>
    <p:sldId id="299" r:id="rId8"/>
    <p:sldId id="290" r:id="rId9"/>
    <p:sldId id="291" r:id="rId10"/>
    <p:sldId id="297" r:id="rId11"/>
    <p:sldId id="292" r:id="rId12"/>
    <p:sldId id="289" r:id="rId13"/>
    <p:sldId id="296" r:id="rId14"/>
    <p:sldId id="301" r:id="rId15"/>
    <p:sldId id="298" r:id="rId16"/>
    <p:sldId id="278" r:id="rId17"/>
    <p:sldId id="281" r:id="rId18"/>
    <p:sldId id="288" r:id="rId19"/>
    <p:sldId id="283" r:id="rId20"/>
  </p:sldIdLst>
  <p:sldSz cx="9144000" cy="6858000" type="screen4x3"/>
  <p:notesSz cx="7104063" cy="10234613"/>
  <p:defaultTextStyle>
    <a:defPPr lvl="0">
      <a:defRPr lang="en-US"/>
    </a:defPPr>
    <a:lvl1pPr lvl="0" algn="l" rtl="0" eaLnBrk="0" fontAlgn="base" hangingPunct="0">
      <a:spcBef>
        <a:spcPct val="0"/>
      </a:spcBef>
      <a:spcAft>
        <a:spcPct val="0"/>
      </a:spcAft>
      <a:defRPr kern="1200">
        <a:solidFill>
          <a:schemeClr val="tx1"/>
        </a:solidFill>
        <a:latin typeface="Arial" pitchFamily="34" charset="0"/>
        <a:ea typeface="+mn-ea"/>
        <a:cs typeface="Arial" pitchFamily="34" charset="0"/>
      </a:defRPr>
    </a:lvl1pPr>
    <a:lvl2pPr marL="457200" lvl="1" algn="l" rtl="0" eaLnBrk="0" fontAlgn="base" hangingPunct="0">
      <a:spcBef>
        <a:spcPct val="0"/>
      </a:spcBef>
      <a:spcAft>
        <a:spcPct val="0"/>
      </a:spcAft>
      <a:defRPr kern="1200">
        <a:solidFill>
          <a:schemeClr val="tx1"/>
        </a:solidFill>
        <a:latin typeface="Arial" pitchFamily="34" charset="0"/>
        <a:ea typeface="+mn-ea"/>
        <a:cs typeface="Arial" pitchFamily="34" charset="0"/>
      </a:defRPr>
    </a:lvl2pPr>
    <a:lvl3pPr marL="914400" lvl="2" algn="l" rtl="0" eaLnBrk="0" fontAlgn="base" hangingPunct="0">
      <a:spcBef>
        <a:spcPct val="0"/>
      </a:spcBef>
      <a:spcAft>
        <a:spcPct val="0"/>
      </a:spcAft>
      <a:defRPr kern="1200">
        <a:solidFill>
          <a:schemeClr val="tx1"/>
        </a:solidFill>
        <a:latin typeface="Arial" pitchFamily="34" charset="0"/>
        <a:ea typeface="+mn-ea"/>
        <a:cs typeface="Arial" pitchFamily="34" charset="0"/>
      </a:defRPr>
    </a:lvl3pPr>
    <a:lvl4pPr marL="1371600" lvl="3" algn="l" rtl="0" eaLnBrk="0" fontAlgn="base" hangingPunct="0">
      <a:spcBef>
        <a:spcPct val="0"/>
      </a:spcBef>
      <a:spcAft>
        <a:spcPct val="0"/>
      </a:spcAft>
      <a:defRPr kern="1200">
        <a:solidFill>
          <a:schemeClr val="tx1"/>
        </a:solidFill>
        <a:latin typeface="Arial" pitchFamily="34" charset="0"/>
        <a:ea typeface="+mn-ea"/>
        <a:cs typeface="Arial" pitchFamily="34" charset="0"/>
      </a:defRPr>
    </a:lvl4pPr>
    <a:lvl5pPr marL="1828800" lvl="4" algn="l" rtl="0" eaLnBrk="0" fontAlgn="base" hangingPunct="0">
      <a:spcBef>
        <a:spcPct val="0"/>
      </a:spcBef>
      <a:spcAft>
        <a:spcPct val="0"/>
      </a:spcAft>
      <a:defRPr kern="1200">
        <a:solidFill>
          <a:schemeClr val="tx1"/>
        </a:solidFill>
        <a:latin typeface="Arial" pitchFamily="34" charset="0"/>
        <a:ea typeface="+mn-ea"/>
        <a:cs typeface="Arial" pitchFamily="34" charset="0"/>
      </a:defRPr>
    </a:lvl5pPr>
    <a:lvl6pPr marL="2286000" lvl="5" algn="l" defTabSz="914400" rtl="0" eaLnBrk="1" latinLnBrk="0" hangingPunct="1">
      <a:defRPr kern="1200">
        <a:solidFill>
          <a:schemeClr val="tx1"/>
        </a:solidFill>
        <a:latin typeface="Arial" pitchFamily="34" charset="0"/>
        <a:ea typeface="+mn-ea"/>
        <a:cs typeface="Arial" pitchFamily="34" charset="0"/>
      </a:defRPr>
    </a:lvl6pPr>
    <a:lvl7pPr marL="2743200" lvl="6" algn="l" defTabSz="914400" rtl="0" eaLnBrk="1" latinLnBrk="0" hangingPunct="1">
      <a:defRPr kern="1200">
        <a:solidFill>
          <a:schemeClr val="tx1"/>
        </a:solidFill>
        <a:latin typeface="Arial" pitchFamily="34" charset="0"/>
        <a:ea typeface="+mn-ea"/>
        <a:cs typeface="Arial" pitchFamily="34" charset="0"/>
      </a:defRPr>
    </a:lvl7pPr>
    <a:lvl8pPr marL="3200400" lvl="7" algn="l" defTabSz="914400" rtl="0" eaLnBrk="1" latinLnBrk="0" hangingPunct="1">
      <a:defRPr kern="1200">
        <a:solidFill>
          <a:schemeClr val="tx1"/>
        </a:solidFill>
        <a:latin typeface="Arial" pitchFamily="34" charset="0"/>
        <a:ea typeface="+mn-ea"/>
        <a:cs typeface="Arial" pitchFamily="34" charset="0"/>
      </a:defRPr>
    </a:lvl8pPr>
    <a:lvl9pPr marL="3657600" lvl="8"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orient="horz" pos="3224">
          <p15:clr>
            <a:srgbClr val="000000"/>
          </p15:clr>
        </p15:guide>
        <p15:guide id="3" pos="2160">
          <p15:clr>
            <a:srgbClr val="000000"/>
          </p15:clr>
        </p15:guide>
        <p15:guide id="4" pos="2238">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31" autoAdjust="0"/>
    <p:restoredTop sz="94660"/>
  </p:normalViewPr>
  <p:slideViewPr>
    <p:cSldViewPr snapToGrid="0">
      <p:cViewPr varScale="1">
        <p:scale>
          <a:sx n="82" d="100"/>
          <a:sy n="82" d="100"/>
        </p:scale>
        <p:origin x="1493" y="67"/>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orient="horz" pos="3224"/>
        <p:guide pos="2160"/>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Header Placeholder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0" name="Date Placeholder 2"/>
          <p:cNvSpPr>
            <a:spLocks noGrp="1"/>
          </p:cNvSpPr>
          <p:nvPr>
            <p:ph type="dt" idx="1"/>
          </p:nvPr>
        </p:nvSpPr>
        <p:spPr>
          <a:xfrm>
            <a:off x="4024313" y="0"/>
            <a:ext cx="3078162" cy="511175"/>
          </a:xfrm>
          <a:prstGeom prst="rect">
            <a:avLst/>
          </a:prstGeom>
        </p:spPr>
        <p:txBody>
          <a:bodyPr vert="horz" lIns="99075" tIns="49538" rIns="99075" bIns="49538" rtlCol="0"/>
          <a:lstStyle>
            <a:lvl1pPr algn="r" eaLnBrk="1" fontAlgn="auto" hangingPunct="1">
              <a:spcBef>
                <a:spcPts val="0"/>
              </a:spcBef>
              <a:spcAft>
                <a:spcPts val="0"/>
              </a:spcAft>
              <a:defRPr sz="1300">
                <a:latin typeface="+mn-lt"/>
                <a:cs typeface="+mn-cs"/>
              </a:defRPr>
            </a:lvl1pPr>
          </a:lstStyle>
          <a:p>
            <a:pPr>
              <a:defRPr/>
            </a:pPr>
            <a:fld id="{79632D85-81B2-4939-9A60-F41EB6CE5E65}" type="datetimeFigureOut">
              <a:rPr lang="en-US"/>
              <a:pPr>
                <a:defRPr/>
              </a:pPr>
              <a:t>6/12/2024</a:t>
            </a:fld>
            <a:endParaRPr lang="en-US"/>
          </a:p>
        </p:txBody>
      </p:sp>
      <p:sp>
        <p:nvSpPr>
          <p:cNvPr id="1048731"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1048732" name="Notes Placeholder 4"/>
          <p:cNvSpPr>
            <a:spLocks noGrp="1"/>
          </p:cNvSpPr>
          <p:nvPr>
            <p:ph type="body" sz="quarter" idx="3"/>
          </p:nvPr>
        </p:nvSpPr>
        <p:spPr>
          <a:xfrm>
            <a:off x="711200" y="4860925"/>
            <a:ext cx="5683250" cy="4605338"/>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3" name="Footer Placeholder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1048734" name="Slide Number Placeholder 6"/>
          <p:cNvSpPr>
            <a:spLocks noGrp="1"/>
          </p:cNvSpPr>
          <p:nvPr>
            <p:ph type="sldNum" sz="quarter" idx="5"/>
          </p:nvPr>
        </p:nvSpPr>
        <p:spPr>
          <a:xfrm>
            <a:off x="4024313" y="9721850"/>
            <a:ext cx="3078162" cy="511175"/>
          </a:xfrm>
          <a:prstGeom prst="rect">
            <a:avLst/>
          </a:prstGeom>
        </p:spPr>
        <p:txBody>
          <a:bodyPr vert="horz" wrap="square" lIns="99075" tIns="49538" rIns="99075" bIns="49538" numCol="1" anchor="b" anchorCtr="0" compatLnSpc="1">
            <a:prstTxWarp prst="textNoShape">
              <a:avLst/>
            </a:prstTxWarp>
          </a:bodyPr>
          <a:lstStyle>
            <a:lvl1pPr algn="r" eaLnBrk="1" hangingPunct="1">
              <a:defRPr sz="1300">
                <a:latin typeface="Calibri" pitchFamily="34" charset="0"/>
              </a:defRPr>
            </a:lvl1pPr>
          </a:lstStyle>
          <a:p>
            <a:fld id="{722DFA5A-79E3-4533-A1E0-79252CADEB2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71"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FC3E349C-3BB1-4441-9598-7385183D9E03}" type="datetime4">
              <a:rPr lang="en-US"/>
              <a:pPr>
                <a:defRPr/>
              </a:pPr>
              <a:t>June 12, 2024</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a:lvl1pPr>
          </a:lstStyle>
          <a:p>
            <a:fld id="{3AAB8470-621A-4D5F-8E5C-868FB963F40A}"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9" name="Title 1"/>
          <p:cNvSpPr>
            <a:spLocks noGrp="1"/>
          </p:cNvSpPr>
          <p:nvPr>
            <p:ph type="title"/>
          </p:nvPr>
        </p:nvSpPr>
        <p:spPr>
          <a:xfrm>
            <a:off x="228600" y="152400"/>
            <a:ext cx="7696200" cy="990600"/>
          </a:xfrm>
        </p:spPr>
        <p:txBody>
          <a:bodyPr/>
          <a:lstStyle>
            <a:lvl1pPr algn="l"/>
          </a:lstStyle>
          <a:p>
            <a:r>
              <a:rPr lang="en-US"/>
              <a:t>Click to edit Master title style</a:t>
            </a:r>
          </a:p>
        </p:txBody>
      </p:sp>
      <p:sp>
        <p:nvSpPr>
          <p:cNvPr id="1048600"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4A4C099B-A88E-433C-B393-79A5FD6CFF9D}" type="datetime4">
              <a:rPr lang="en-US"/>
              <a:pPr>
                <a:defRPr/>
              </a:pPr>
              <a:t>June 12,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fld id="{B01A9520-9C13-42F6-B778-5D2C2F9052D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4" name="Freeform 3"/>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4869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CFCA4A3-FFE7-450D-AB01-591E1F108729}" type="datetime4">
              <a:rPr lang="en-US"/>
              <a:pPr>
                <a:defRPr/>
              </a:pPr>
              <a:t>June 12,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825C13BF-B321-4287-839C-07C6ACB0A795}"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8"/>
            <a:ext cx="7467600" cy="1143000"/>
          </a:xfrm>
        </p:spPr>
        <p:txBody>
          <a:bodyPr/>
          <a:lstStyle/>
          <a:p>
            <a:r>
              <a:rPr lang="en-US"/>
              <a:t>Click to edit Master title style</a:t>
            </a:r>
          </a:p>
        </p:txBody>
      </p:sp>
      <p:sp>
        <p:nvSpPr>
          <p:cNvPr id="1048718"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9"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6F8267F7-E5E9-42FD-9E6A-B755052B2DA0}" type="datetime4">
              <a:rPr lang="en-US"/>
              <a:pPr>
                <a:defRPr/>
              </a:pPr>
              <a:t>June 12,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fld id="{4EAEBFF4-474F-42E8-B530-9F7EEBB83E59}"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6" name="Title 1"/>
          <p:cNvSpPr>
            <a:spLocks noGrp="1"/>
          </p:cNvSpPr>
          <p:nvPr>
            <p:ph type="title"/>
          </p:nvPr>
        </p:nvSpPr>
        <p:spPr>
          <a:xfrm>
            <a:off x="457200" y="273050"/>
            <a:ext cx="8229600" cy="1143000"/>
          </a:xfrm>
        </p:spPr>
        <p:txBody>
          <a:bodyPr/>
          <a:lstStyle/>
          <a:p>
            <a:r>
              <a:rPr lang="en-US"/>
              <a:t>Click to edit Master title style</a:t>
            </a:r>
          </a:p>
        </p:txBody>
      </p:sp>
      <p:sp>
        <p:nvSpPr>
          <p:cNvPr id="1048697"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1048698"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048699"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0"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D0F435B1-29E4-49BD-A149-C5555E043C0E}" type="datetime4">
              <a:rPr lang="en-US"/>
              <a:pPr>
                <a:defRPr/>
              </a:pPr>
              <a:t>June 12, 2024</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fld id="{F29097ED-38EA-4005-BCCB-17081F174C5F}"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5"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9156AE75-B3FB-49D0-B7E0-54938871B5E8}" type="datetime4">
              <a:rPr lang="en-US"/>
              <a:pPr>
                <a:defRPr/>
              </a:pPr>
              <a:t>June 12, 2024</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fld id="{4F4A914D-FADC-41DA-801A-A2DE0BD96A02}"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916CF7BD-80D7-4182-9023-2FD14B7C52EA}" type="datetime4">
              <a:rPr lang="en-US"/>
              <a:pPr>
                <a:defRPr/>
              </a:pPr>
              <a:t>June 12, 2024</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fld id="{8F5E18D7-4F5F-402B-8C89-01E5A229D9FC}"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3"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1048724"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725"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F3C76DBD-8BC9-4C62-93AD-EBB15ADB9BC9}" type="datetime4">
              <a:rPr lang="en-US"/>
              <a:pPr>
                <a:defRPr/>
              </a:pPr>
              <a:t>June 12,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fld id="{51D4C46A-DD38-4B9B-9F42-63AD57C6933D}"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4"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1048685"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1048686"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0ED4BD44-D27C-4228-9B19-221E0AADB205}" type="datetime4">
              <a:rPr lang="en-US"/>
              <a:pPr>
                <a:defRPr/>
              </a:pPr>
              <a:t>June 12, 2024</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fld id="{2534D676-1AC6-47FF-A609-68B579A5C5E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2" name="Title 1"/>
          <p:cNvSpPr>
            <a:spLocks noGrp="1"/>
          </p:cNvSpPr>
          <p:nvPr>
            <p:ph type="title"/>
          </p:nvPr>
        </p:nvSpPr>
        <p:spPr/>
        <p:txBody>
          <a:bodyPr/>
          <a:lstStyle/>
          <a:p>
            <a:r>
              <a:rPr lang="en-US"/>
              <a:t>Click to edit Master title style</a:t>
            </a:r>
          </a:p>
        </p:txBody>
      </p:sp>
      <p:sp>
        <p:nvSpPr>
          <p:cNvPr id="104871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8FE03502-A26B-4B1A-9E6F-603622473C37}" type="datetime4">
              <a:rPr lang="en-US"/>
              <a:pPr>
                <a:defRPr/>
              </a:pPr>
              <a:t>June 12,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00E500CF-7DF5-474C-A4DC-851F9846807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79"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0"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E40D75AE-4815-443D-A2BA-308073E26317}" type="datetime4">
              <a:rPr lang="en-US"/>
              <a:pPr>
                <a:defRPr/>
              </a:pPr>
              <a:t>June 12,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fld id="{6D00B3C1-51F1-4070-853C-3C896E2A788C}"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104870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08"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6A94BBD-121E-4A91-B755-F9E15CA10A8C}" type="datetime4">
              <a:rPr lang="en-US"/>
              <a:pPr>
                <a:defRPr/>
              </a:pPr>
              <a:t>June 12,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fld id="{79672586-0B34-4B84-A94A-7B01315591F9}"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4858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0"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6D5FBC73-EF85-4A88-98EF-3D30FE943CD7}" type="datetime4">
              <a:rPr lang="en-US"/>
              <a:pPr>
                <a:defRPr/>
              </a:pPr>
              <a:t>June 12,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fld id="{7E3D8A1A-F310-4C9F-9F39-DEED8B092108}"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246063" cy="358775"/>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46"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64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720AD12-4C7D-48ED-A781-1D90EAF8F27D}"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p>
        </p:txBody>
      </p:sp>
      <p:sp>
        <p:nvSpPr>
          <p:cNvPr id="104866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266AE6B-2183-4854-B748-44186F8C5598}"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6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4BC9AF8-C5DE-4806-92A9-EE8242DE140E}"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p>
        </p:txBody>
      </p:sp>
      <p:sp>
        <p:nvSpPr>
          <p:cNvPr id="104861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9A3A83D-79B4-45DB-9CD2-65B55F6C98F5}"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41EF6AB0-0D75-4ADF-8D76-DFC49B5D4226}"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3"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458017C-6284-4482-882E-C30184979605}"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1A12DB6F-C3AF-4FAE-A7A6-D1B35630A24C}"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6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AC2CA08-EB1D-45EA-A306-09E31D898AD8}"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27"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28"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62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1B76E4-A9B1-4889-842E-5068B48DAC8C}"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US"/>
              <a:t>Click to edit Master title style</a:t>
            </a:r>
          </a:p>
        </p:txBody>
      </p:sp>
      <p:sp>
        <p:nvSpPr>
          <p:cNvPr id="104861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D79E108D-97AB-4851-B10F-017F82988B0D}"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2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2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6/12/2024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6F62FF3-9B14-415A-AD6D-2D35045551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48576" name="Freeform 11"/>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7"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1028"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79"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CE502735-63BE-4EE3-9EFC-E3669953DA34}" type="datetime4">
              <a:rPr lang="en-US"/>
              <a:pPr>
                <a:defRPr/>
              </a:pPr>
              <a:t>June 12, 2024</a:t>
            </a:fld>
            <a:endParaRPr lang="en-US"/>
          </a:p>
        </p:txBody>
      </p:sp>
      <p:sp>
        <p:nvSpPr>
          <p:cNvPr id="1048580"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048581" name="Slide Number Placeholder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b="1"/>
            </a:lvl1pPr>
          </a:lstStyle>
          <a:p>
            <a:fld id="{A0DE0D6A-5BD3-4220-8C61-BD0CB23BE6E6}"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685" r:id="rId6"/>
    <p:sldLayoutId id="2147483686" r:id="rId7"/>
    <p:sldLayoutId id="2147483706" r:id="rId8"/>
    <p:sldLayoutId id="2147483687" r:id="rId9"/>
    <p:sldLayoutId id="2147483688" r:id="rId10"/>
    <p:sldLayoutId id="2147483689" r:id="rId11"/>
    <p:sldLayoutId id="2147483707" r:id="rId12"/>
    <p:sldLayoutId id="2147483708" r:id="rId13"/>
    <p:sldLayoutId id="2147483709" r:id="rId14"/>
  </p:sldLayoutIdLst>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0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6/12/2024</a:t>
            </a:fld>
            <a:endParaRPr lang="en-US"/>
          </a:p>
        </p:txBody>
      </p:sp>
      <p:sp>
        <p:nvSpPr>
          <p:cNvPr id="104860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US"/>
          </a:p>
        </p:txBody>
      </p:sp>
      <p:sp>
        <p:nvSpPr>
          <p:cNvPr id="1048610"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9D1A466F-D17A-47B5-BF09-1FD6E1EA76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2"/>
          <p:cNvSpPr>
            <a:spLocks/>
          </p:cNvSpPr>
          <p:nvPr/>
        </p:nvSpPr>
        <p:spPr bwMode="auto">
          <a:xfrm>
            <a:off x="0" y="0"/>
            <a:ext cx="9144000" cy="944563"/>
          </a:xfrm>
          <a:custGeom>
            <a:avLst/>
            <a:gdLst/>
            <a:ahLst/>
            <a:cxnLst>
              <a:cxn ang="0">
                <a:pos x="9144000" y="0"/>
              </a:cxn>
              <a:cxn ang="0">
                <a:pos x="0" y="0"/>
              </a:cxn>
              <a:cxn ang="0">
                <a:pos x="0" y="914400"/>
              </a:cxn>
              <a:cxn ang="0">
                <a:pos x="9144000" y="914400"/>
              </a:cxn>
              <a:cxn ang="0">
                <a:pos x="9144000" y="0"/>
              </a:cxn>
            </a:cxnLst>
            <a:rect l="0" t="0" r="r" b="b"/>
            <a:pathLst>
              <a:path w="9144000" h="914400">
                <a:moveTo>
                  <a:pt x="9144000" y="0"/>
                </a:moveTo>
                <a:lnTo>
                  <a:pt x="0" y="0"/>
                </a:lnTo>
                <a:lnTo>
                  <a:pt x="0" y="914400"/>
                </a:lnTo>
                <a:lnTo>
                  <a:pt x="9144000" y="914400"/>
                </a:lnTo>
                <a:lnTo>
                  <a:pt x="9144000" y="0"/>
                </a:lnTo>
                <a:close/>
              </a:path>
            </a:pathLst>
          </a:custGeom>
          <a:solidFill>
            <a:srgbClr val="2D6FA0"/>
          </a:solidFill>
          <a:ln w="9525">
            <a:noFill/>
            <a:round/>
            <a:headEnd/>
            <a:tailEnd/>
          </a:ln>
        </p:spPr>
        <p:txBody>
          <a:bodyPr lIns="0" tIns="0" rIns="0" bIns="0"/>
          <a:lstStyle/>
          <a:p>
            <a:endParaRPr lang="en-US"/>
          </a:p>
        </p:txBody>
      </p:sp>
      <p:sp>
        <p:nvSpPr>
          <p:cNvPr id="13315" name="TextBox 2"/>
          <p:cNvSpPr txBox="1">
            <a:spLocks noChangeArrowheads="1"/>
          </p:cNvSpPr>
          <p:nvPr/>
        </p:nvSpPr>
        <p:spPr bwMode="auto">
          <a:xfrm>
            <a:off x="249238" y="257175"/>
            <a:ext cx="8078787" cy="492125"/>
          </a:xfrm>
          <a:prstGeom prst="rect">
            <a:avLst/>
          </a:prstGeom>
          <a:noFill/>
          <a:ln w="9525">
            <a:noFill/>
            <a:miter lim="800000"/>
            <a:headEnd/>
            <a:tailEnd/>
          </a:ln>
        </p:spPr>
        <p:txBody>
          <a:bodyPr>
            <a:spAutoFit/>
          </a:bodyPr>
          <a:lstStyle/>
          <a:p>
            <a:pPr eaLnBrk="1" hangingPunct="1"/>
            <a:r>
              <a:rPr lang="en-US" sz="2600" b="1" dirty="0">
                <a:latin typeface="Times New Roman" pitchFamily="18" charset="0"/>
                <a:cs typeface="Times New Roman" pitchFamily="18" charset="0"/>
              </a:rPr>
              <a:t>  INSTITUTE OF AERONAUTICAL ENGINEERING</a:t>
            </a:r>
            <a:endParaRPr lang="en-IN" sz="2600" dirty="0">
              <a:latin typeface="Times New Roman" pitchFamily="18" charset="0"/>
              <a:cs typeface="Times New Roman" pitchFamily="18" charset="0"/>
            </a:endParaRPr>
          </a:p>
        </p:txBody>
      </p:sp>
      <p:pic>
        <p:nvPicPr>
          <p:cNvPr id="13316" name="Picture 3"/>
          <p:cNvPicPr>
            <a:picLocks noChangeAspect="1"/>
          </p:cNvPicPr>
          <p:nvPr/>
        </p:nvPicPr>
        <p:blipFill>
          <a:blip r:embed="rId2"/>
          <a:srcRect/>
          <a:stretch>
            <a:fillRect/>
          </a:stretch>
        </p:blipFill>
        <p:spPr bwMode="auto">
          <a:xfrm>
            <a:off x="8328025" y="23813"/>
            <a:ext cx="731838" cy="822325"/>
          </a:xfrm>
          <a:prstGeom prst="rect">
            <a:avLst/>
          </a:prstGeom>
          <a:noFill/>
          <a:ln w="9525">
            <a:noFill/>
            <a:miter lim="800000"/>
            <a:headEnd/>
            <a:tailEnd/>
          </a:ln>
        </p:spPr>
      </p:pic>
      <p:sp>
        <p:nvSpPr>
          <p:cNvPr id="13317" name="TextBox 4"/>
          <p:cNvSpPr txBox="1">
            <a:spLocks noChangeArrowheads="1"/>
          </p:cNvSpPr>
          <p:nvPr/>
        </p:nvSpPr>
        <p:spPr bwMode="auto">
          <a:xfrm>
            <a:off x="5334000" y="5278438"/>
            <a:ext cx="3725863" cy="1323439"/>
          </a:xfrm>
          <a:prstGeom prst="rect">
            <a:avLst/>
          </a:prstGeom>
          <a:noFill/>
          <a:ln w="9525">
            <a:noFill/>
            <a:miter lim="800000"/>
            <a:headEnd/>
            <a:tailEnd/>
          </a:ln>
        </p:spPr>
        <p:txBody>
          <a:bodyPr>
            <a:spAutoFit/>
          </a:bodyPr>
          <a:lstStyle/>
          <a:p>
            <a:pPr eaLnBrk="1" hangingPunct="1"/>
            <a:r>
              <a:rPr lang="en-US" sz="1600" b="1" dirty="0">
                <a:solidFill>
                  <a:schemeClr val="bg1"/>
                </a:solidFill>
                <a:latin typeface="Times New Roman" pitchFamily="18" charset="0"/>
                <a:cs typeface="Times New Roman" pitchFamily="18" charset="0"/>
              </a:rPr>
              <a:t>Presented by –</a:t>
            </a:r>
            <a:r>
              <a:rPr lang="en-US" sz="1600" dirty="0">
                <a:solidFill>
                  <a:schemeClr val="bg1"/>
                </a:solidFill>
                <a:latin typeface="Times New Roman" pitchFamily="18" charset="0"/>
                <a:cs typeface="Times New Roman" pitchFamily="18" charset="0"/>
              </a:rPr>
              <a:t>                                                        </a:t>
            </a:r>
          </a:p>
          <a:p>
            <a:pPr eaLnBrk="1" hangingPunct="1"/>
            <a:r>
              <a:rPr lang="en-US" sz="1600" dirty="0" err="1" smtClean="0">
                <a:solidFill>
                  <a:schemeClr val="bg1"/>
                </a:solidFill>
                <a:latin typeface="Times New Roman" pitchFamily="18" charset="0"/>
                <a:cs typeface="Times New Roman" pitchFamily="18" charset="0"/>
              </a:rPr>
              <a:t>D.Neha</a:t>
            </a:r>
            <a:r>
              <a:rPr lang="en-US" sz="1600" dirty="0" smtClean="0">
                <a:solidFill>
                  <a:schemeClr val="bg1"/>
                </a:solidFill>
                <a:latin typeface="Times New Roman" pitchFamily="18" charset="0"/>
                <a:cs typeface="Times New Roman" pitchFamily="18" charset="0"/>
              </a:rPr>
              <a:t>  - 21951A05B8</a:t>
            </a:r>
            <a:endParaRPr lang="en-US" sz="1600" dirty="0">
              <a:solidFill>
                <a:schemeClr val="bg1"/>
              </a:solidFill>
              <a:latin typeface="Times New Roman" pitchFamily="18" charset="0"/>
              <a:cs typeface="Times New Roman" pitchFamily="18" charset="0"/>
            </a:endParaRPr>
          </a:p>
          <a:p>
            <a:pPr eaLnBrk="1" hangingPunct="1"/>
            <a:r>
              <a:rPr lang="en-US" sz="1600" dirty="0" smtClean="0">
                <a:solidFill>
                  <a:schemeClr val="bg1"/>
                </a:solidFill>
                <a:latin typeface="Times New Roman" pitchFamily="18" charset="0"/>
                <a:cs typeface="Times New Roman" pitchFamily="18" charset="0"/>
              </a:rPr>
              <a:t>Mohammed </a:t>
            </a:r>
            <a:r>
              <a:rPr lang="en-US" sz="1600" dirty="0" err="1" smtClean="0">
                <a:solidFill>
                  <a:schemeClr val="bg1"/>
                </a:solidFill>
                <a:latin typeface="Times New Roman" pitchFamily="18" charset="0"/>
                <a:cs typeface="Times New Roman" pitchFamily="18" charset="0"/>
              </a:rPr>
              <a:t>Ameesha</a:t>
            </a:r>
            <a:r>
              <a:rPr lang="en-US" sz="1600" dirty="0" smtClean="0">
                <a:solidFill>
                  <a:schemeClr val="bg1"/>
                </a:solidFill>
                <a:latin typeface="Times New Roman" pitchFamily="18" charset="0"/>
                <a:cs typeface="Times New Roman" pitchFamily="18" charset="0"/>
              </a:rPr>
              <a:t>   - 21951A05A4                                                          </a:t>
            </a:r>
            <a:r>
              <a:rPr lang="en-US" sz="1600" dirty="0" err="1" smtClean="0">
                <a:solidFill>
                  <a:schemeClr val="bg1"/>
                </a:solidFill>
                <a:latin typeface="Times New Roman" pitchFamily="18" charset="0"/>
                <a:cs typeface="Times New Roman" pitchFamily="18" charset="0"/>
              </a:rPr>
              <a:t>M.Dheeraj</a:t>
            </a:r>
            <a:r>
              <a:rPr lang="en-US" sz="1600" dirty="0" smtClean="0">
                <a:solidFill>
                  <a:schemeClr val="bg1"/>
                </a:solidFill>
                <a:latin typeface="Times New Roman" pitchFamily="18" charset="0"/>
                <a:cs typeface="Times New Roman" pitchFamily="18" charset="0"/>
              </a:rPr>
              <a:t> – 21951A0538              </a:t>
            </a:r>
            <a:r>
              <a:rPr lang="en-IN" sz="1600" dirty="0">
                <a:solidFill>
                  <a:schemeClr val="bg1"/>
                </a:solidFill>
                <a:latin typeface="Times New Roman" pitchFamily="18" charset="0"/>
                <a:cs typeface="Times New Roman" pitchFamily="18" charset="0"/>
              </a:rPr>
              <a:t>	</a:t>
            </a:r>
          </a:p>
        </p:txBody>
      </p:sp>
      <p:sp>
        <p:nvSpPr>
          <p:cNvPr id="13318" name="TextBox 5"/>
          <p:cNvSpPr txBox="1">
            <a:spLocks noChangeArrowheads="1"/>
          </p:cNvSpPr>
          <p:nvPr/>
        </p:nvSpPr>
        <p:spPr bwMode="auto">
          <a:xfrm>
            <a:off x="0" y="1387475"/>
            <a:ext cx="9059863" cy="461963"/>
          </a:xfrm>
          <a:prstGeom prst="rect">
            <a:avLst/>
          </a:prstGeom>
          <a:noFill/>
          <a:ln w="9525">
            <a:noFill/>
            <a:miter lim="800000"/>
            <a:headEnd/>
            <a:tailEnd/>
          </a:ln>
        </p:spPr>
        <p:txBody>
          <a:bodyPr>
            <a:spAutoFit/>
          </a:bodyPr>
          <a:lstStyle/>
          <a:p>
            <a:pPr algn="ctr" eaLnBrk="1" hangingPunct="1"/>
            <a:r>
              <a:rPr lang="en-IN" sz="2400" b="1" dirty="0" smtClean="0">
                <a:solidFill>
                  <a:schemeClr val="bg1"/>
                </a:solidFill>
                <a:latin typeface="Times New Roman" pitchFamily="18" charset="0"/>
                <a:cs typeface="Times New Roman" pitchFamily="18" charset="0"/>
              </a:rPr>
              <a:t>REVIEW-3</a:t>
            </a:r>
            <a:endParaRPr lang="en-IN" sz="2400" b="1" dirty="0">
              <a:solidFill>
                <a:schemeClr val="bg1"/>
              </a:solidFill>
              <a:latin typeface="Times New Roman" pitchFamily="18" charset="0"/>
              <a:cs typeface="Times New Roman" pitchFamily="18" charset="0"/>
            </a:endParaRPr>
          </a:p>
        </p:txBody>
      </p:sp>
      <p:sp>
        <p:nvSpPr>
          <p:cNvPr id="13319" name="TextBox 6"/>
          <p:cNvSpPr txBox="1">
            <a:spLocks noChangeArrowheads="1"/>
          </p:cNvSpPr>
          <p:nvPr/>
        </p:nvSpPr>
        <p:spPr bwMode="auto">
          <a:xfrm>
            <a:off x="760414" y="2041525"/>
            <a:ext cx="7538856" cy="2031325"/>
          </a:xfrm>
          <a:prstGeom prst="rect">
            <a:avLst/>
          </a:prstGeom>
          <a:noFill/>
          <a:ln w="9525">
            <a:noFill/>
            <a:miter lim="800000"/>
            <a:headEnd/>
            <a:tailEnd/>
          </a:ln>
        </p:spPr>
        <p:txBody>
          <a:bodyPr wrap="square">
            <a:spAutoFit/>
          </a:bodyPr>
          <a:lstStyle/>
          <a:p>
            <a:pPr eaLnBrk="1" hangingPunct="1">
              <a:lnSpc>
                <a:spcPct val="150000"/>
              </a:lnSpc>
            </a:pPr>
            <a:r>
              <a:rPr lang="en-US" sz="24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Department</a:t>
            </a:r>
            <a:r>
              <a:rPr lang="en-IN" sz="2400" dirty="0">
                <a:solidFill>
                  <a:srgbClr val="C00000"/>
                </a:solidFill>
                <a:latin typeface="Times New Roman" pitchFamily="18" charset="0"/>
                <a:cs typeface="Times New Roman" pitchFamily="18" charset="0"/>
              </a:rPr>
              <a:t>:</a:t>
            </a:r>
            <a:r>
              <a:rPr lang="en-US" sz="2400" dirty="0">
                <a:solidFill>
                  <a:srgbClr val="C00000"/>
                </a:solidFill>
                <a:latin typeface="Times New Roman" pitchFamily="18" charset="0"/>
                <a:cs typeface="Times New Roman" pitchFamily="18" charset="0"/>
              </a:rPr>
              <a:t> </a:t>
            </a:r>
            <a:r>
              <a:rPr lang="en-US" sz="2400" dirty="0" smtClean="0">
                <a:solidFill>
                  <a:schemeClr val="bg1"/>
                </a:solidFill>
                <a:latin typeface="Times New Roman" pitchFamily="18" charset="0"/>
                <a:cs typeface="Times New Roman" pitchFamily="18" charset="0"/>
              </a:rPr>
              <a:t>Computer Science and Engineering  </a:t>
            </a:r>
            <a:endParaRPr lang="en-US" sz="2400" dirty="0">
              <a:solidFill>
                <a:schemeClr val="bg1"/>
              </a:solidFill>
              <a:latin typeface="Times New Roman" pitchFamily="18" charset="0"/>
              <a:cs typeface="Times New Roman" pitchFamily="18" charset="0"/>
            </a:endParaRPr>
          </a:p>
          <a:p>
            <a:pPr eaLnBrk="1" hangingPunct="1">
              <a:lnSpc>
                <a:spcPct val="150000"/>
              </a:lnSpc>
            </a:pPr>
            <a:r>
              <a:rPr lang="en-IN" sz="3000" b="1" dirty="0">
                <a:solidFill>
                  <a:schemeClr val="bg1"/>
                </a:solidFill>
                <a:latin typeface="Times New Roman" pitchFamily="18" charset="0"/>
                <a:cs typeface="Times New Roman" pitchFamily="18" charset="0"/>
              </a:rPr>
              <a:t> </a:t>
            </a:r>
            <a:r>
              <a:rPr lang="en-IN" sz="2400" b="1" dirty="0">
                <a:solidFill>
                  <a:srgbClr val="C00000"/>
                </a:solidFill>
                <a:latin typeface="Times New Roman" pitchFamily="18" charset="0"/>
                <a:cs typeface="Times New Roman" pitchFamily="18" charset="0"/>
              </a:rPr>
              <a:t>Project </a:t>
            </a:r>
            <a:r>
              <a:rPr lang="en-IN" sz="2400" b="1" dirty="0" smtClean="0">
                <a:solidFill>
                  <a:srgbClr val="C00000"/>
                </a:solidFill>
                <a:latin typeface="Times New Roman" pitchFamily="18" charset="0"/>
                <a:cs typeface="Times New Roman" pitchFamily="18" charset="0"/>
              </a:rPr>
              <a:t>title: </a:t>
            </a:r>
            <a:r>
              <a:rPr lang="en-IN" sz="2400" b="1" dirty="0" smtClean="0">
                <a:solidFill>
                  <a:schemeClr val="bg1"/>
                </a:solidFill>
                <a:latin typeface="Times New Roman" pitchFamily="18" charset="0"/>
                <a:cs typeface="Times New Roman" pitchFamily="18" charset="0"/>
              </a:rPr>
              <a:t>Optimizing Telecom Operations with Segmentation and Churn Prediction  </a:t>
            </a:r>
            <a:r>
              <a:rPr lang="en-IN" sz="2400" dirty="0" smtClean="0">
                <a:solidFill>
                  <a:schemeClr val="bg1"/>
                </a:solidFill>
                <a:latin typeface="Times New Roman" pitchFamily="18" charset="0"/>
                <a:cs typeface="Times New Roman" pitchFamily="18" charset="0"/>
              </a:rPr>
              <a:t>.    </a:t>
            </a:r>
            <a:r>
              <a:rPr lang="en-IN" sz="3000" dirty="0">
                <a:solidFill>
                  <a:schemeClr val="bg1"/>
                </a:solidFill>
                <a:latin typeface="Times New Roman" pitchFamily="18" charset="0"/>
                <a:cs typeface="Times New Roman" pitchFamily="18" charset="0"/>
              </a:rPr>
              <a:t>	</a:t>
            </a:r>
          </a:p>
        </p:txBody>
      </p:sp>
      <p:sp>
        <p:nvSpPr>
          <p:cNvPr id="13320" name="TextBox 7"/>
          <p:cNvSpPr txBox="1">
            <a:spLocks noChangeArrowheads="1"/>
          </p:cNvSpPr>
          <p:nvPr/>
        </p:nvSpPr>
        <p:spPr bwMode="auto">
          <a:xfrm>
            <a:off x="225425" y="3997234"/>
            <a:ext cx="8693150" cy="577081"/>
          </a:xfrm>
          <a:prstGeom prst="rect">
            <a:avLst/>
          </a:prstGeom>
          <a:noFill/>
          <a:ln w="9525">
            <a:noFill/>
            <a:miter lim="800000"/>
            <a:headEnd/>
            <a:tailEnd/>
          </a:ln>
        </p:spPr>
        <p:txBody>
          <a:bodyPr wrap="square">
            <a:spAutoFit/>
          </a:bodyPr>
          <a:lstStyle/>
          <a:p>
            <a:pPr algn="ctr" eaLnBrk="1" hangingPunct="1">
              <a:lnSpc>
                <a:spcPct val="150000"/>
              </a:lnSpc>
            </a:pPr>
            <a:r>
              <a:rPr lang="en-IN" b="1" dirty="0">
                <a:solidFill>
                  <a:srgbClr val="C00000"/>
                </a:solidFill>
                <a:latin typeface="Times New Roman" pitchFamily="18" charset="0"/>
                <a:cs typeface="Times New Roman" pitchFamily="18" charset="0"/>
              </a:rPr>
              <a:t>Mentor</a:t>
            </a:r>
            <a:r>
              <a:rPr lang="en-IN" dirty="0">
                <a:solidFill>
                  <a:srgbClr val="C00000"/>
                </a:solidFill>
                <a:latin typeface="Times New Roman" pitchFamily="18" charset="0"/>
                <a:cs typeface="Times New Roman" pitchFamily="18" charset="0"/>
              </a:rPr>
              <a:t>: </a:t>
            </a:r>
            <a:r>
              <a:rPr lang="en-IN" dirty="0">
                <a:solidFill>
                  <a:schemeClr val="bg1"/>
                </a:solidFill>
                <a:latin typeface="Times New Roman" pitchFamily="18" charset="0"/>
                <a:cs typeface="Times New Roman" pitchFamily="18" charset="0"/>
              </a:rPr>
              <a:t>Ms. </a:t>
            </a:r>
            <a:r>
              <a:rPr lang="en-IN" dirty="0" err="1" smtClean="0">
                <a:solidFill>
                  <a:schemeClr val="bg1"/>
                </a:solidFill>
                <a:latin typeface="Times New Roman" pitchFamily="18" charset="0"/>
                <a:cs typeface="Times New Roman" pitchFamily="18" charset="0"/>
              </a:rPr>
              <a:t>K.Sangeeta</a:t>
            </a:r>
            <a:r>
              <a:rPr lang="en-IN" dirty="0" smtClean="0">
                <a:solidFill>
                  <a:schemeClr val="bg1"/>
                </a:solidFill>
                <a:latin typeface="Times New Roman" pitchFamily="18" charset="0"/>
                <a:cs typeface="Times New Roman" pitchFamily="18" charset="0"/>
              </a:rPr>
              <a:t> , </a:t>
            </a:r>
            <a:r>
              <a:rPr lang="en-IN" dirty="0">
                <a:solidFill>
                  <a:schemeClr val="bg1"/>
                </a:solidFill>
                <a:latin typeface="Times New Roman" pitchFamily="18" charset="0"/>
                <a:cs typeface="Times New Roman" pitchFamily="18" charset="0"/>
              </a:rPr>
              <a:t>Assistant Professor, </a:t>
            </a:r>
            <a:r>
              <a:rPr lang="en-IN" dirty="0" smtClean="0">
                <a:solidFill>
                  <a:schemeClr val="bg1"/>
                </a:solidFill>
                <a:latin typeface="Times New Roman" pitchFamily="18" charset="0"/>
                <a:cs typeface="Times New Roman" pitchFamily="18" charset="0"/>
              </a:rPr>
              <a:t>CSE </a:t>
            </a:r>
            <a:r>
              <a:rPr lang="en-IN" dirty="0">
                <a:solidFill>
                  <a:schemeClr val="bg1"/>
                </a:solidFill>
                <a:latin typeface="Times New Roman" pitchFamily="18" charset="0"/>
                <a:cs typeface="Times New Roman" pitchFamily="18" charset="0"/>
              </a:rPr>
              <a:t>Departmen</a:t>
            </a:r>
            <a:r>
              <a:rPr lang="en-IN" sz="2100" dirty="0">
                <a:solidFill>
                  <a:schemeClr val="bg1"/>
                </a:solidFill>
                <a:latin typeface="Times New Roman" pitchFamily="18" charset="0"/>
                <a:cs typeface="Times New Roman" pitchFamily="18" charset="0"/>
              </a:rPr>
              <a:t>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ABSTRACT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marL="285750" indent="-285750" algn="just">
              <a:lnSpc>
                <a:spcPct val="150000"/>
              </a:lnSpc>
              <a:buFont typeface="Wingdings" panose="05000000000000000000" pitchFamily="2" charset="2"/>
              <a:buChar char="§"/>
              <a:defRPr/>
            </a:pPr>
            <a:r>
              <a:rPr lang="en-US" sz="2000" b="0" dirty="0">
                <a:solidFill>
                  <a:schemeClr val="bg1"/>
                </a:solidFill>
              </a:rPr>
              <a:t>Telecom companies operate in highly competitive environments where customer churn poses a significant challenge. To address this issue, this </a:t>
            </a:r>
            <a:r>
              <a:rPr lang="en-US" sz="2000" b="0" dirty="0" smtClean="0">
                <a:solidFill>
                  <a:schemeClr val="bg1"/>
                </a:solidFill>
              </a:rPr>
              <a:t>explores </a:t>
            </a:r>
            <a:r>
              <a:rPr lang="en-US" sz="2000" b="0" dirty="0">
                <a:solidFill>
                  <a:schemeClr val="bg1"/>
                </a:solidFill>
              </a:rPr>
              <a:t>the implementation of segmentation and churn prediction techniques to optimize telecom operations. By segmenting customers based on their behavior, preferences, and usage patterns, telecom companies can personalize their offerings and improve customer satisfaction. Additionally, employing churn prediction models enables proactive measures to retain at-risk customers, thereby reducing churn rates and enhancing revenue. </a:t>
            </a:r>
            <a:r>
              <a:rPr lang="en-US" sz="2000" b="0" dirty="0" smtClean="0">
                <a:solidFill>
                  <a:schemeClr val="bg1"/>
                </a:solidFill>
              </a:rPr>
              <a:t>This outlines </a:t>
            </a:r>
            <a:r>
              <a:rPr lang="en-US" sz="2000" b="0" dirty="0">
                <a:solidFill>
                  <a:schemeClr val="bg1"/>
                </a:solidFill>
              </a:rPr>
              <a:t>the objectives and approaches utilized in optimizing telecom operations through segmentation and churn prediction.</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2</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740625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4563" y="208320"/>
            <a:ext cx="7798837" cy="631436"/>
          </a:xfrm>
        </p:spPr>
        <p:txBody>
          <a:bodyPr/>
          <a:lstStyle/>
          <a:p>
            <a:r>
              <a:rPr lang="en-US" dirty="0" smtClean="0">
                <a:solidFill>
                  <a:schemeClr val="tx1"/>
                </a:solidFill>
              </a:rPr>
              <a:t>INTRODUCTION </a:t>
            </a:r>
            <a:endParaRPr lang="en-IN" dirty="0">
              <a:solidFill>
                <a:schemeClr val="tx1"/>
              </a:solidFill>
            </a:endParaRPr>
          </a:p>
        </p:txBody>
      </p:sp>
      <p:sp>
        <p:nvSpPr>
          <p:cNvPr id="3" name="Subtitle 2"/>
          <p:cNvSpPr>
            <a:spLocks noGrp="1"/>
          </p:cNvSpPr>
          <p:nvPr>
            <p:ph type="subTitle" idx="1"/>
          </p:nvPr>
        </p:nvSpPr>
        <p:spPr>
          <a:xfrm>
            <a:off x="205273" y="1156997"/>
            <a:ext cx="8938727" cy="4481804"/>
          </a:xfrm>
        </p:spPr>
        <p:txBody>
          <a:bodyPr/>
          <a:lstStyle/>
          <a:p>
            <a:pPr algn="l" latinLnBrk="1"/>
            <a:r>
              <a:rPr lang="en-US" sz="2000" b="0" dirty="0">
                <a:solidFill>
                  <a:schemeClr val="bg1"/>
                </a:solidFill>
              </a:rPr>
              <a:t>The telecommunications sector has displayed one of the central </a:t>
            </a:r>
            <a:r>
              <a:rPr lang="en-US" sz="2000" b="0" dirty="0" smtClean="0">
                <a:solidFill>
                  <a:schemeClr val="bg1"/>
                </a:solidFill>
              </a:rPr>
              <a:t>industries in</a:t>
            </a:r>
          </a:p>
          <a:p>
            <a:pPr algn="l" latinLnBrk="1"/>
            <a:r>
              <a:rPr lang="en-US" sz="2000" b="0" dirty="0" smtClean="0">
                <a:solidFill>
                  <a:schemeClr val="bg1"/>
                </a:solidFill>
              </a:rPr>
              <a:t>developed </a:t>
            </a:r>
            <a:r>
              <a:rPr lang="en-US" sz="2000" b="0" dirty="0">
                <a:solidFill>
                  <a:schemeClr val="bg1"/>
                </a:solidFill>
              </a:rPr>
              <a:t>countries. Service companies like these suffer, particularly </a:t>
            </a:r>
            <a:r>
              <a:rPr lang="en-US" sz="2000" b="0" dirty="0" smtClean="0">
                <a:solidFill>
                  <a:schemeClr val="bg1"/>
                </a:solidFill>
              </a:rPr>
              <a:t>from </a:t>
            </a:r>
          </a:p>
          <a:p>
            <a:pPr algn="l" latinLnBrk="1"/>
            <a:r>
              <a:rPr lang="en-US" sz="2000" b="0" dirty="0" smtClean="0">
                <a:solidFill>
                  <a:schemeClr val="bg1"/>
                </a:solidFill>
              </a:rPr>
              <a:t>the </a:t>
            </a:r>
            <a:r>
              <a:rPr lang="en-US" sz="2000" b="0" dirty="0">
                <a:solidFill>
                  <a:schemeClr val="bg1"/>
                </a:solidFill>
              </a:rPr>
              <a:t>loss of valuable customers due to competitors known as </a:t>
            </a:r>
            <a:r>
              <a:rPr lang="en-US" sz="2000" b="0" dirty="0" smtClean="0">
                <a:solidFill>
                  <a:schemeClr val="bg1"/>
                </a:solidFill>
              </a:rPr>
              <a:t>customer </a:t>
            </a:r>
            <a:r>
              <a:rPr lang="en-US" sz="2000" b="0" dirty="0">
                <a:solidFill>
                  <a:schemeClr val="bg1"/>
                </a:solidFill>
              </a:rPr>
              <a:t>churn. The scientific progress and the growing number of </a:t>
            </a:r>
            <a:r>
              <a:rPr lang="en-US" sz="2000" b="0" dirty="0" smtClean="0">
                <a:solidFill>
                  <a:schemeClr val="bg1"/>
                </a:solidFill>
              </a:rPr>
              <a:t>operators </a:t>
            </a:r>
            <a:r>
              <a:rPr lang="en-US" sz="2000" b="0" dirty="0">
                <a:solidFill>
                  <a:schemeClr val="bg1"/>
                </a:solidFill>
              </a:rPr>
              <a:t>increased the </a:t>
            </a:r>
            <a:endParaRPr lang="en-US" sz="2000" b="0" dirty="0" smtClean="0">
              <a:solidFill>
                <a:schemeClr val="bg1"/>
              </a:solidFill>
            </a:endParaRPr>
          </a:p>
          <a:p>
            <a:pPr algn="l" latinLnBrk="1"/>
            <a:r>
              <a:rPr lang="en-US" sz="2000" b="0" dirty="0" smtClean="0">
                <a:solidFill>
                  <a:schemeClr val="bg1"/>
                </a:solidFill>
              </a:rPr>
              <a:t>level </a:t>
            </a:r>
            <a:r>
              <a:rPr lang="en-US" sz="2000" b="0" dirty="0">
                <a:solidFill>
                  <a:schemeClr val="bg1"/>
                </a:solidFill>
              </a:rPr>
              <a:t>of opposition. Companies are pulling hard to survive in this aggressive </a:t>
            </a:r>
            <a:endParaRPr lang="en-US" sz="2000" b="0" dirty="0" smtClean="0">
              <a:solidFill>
                <a:schemeClr val="bg1"/>
              </a:solidFill>
            </a:endParaRPr>
          </a:p>
          <a:p>
            <a:pPr algn="l" latinLnBrk="1"/>
            <a:r>
              <a:rPr lang="en-US" sz="2000" b="0" dirty="0" smtClean="0">
                <a:solidFill>
                  <a:schemeClr val="bg1"/>
                </a:solidFill>
              </a:rPr>
              <a:t>market</a:t>
            </a:r>
            <a:r>
              <a:rPr lang="en-US" sz="2000" b="0" dirty="0">
                <a:solidFill>
                  <a:schemeClr val="bg1"/>
                </a:solidFill>
              </a:rPr>
              <a:t>, </a:t>
            </a:r>
            <a:r>
              <a:rPr lang="en-US" sz="2000" b="0" dirty="0" smtClean="0">
                <a:solidFill>
                  <a:schemeClr val="bg1"/>
                </a:solidFill>
              </a:rPr>
              <a:t>depending </a:t>
            </a:r>
            <a:r>
              <a:rPr lang="en-US" sz="2000" b="0" dirty="0">
                <a:solidFill>
                  <a:schemeClr val="bg1"/>
                </a:solidFill>
              </a:rPr>
              <a:t>on complicated strategies. </a:t>
            </a:r>
            <a:endParaRPr lang="en-US" sz="2000" b="0" dirty="0" smtClean="0">
              <a:solidFill>
                <a:schemeClr val="bg1"/>
              </a:solidFill>
            </a:endParaRPr>
          </a:p>
          <a:p>
            <a:pPr algn="l" latinLnBrk="1"/>
            <a:r>
              <a:rPr lang="en-US" sz="2000" b="0" dirty="0" smtClean="0">
                <a:solidFill>
                  <a:schemeClr val="bg1"/>
                </a:solidFill>
              </a:rPr>
              <a:t>The </a:t>
            </a:r>
            <a:r>
              <a:rPr lang="en-US" sz="2000" b="0" dirty="0">
                <a:solidFill>
                  <a:schemeClr val="bg1"/>
                </a:solidFill>
              </a:rPr>
              <a:t>customer churn causes a considerable loss of telecom services and </a:t>
            </a:r>
            <a:endParaRPr lang="en-US" sz="2000" b="0" dirty="0" smtClean="0">
              <a:solidFill>
                <a:schemeClr val="bg1"/>
              </a:solidFill>
            </a:endParaRPr>
          </a:p>
          <a:p>
            <a:pPr algn="l" latinLnBrk="1"/>
            <a:r>
              <a:rPr lang="en-US" sz="2000" b="0" dirty="0" smtClean="0">
                <a:solidFill>
                  <a:schemeClr val="bg1"/>
                </a:solidFill>
              </a:rPr>
              <a:t>becomes </a:t>
            </a:r>
            <a:r>
              <a:rPr lang="en-US" sz="2000" b="0" dirty="0">
                <a:solidFill>
                  <a:schemeClr val="bg1"/>
                </a:solidFill>
              </a:rPr>
              <a:t>a severe problem. we aim to personalize customer experiences, </a:t>
            </a:r>
            <a:endParaRPr lang="en-US" sz="2000" b="0" dirty="0" smtClean="0">
              <a:solidFill>
                <a:schemeClr val="bg1"/>
              </a:solidFill>
            </a:endParaRPr>
          </a:p>
          <a:p>
            <a:pPr algn="l" latinLnBrk="1"/>
            <a:r>
              <a:rPr lang="en-US" sz="2000" b="0" dirty="0" smtClean="0">
                <a:solidFill>
                  <a:schemeClr val="bg1"/>
                </a:solidFill>
              </a:rPr>
              <a:t>reduce </a:t>
            </a:r>
            <a:r>
              <a:rPr lang="en-US" sz="2000" b="0" dirty="0">
                <a:solidFill>
                  <a:schemeClr val="bg1"/>
                </a:solidFill>
              </a:rPr>
              <a:t>churn rates, and allocate resources more effectively. The objective is </a:t>
            </a:r>
            <a:endParaRPr lang="en-US" sz="2000" b="0" dirty="0" smtClean="0">
              <a:solidFill>
                <a:schemeClr val="bg1"/>
              </a:solidFill>
            </a:endParaRPr>
          </a:p>
          <a:p>
            <a:pPr algn="l" latinLnBrk="1"/>
            <a:r>
              <a:rPr lang="en-US" sz="2000" b="0" dirty="0" smtClean="0">
                <a:solidFill>
                  <a:schemeClr val="bg1"/>
                </a:solidFill>
              </a:rPr>
              <a:t>to </a:t>
            </a:r>
            <a:r>
              <a:rPr lang="en-US" sz="2000" b="0" dirty="0">
                <a:solidFill>
                  <a:schemeClr val="bg1"/>
                </a:solidFill>
              </a:rPr>
              <a:t>maximize revenue growth by retaining high-value customers and </a:t>
            </a:r>
            <a:r>
              <a:rPr lang="en-US" sz="2000" b="0" dirty="0" smtClean="0">
                <a:solidFill>
                  <a:schemeClr val="bg1"/>
                </a:solidFill>
              </a:rPr>
              <a:t>improving</a:t>
            </a:r>
          </a:p>
          <a:p>
            <a:pPr algn="l" latinLnBrk="1"/>
            <a:r>
              <a:rPr lang="en-US" sz="2000" b="0" dirty="0" smtClean="0">
                <a:solidFill>
                  <a:schemeClr val="bg1"/>
                </a:solidFill>
              </a:rPr>
              <a:t>overall </a:t>
            </a:r>
            <a:r>
              <a:rPr lang="en-US" sz="2000" b="0" dirty="0">
                <a:solidFill>
                  <a:schemeClr val="bg1"/>
                </a:solidFill>
              </a:rPr>
              <a:t>operational efficiency. Through data-driven insights and targeted </a:t>
            </a:r>
            <a:endParaRPr lang="en-US" sz="2000" b="0" dirty="0" smtClean="0">
              <a:solidFill>
                <a:schemeClr val="bg1"/>
              </a:solidFill>
            </a:endParaRPr>
          </a:p>
          <a:p>
            <a:pPr algn="l" latinLnBrk="1"/>
            <a:r>
              <a:rPr lang="en-US" sz="2000" b="0" dirty="0" smtClean="0">
                <a:solidFill>
                  <a:schemeClr val="bg1"/>
                </a:solidFill>
              </a:rPr>
              <a:t>interventions</a:t>
            </a:r>
            <a:r>
              <a:rPr lang="en-US" sz="2000" b="0" dirty="0">
                <a:solidFill>
                  <a:schemeClr val="bg1"/>
                </a:solidFill>
              </a:rPr>
              <a:t>, this project seeks to position our telecom company for success </a:t>
            </a:r>
            <a:endParaRPr lang="en-US" sz="2000" b="0" dirty="0" smtClean="0">
              <a:solidFill>
                <a:schemeClr val="bg1"/>
              </a:solidFill>
            </a:endParaRPr>
          </a:p>
          <a:p>
            <a:pPr algn="l" latinLnBrk="1"/>
            <a:r>
              <a:rPr lang="en-US" sz="2000" b="0" dirty="0" smtClean="0">
                <a:solidFill>
                  <a:schemeClr val="bg1"/>
                </a:solidFill>
              </a:rPr>
              <a:t>in </a:t>
            </a:r>
            <a:r>
              <a:rPr lang="en-US" sz="2000" b="0" dirty="0">
                <a:solidFill>
                  <a:schemeClr val="bg1"/>
                </a:solidFill>
              </a:rPr>
              <a:t>a dynamic and evolving marketplace.</a:t>
            </a:r>
            <a:endParaRPr lang="en-IN" sz="20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3</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6495547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152400" y="152400"/>
            <a:ext cx="7696200" cy="609600"/>
          </a:xfrm>
        </p:spPr>
        <p:txBody>
          <a:bodyPr/>
          <a:lstStyle/>
          <a:p>
            <a:r>
              <a:rPr lang="en-US" dirty="0">
                <a:solidFill>
                  <a:schemeClr val="tx1"/>
                </a:solidFill>
              </a:rPr>
              <a:t>OBJECTIVES </a:t>
            </a:r>
            <a:endParaRPr lang="en-IN" dirty="0" smtClean="0">
              <a:solidFill>
                <a:schemeClr val="tx1"/>
              </a:solidFill>
            </a:endParaRPr>
          </a:p>
        </p:txBody>
      </p:sp>
      <p:sp>
        <p:nvSpPr>
          <p:cNvPr id="3" name="Subtitle 2">
            <a:extLst>
              <a:ext uri="{FF2B5EF4-FFF2-40B4-BE49-F238E27FC236}">
                <a16:creationId xmlns:a16="http://schemas.microsoft.com/office/drawing/2014/main" id="{38F83DA7-CCC7-79F9-685B-9B211F9ED03C}"/>
              </a:ext>
            </a:extLst>
          </p:cNvPr>
          <p:cNvSpPr>
            <a:spLocks noGrp="1"/>
          </p:cNvSpPr>
          <p:nvPr>
            <p:ph type="subTitle" idx="1"/>
          </p:nvPr>
        </p:nvSpPr>
        <p:spPr>
          <a:xfrm>
            <a:off x="152400" y="1066800"/>
            <a:ext cx="8763000" cy="5410200"/>
          </a:xfrm>
        </p:spPr>
        <p:txBody>
          <a:bodyPr/>
          <a:lstStyle/>
          <a:p>
            <a:pPr marL="285750" indent="-285750" algn="l">
              <a:buFont typeface="Wingdings" panose="05000000000000000000" pitchFamily="2" charset="2"/>
              <a:buChar char="§"/>
            </a:pPr>
            <a:r>
              <a:rPr lang="en-US" sz="2000" dirty="0">
                <a:solidFill>
                  <a:schemeClr val="bg1"/>
                </a:solidFill>
              </a:rPr>
              <a:t>1</a:t>
            </a:r>
            <a:r>
              <a:rPr lang="en-US" sz="2000" dirty="0" smtClean="0">
                <a:solidFill>
                  <a:schemeClr val="bg1"/>
                </a:solidFill>
              </a:rPr>
              <a:t>. Enhance </a:t>
            </a:r>
            <a:r>
              <a:rPr lang="en-US" sz="2000" dirty="0">
                <a:solidFill>
                  <a:schemeClr val="bg1"/>
                </a:solidFill>
              </a:rPr>
              <a:t>Customer Segmentation </a:t>
            </a:r>
            <a:r>
              <a:rPr lang="en-US" sz="2000" dirty="0" smtClean="0">
                <a:solidFill>
                  <a:schemeClr val="bg1"/>
                </a:solidFill>
              </a:rPr>
              <a:t>Accuracy:</a:t>
            </a:r>
            <a:r>
              <a:rPr lang="en-US" sz="2000" dirty="0">
                <a:solidFill>
                  <a:schemeClr val="bg1"/>
                </a:solidFill>
              </a:rPr>
              <a:t/>
            </a:r>
            <a:br>
              <a:rPr lang="en-US" sz="2000" dirty="0">
                <a:solidFill>
                  <a:schemeClr val="bg1"/>
                </a:solidFill>
              </a:rPr>
            </a:br>
            <a:r>
              <a:rPr lang="en-US" sz="2000" b="0" dirty="0" smtClean="0">
                <a:solidFill>
                  <a:schemeClr val="bg1"/>
                </a:solidFill>
              </a:rPr>
              <a:t>Improve </a:t>
            </a:r>
            <a:r>
              <a:rPr lang="en-US" sz="2000" b="0" dirty="0">
                <a:solidFill>
                  <a:schemeClr val="bg1"/>
                </a:solidFill>
              </a:rPr>
              <a:t>the precision and granularity of customer segmentation to better understand customer behavior and preferences.</a:t>
            </a:r>
            <a:br>
              <a:rPr lang="en-US" sz="2000" b="0" dirty="0">
                <a:solidFill>
                  <a:schemeClr val="bg1"/>
                </a:solidFill>
              </a:rPr>
            </a:br>
            <a:r>
              <a:rPr lang="en-US" sz="2000" b="0" dirty="0">
                <a:solidFill>
                  <a:schemeClr val="bg1"/>
                </a:solidFill>
              </a:rPr>
              <a:t/>
            </a:r>
            <a:br>
              <a:rPr lang="en-US" sz="2000" b="0" dirty="0">
                <a:solidFill>
                  <a:schemeClr val="bg1"/>
                </a:solidFill>
              </a:rPr>
            </a:br>
            <a:r>
              <a:rPr lang="en-US" sz="2000" dirty="0">
                <a:solidFill>
                  <a:schemeClr val="bg1"/>
                </a:solidFill>
              </a:rPr>
              <a:t>2. </a:t>
            </a:r>
            <a:r>
              <a:rPr lang="en-US" sz="2000" dirty="0" smtClean="0">
                <a:solidFill>
                  <a:schemeClr val="bg1"/>
                </a:solidFill>
              </a:rPr>
              <a:t>Predict </a:t>
            </a:r>
            <a:r>
              <a:rPr lang="en-US" sz="2000" dirty="0">
                <a:solidFill>
                  <a:schemeClr val="bg1"/>
                </a:solidFill>
              </a:rPr>
              <a:t>Customer Churn </a:t>
            </a:r>
            <a:r>
              <a:rPr lang="en-US" sz="2000" dirty="0" smtClean="0">
                <a:solidFill>
                  <a:schemeClr val="bg1"/>
                </a:solidFill>
              </a:rPr>
              <a:t>Proactively:</a:t>
            </a:r>
            <a:r>
              <a:rPr lang="en-US" sz="2000" dirty="0">
                <a:solidFill>
                  <a:schemeClr val="bg1"/>
                </a:solidFill>
              </a:rPr>
              <a:t/>
            </a:r>
            <a:br>
              <a:rPr lang="en-US" sz="2000" dirty="0">
                <a:solidFill>
                  <a:schemeClr val="bg1"/>
                </a:solidFill>
              </a:rPr>
            </a:br>
            <a:r>
              <a:rPr lang="en-US" sz="2000" b="0" dirty="0" smtClean="0">
                <a:solidFill>
                  <a:schemeClr val="bg1"/>
                </a:solidFill>
              </a:rPr>
              <a:t>Anticipate </a:t>
            </a:r>
            <a:r>
              <a:rPr lang="en-US" sz="2000" b="0" dirty="0">
                <a:solidFill>
                  <a:schemeClr val="bg1"/>
                </a:solidFill>
              </a:rPr>
              <a:t>and prevent customer churn by identifying at-risk customers and implementing proactive retention strategies.</a:t>
            </a:r>
            <a:br>
              <a:rPr lang="en-US" sz="2000" b="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3. </a:t>
            </a:r>
            <a:r>
              <a:rPr lang="en-US" sz="2000" dirty="0" smtClean="0">
                <a:solidFill>
                  <a:schemeClr val="bg1"/>
                </a:solidFill>
              </a:rPr>
              <a:t>Optimize </a:t>
            </a:r>
            <a:r>
              <a:rPr lang="en-US" sz="2000" dirty="0">
                <a:solidFill>
                  <a:schemeClr val="bg1"/>
                </a:solidFill>
              </a:rPr>
              <a:t>Resource Allocation and Network </a:t>
            </a:r>
            <a:r>
              <a:rPr lang="en-US" sz="2000" dirty="0" smtClean="0">
                <a:solidFill>
                  <a:schemeClr val="bg1"/>
                </a:solidFill>
              </a:rPr>
              <a:t>Management:</a:t>
            </a:r>
            <a:r>
              <a:rPr lang="en-US" sz="2000" dirty="0">
                <a:solidFill>
                  <a:schemeClr val="bg1"/>
                </a:solidFill>
              </a:rPr>
              <a:t/>
            </a:r>
            <a:br>
              <a:rPr lang="en-US" sz="2000" dirty="0">
                <a:solidFill>
                  <a:schemeClr val="bg1"/>
                </a:solidFill>
              </a:rPr>
            </a:br>
            <a:r>
              <a:rPr lang="en-US" sz="2000" b="0" dirty="0" smtClean="0">
                <a:solidFill>
                  <a:schemeClr val="bg1"/>
                </a:solidFill>
              </a:rPr>
              <a:t>Enhance </a:t>
            </a:r>
            <a:r>
              <a:rPr lang="en-US" sz="2000" b="0" dirty="0">
                <a:solidFill>
                  <a:schemeClr val="bg1"/>
                </a:solidFill>
              </a:rPr>
              <a:t>network efficiency, capacity planning, and resource allocation to improve service quality and minimize operational costs.</a:t>
            </a:r>
            <a:br>
              <a:rPr lang="en-US" sz="2000" b="0" dirty="0">
                <a:solidFill>
                  <a:schemeClr val="bg1"/>
                </a:solidFill>
              </a:rPr>
            </a:br>
            <a:r>
              <a:rPr lang="en-US" sz="2000" dirty="0">
                <a:solidFill>
                  <a:schemeClr val="bg1"/>
                </a:solidFill>
              </a:rPr>
              <a:t/>
            </a:r>
            <a:br>
              <a:rPr lang="en-US" sz="2000" dirty="0">
                <a:solidFill>
                  <a:schemeClr val="bg1"/>
                </a:solidFill>
              </a:rPr>
            </a:br>
            <a:r>
              <a:rPr lang="en-US" sz="2000" dirty="0">
                <a:solidFill>
                  <a:schemeClr val="bg1"/>
                </a:solidFill>
              </a:rPr>
              <a:t>4. </a:t>
            </a:r>
            <a:r>
              <a:rPr lang="en-US" sz="2000" dirty="0" smtClean="0">
                <a:solidFill>
                  <a:schemeClr val="bg1"/>
                </a:solidFill>
              </a:rPr>
              <a:t>Enhance </a:t>
            </a:r>
            <a:r>
              <a:rPr lang="en-US" sz="2000" dirty="0">
                <a:solidFill>
                  <a:schemeClr val="bg1"/>
                </a:solidFill>
              </a:rPr>
              <a:t>Customer Experience and Service </a:t>
            </a:r>
            <a:r>
              <a:rPr lang="en-US" sz="2000" dirty="0" smtClean="0">
                <a:solidFill>
                  <a:schemeClr val="bg1"/>
                </a:solidFill>
              </a:rPr>
              <a:t>Quality:</a:t>
            </a:r>
            <a:r>
              <a:rPr lang="en-US" sz="2000" dirty="0">
                <a:solidFill>
                  <a:schemeClr val="bg1"/>
                </a:solidFill>
              </a:rPr>
              <a:t/>
            </a:r>
            <a:br>
              <a:rPr lang="en-US" sz="2000" dirty="0">
                <a:solidFill>
                  <a:schemeClr val="bg1"/>
                </a:solidFill>
              </a:rPr>
            </a:br>
            <a:r>
              <a:rPr lang="en-US" sz="2000" b="0" dirty="0" smtClean="0">
                <a:solidFill>
                  <a:schemeClr val="bg1"/>
                </a:solidFill>
              </a:rPr>
              <a:t>Deliver </a:t>
            </a:r>
            <a:r>
              <a:rPr lang="en-US" sz="2000" b="0" dirty="0">
                <a:solidFill>
                  <a:schemeClr val="bg1"/>
                </a:solidFill>
              </a:rPr>
              <a:t>personalized services, resolve issues promptly, and enhance overall customer experience to increase satisfaction and loyalty</a:t>
            </a:r>
            <a:r>
              <a:rPr lang="en-US" sz="2000" b="0" dirty="0" smtClean="0">
                <a:solidFill>
                  <a:schemeClr val="bg1"/>
                </a:solidFill>
              </a:rPr>
              <a:t>.</a:t>
            </a:r>
            <a:endParaRPr lang="en-US" sz="2000" b="0" dirty="0">
              <a:solidFill>
                <a:schemeClr val="bg1"/>
              </a:solidFill>
            </a:endParaRPr>
          </a:p>
        </p:txBody>
      </p:sp>
      <p:sp>
        <p:nvSpPr>
          <p:cNvPr id="4" name="Slide Number Placeholder 3">
            <a:extLst>
              <a:ext uri="{FF2B5EF4-FFF2-40B4-BE49-F238E27FC236}">
                <a16:creationId xmlns:a16="http://schemas.microsoft.com/office/drawing/2014/main" id="{57106545-6296-0EE6-D2B2-7B2F8B33E369}"/>
              </a:ext>
            </a:extLst>
          </p:cNvPr>
          <p:cNvSpPr>
            <a:spLocks noGrp="1"/>
          </p:cNvSpPr>
          <p:nvPr>
            <p:ph type="sldNum" sz="quarter" idx="12"/>
          </p:nvPr>
        </p:nvSpPr>
        <p:spPr/>
        <p:txBody>
          <a:bodyPr/>
          <a:lstStyle/>
          <a:p>
            <a:fld id="{F3222F5A-0AC2-4789-9ACB-D0C8EB02FB50}" type="slidenum">
              <a:rPr lang="en-US"/>
              <a:pPr/>
              <a:t>4</a:t>
            </a:fld>
            <a:endParaRPr lang="en-US"/>
          </a:p>
        </p:txBody>
      </p:sp>
      <p:pic>
        <p:nvPicPr>
          <p:cNvPr id="14341" name="Picture 4"/>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PROPOSED APPROACH </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93306" y="961053"/>
            <a:ext cx="8669694" cy="5592147"/>
          </a:xfrm>
        </p:spPr>
        <p:txBody>
          <a:bodyPr/>
          <a:lstStyle/>
          <a:p>
            <a:pPr marL="457200" indent="-457200" algn="just">
              <a:lnSpc>
                <a:spcPct val="150000"/>
              </a:lnSpc>
              <a:buFont typeface="Arial" panose="020B0604020202020204" pitchFamily="34" charset="0"/>
              <a:buChar char="•"/>
              <a:defRPr/>
            </a:pPr>
            <a:r>
              <a:rPr lang="en-US" sz="2000" b="0" dirty="0">
                <a:solidFill>
                  <a:schemeClr val="bg1"/>
                </a:solidFill>
                <a:latin typeface="Times New Roman" panose="02020603050405020304" pitchFamily="18" charset="0"/>
                <a:cs typeface="Times New Roman" panose="02020603050405020304" pitchFamily="18" charset="0"/>
              </a:rPr>
              <a:t>In this system, we use various algorithms </a:t>
            </a:r>
            <a:r>
              <a:rPr lang="en-US" sz="2000" b="0" dirty="0" smtClean="0">
                <a:solidFill>
                  <a:schemeClr val="bg1"/>
                </a:solidFill>
                <a:latin typeface="Times New Roman" panose="02020603050405020304" pitchFamily="18" charset="0"/>
                <a:cs typeface="Times New Roman" panose="02020603050405020304" pitchFamily="18" charset="0"/>
              </a:rPr>
              <a:t>like K-Nearest </a:t>
            </a:r>
            <a:r>
              <a:rPr lang="en-US" sz="2000" b="0" dirty="0">
                <a:solidFill>
                  <a:schemeClr val="bg1"/>
                </a:solidFill>
                <a:latin typeface="Times New Roman" panose="02020603050405020304" pitchFamily="18" charset="0"/>
                <a:cs typeface="Times New Roman" panose="02020603050405020304" pitchFamily="18" charset="0"/>
              </a:rPr>
              <a:t>Neighbors (KNN), Decision Tree, and Support Vector Machine (SVM) </a:t>
            </a:r>
            <a:r>
              <a:rPr lang="en-US" sz="2000" b="0" dirty="0" smtClean="0">
                <a:solidFill>
                  <a:schemeClr val="bg1"/>
                </a:solidFill>
                <a:latin typeface="Times New Roman" panose="02020603050405020304" pitchFamily="18" charset="0"/>
                <a:cs typeface="Times New Roman" panose="02020603050405020304" pitchFamily="18" charset="0"/>
              </a:rPr>
              <a:t>classifiers. </a:t>
            </a:r>
            <a:r>
              <a:rPr lang="en-US" sz="2000" b="0" dirty="0">
                <a:solidFill>
                  <a:schemeClr val="bg1"/>
                </a:solidFill>
                <a:latin typeface="Times New Roman" panose="02020603050405020304" pitchFamily="18" charset="0"/>
                <a:cs typeface="Times New Roman" panose="02020603050405020304" pitchFamily="18" charset="0"/>
              </a:rPr>
              <a:t>This example assumes you have a dataset with features and a target variable indicating whether a customer has churned or </a:t>
            </a:r>
            <a:r>
              <a:rPr lang="en-US" sz="2000" b="0" dirty="0" err="1" smtClean="0">
                <a:solidFill>
                  <a:schemeClr val="bg1"/>
                </a:solidFill>
                <a:latin typeface="Times New Roman" panose="02020603050405020304" pitchFamily="18" charset="0"/>
                <a:cs typeface="Times New Roman" panose="02020603050405020304" pitchFamily="18" charset="0"/>
              </a:rPr>
              <a:t>not.</a:t>
            </a:r>
            <a:r>
              <a:rPr lang="en-US" sz="2000" b="0" dirty="0" err="1">
                <a:solidFill>
                  <a:schemeClr val="bg1"/>
                </a:solidFill>
                <a:latin typeface="Times New Roman" panose="02020603050405020304" pitchFamily="18" charset="0"/>
                <a:cs typeface="Times New Roman" panose="02020603050405020304" pitchFamily="18" charset="0"/>
              </a:rPr>
              <a:t>T</a:t>
            </a:r>
            <a:r>
              <a:rPr lang="en-US" sz="2000" b="0" dirty="0" err="1" smtClean="0">
                <a:solidFill>
                  <a:schemeClr val="bg1"/>
                </a:solidFill>
                <a:latin typeface="Times New Roman" panose="02020603050405020304" pitchFamily="18" charset="0"/>
                <a:cs typeface="Times New Roman" panose="02020603050405020304" pitchFamily="18" charset="0"/>
              </a:rPr>
              <a:t>o</a:t>
            </a:r>
            <a:r>
              <a:rPr lang="en-US" sz="2000" b="0" dirty="0" smtClean="0">
                <a:solidFill>
                  <a:schemeClr val="bg1"/>
                </a:solidFill>
                <a:latin typeface="Times New Roman" panose="02020603050405020304" pitchFamily="18" charset="0"/>
                <a:cs typeface="Times New Roman" panose="02020603050405020304" pitchFamily="18" charset="0"/>
              </a:rPr>
              <a:t> </a:t>
            </a:r>
            <a:r>
              <a:rPr lang="en-US" sz="2000" b="0" dirty="0">
                <a:solidFill>
                  <a:schemeClr val="bg1"/>
                </a:solidFill>
                <a:latin typeface="Times New Roman" panose="02020603050405020304" pitchFamily="18" charset="0"/>
                <a:cs typeface="Times New Roman" panose="02020603050405020304" pitchFamily="18" charset="0"/>
              </a:rPr>
              <a:t>find accurate values and which helps us to predict the churn of the customer. Here we implement the model by having a dataset that is trained and tested, which makes us have maximum correct </a:t>
            </a:r>
            <a:r>
              <a:rPr lang="en-US" sz="2000" b="0" dirty="0" err="1" smtClean="0">
                <a:solidFill>
                  <a:schemeClr val="bg1"/>
                </a:solidFill>
                <a:latin typeface="Times New Roman" panose="02020603050405020304" pitchFamily="18" charset="0"/>
                <a:cs typeface="Times New Roman" panose="02020603050405020304" pitchFamily="18" charset="0"/>
              </a:rPr>
              <a:t>values.In</a:t>
            </a:r>
            <a:r>
              <a:rPr lang="en-US" sz="2000" b="0" dirty="0" smtClean="0">
                <a:solidFill>
                  <a:schemeClr val="bg1"/>
                </a:solidFill>
                <a:latin typeface="Times New Roman" panose="02020603050405020304" pitchFamily="18" charset="0"/>
                <a:cs typeface="Times New Roman" panose="02020603050405020304" pitchFamily="18" charset="0"/>
              </a:rPr>
              <a:t> </a:t>
            </a:r>
            <a:r>
              <a:rPr lang="en-US" sz="2000" b="0" dirty="0">
                <a:solidFill>
                  <a:schemeClr val="bg1"/>
                </a:solidFill>
                <a:latin typeface="Times New Roman" panose="02020603050405020304" pitchFamily="18" charset="0"/>
                <a:cs typeface="Times New Roman" panose="02020603050405020304" pitchFamily="18" charset="0"/>
              </a:rPr>
              <a:t>the Initial step, data preprocessing is performed in which we do filtering data and convert data into a similar form, and then we make feature selection. </a:t>
            </a:r>
            <a:r>
              <a:rPr lang="en-US" sz="2000" b="0" dirty="0" smtClean="0">
                <a:solidFill>
                  <a:schemeClr val="bg1"/>
                </a:solidFill>
                <a:latin typeface="Times New Roman" panose="02020603050405020304" pitchFamily="18" charset="0"/>
                <a:cs typeface="Times New Roman" panose="02020603050405020304" pitchFamily="18" charset="0"/>
              </a:rPr>
              <a:t>we </a:t>
            </a:r>
            <a:r>
              <a:rPr lang="en-US" sz="2000" b="0" dirty="0">
                <a:solidFill>
                  <a:schemeClr val="bg1"/>
                </a:solidFill>
                <a:latin typeface="Times New Roman" panose="02020603050405020304" pitchFamily="18" charset="0"/>
                <a:cs typeface="Times New Roman" panose="02020603050405020304" pitchFamily="18" charset="0"/>
              </a:rPr>
              <a:t>observe the behavior of the customer and analyze them. In the final step, we do analysis based on the results obtained and predict the customer churn. </a:t>
            </a:r>
            <a:endParaRPr lang="en-US" sz="20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967" y="149291"/>
            <a:ext cx="8346233" cy="643811"/>
          </a:xfrm>
        </p:spPr>
        <p:txBody>
          <a:bodyPr/>
          <a:lstStyle/>
          <a:p>
            <a:r>
              <a:rPr lang="en-IN" dirty="0" smtClean="0"/>
              <a:t>WORKFLOW</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6</a:t>
            </a:fld>
            <a:endParaRPr lang="en-US"/>
          </a:p>
        </p:txBody>
      </p:sp>
      <p:pic>
        <p:nvPicPr>
          <p:cNvPr id="7" name="Picture 6"/>
          <p:cNvPicPr>
            <a:picLocks noChangeAspect="1"/>
          </p:cNvPicPr>
          <p:nvPr/>
        </p:nvPicPr>
        <p:blipFill>
          <a:blip r:embed="rId2"/>
          <a:stretch>
            <a:fillRect/>
          </a:stretch>
        </p:blipFill>
        <p:spPr>
          <a:xfrm>
            <a:off x="593791" y="1135287"/>
            <a:ext cx="6267450" cy="1524000"/>
          </a:xfrm>
          <a:prstGeom prst="rect">
            <a:avLst/>
          </a:prstGeom>
        </p:spPr>
      </p:pic>
      <p:sp>
        <p:nvSpPr>
          <p:cNvPr id="6" name="AutoShape 4" descr="blob:https://web.whatsapp.com/3b288da5-0b1b-498f-9073-54b919dcddea"/>
          <p:cNvSpPr>
            <a:spLocks noGrp="1" noChangeAspect="1" noChangeArrowheads="1"/>
          </p:cNvSpPr>
          <p:nvPr>
            <p:ph type="subTitle" idx="1"/>
          </p:nvPr>
        </p:nvSpPr>
        <p:spPr bwMode="auto">
          <a:xfrm>
            <a:off x="173344" y="2733870"/>
            <a:ext cx="5546321" cy="353008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l"/>
            <a:r>
              <a:rPr lang="en-US" sz="2400" dirty="0">
                <a:solidFill>
                  <a:schemeClr val="bg1"/>
                </a:solidFill>
              </a:rPr>
              <a:t>Workflow</a:t>
            </a:r>
          </a:p>
          <a:p>
            <a:pPr marL="342900" indent="-342900" algn="l">
              <a:buFont typeface="Arial" panose="020B0604020202020204" pitchFamily="34" charset="0"/>
              <a:buChar char="•"/>
            </a:pPr>
            <a:r>
              <a:rPr lang="en-US" sz="2400" b="0" dirty="0">
                <a:solidFill>
                  <a:schemeClr val="bg1"/>
                </a:solidFill>
              </a:rPr>
              <a:t>Load and Preprocess Data</a:t>
            </a:r>
          </a:p>
          <a:p>
            <a:pPr marL="342900" indent="-342900" algn="l">
              <a:buFont typeface="Arial" panose="020B0604020202020204" pitchFamily="34" charset="0"/>
              <a:buChar char="•"/>
            </a:pPr>
            <a:r>
              <a:rPr lang="en-US" sz="2400" b="0" dirty="0">
                <a:solidFill>
                  <a:schemeClr val="bg1"/>
                </a:solidFill>
              </a:rPr>
              <a:t>Customer Segmentation</a:t>
            </a:r>
          </a:p>
          <a:p>
            <a:pPr marL="342900" indent="-342900" algn="l">
              <a:buFont typeface="Arial" panose="020B0604020202020204" pitchFamily="34" charset="0"/>
              <a:buChar char="•"/>
            </a:pPr>
            <a:r>
              <a:rPr lang="en-US" sz="2400" b="0" dirty="0">
                <a:solidFill>
                  <a:schemeClr val="bg1"/>
                </a:solidFill>
              </a:rPr>
              <a:t>Churn Prediction</a:t>
            </a:r>
          </a:p>
          <a:p>
            <a:pPr marL="342900" indent="-342900" algn="l">
              <a:buFont typeface="Arial" panose="020B0604020202020204" pitchFamily="34" charset="0"/>
              <a:buChar char="•"/>
            </a:pPr>
            <a:r>
              <a:rPr lang="en-US" sz="2400" b="0" dirty="0">
                <a:solidFill>
                  <a:schemeClr val="bg1"/>
                </a:solidFill>
              </a:rPr>
              <a:t>Evaluate Models</a:t>
            </a:r>
          </a:p>
          <a:p>
            <a:endParaRPr lang="en-IN" sz="2400" dirty="0"/>
          </a:p>
        </p:txBody>
      </p:sp>
      <p:pic>
        <p:nvPicPr>
          <p:cNvPr id="8" name="Picture 7"/>
          <p:cNvPicPr>
            <a:picLocks noChangeAspect="1"/>
          </p:cNvPicPr>
          <p:nvPr/>
        </p:nvPicPr>
        <p:blipFill>
          <a:blip r:embed="rId3"/>
          <a:stretch>
            <a:fillRect/>
          </a:stretch>
        </p:blipFill>
        <p:spPr>
          <a:xfrm>
            <a:off x="4285083" y="3671916"/>
            <a:ext cx="4430317" cy="1856278"/>
          </a:xfrm>
          <a:prstGeom prst="rect">
            <a:avLst/>
          </a:prstGeom>
        </p:spPr>
      </p:pic>
    </p:spTree>
    <p:extLst>
      <p:ext uri="{BB962C8B-B14F-4D97-AF65-F5344CB8AC3E}">
        <p14:creationId xmlns:p14="http://schemas.microsoft.com/office/powerpoint/2010/main" val="67545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264" y="261258"/>
            <a:ext cx="8224935" cy="550506"/>
          </a:xfrm>
        </p:spPr>
        <p:txBody>
          <a:bodyPr/>
          <a:lstStyle/>
          <a:p>
            <a:r>
              <a:rPr lang="en-IN" dirty="0" smtClean="0"/>
              <a:t>LIBRARIES</a:t>
            </a:r>
            <a:endParaRPr lang="en-IN" dirty="0"/>
          </a:p>
        </p:txBody>
      </p:sp>
      <p:sp>
        <p:nvSpPr>
          <p:cNvPr id="3" name="Subtitle 2"/>
          <p:cNvSpPr>
            <a:spLocks noGrp="1"/>
          </p:cNvSpPr>
          <p:nvPr>
            <p:ph type="subTitle" idx="1"/>
          </p:nvPr>
        </p:nvSpPr>
        <p:spPr>
          <a:xfrm>
            <a:off x="233264" y="670561"/>
            <a:ext cx="8108303" cy="5496974"/>
          </a:xfrm>
        </p:spPr>
        <p:txBody>
          <a:bodyPr/>
          <a:lstStyle/>
          <a:p>
            <a:pPr algn="l"/>
            <a:r>
              <a:rPr lang="en-US" sz="2400" b="0" dirty="0">
                <a:solidFill>
                  <a:schemeClr val="bg1"/>
                </a:solidFill>
              </a:rPr>
              <a:t/>
            </a:r>
            <a:br>
              <a:rPr lang="en-US" sz="2400" b="0" dirty="0">
                <a:solidFill>
                  <a:schemeClr val="bg1"/>
                </a:solidFill>
              </a:rPr>
            </a:br>
            <a:r>
              <a:rPr lang="en-US" sz="2400" b="0" dirty="0">
                <a:solidFill>
                  <a:schemeClr val="bg1"/>
                </a:solidFill>
              </a:rPr>
              <a:t>Churn prediction is a common use case in machine learning where the goal is to predict whether a customer will leave (churn) or stay with a company. To implement churn prediction, you can use a variety of Python libraries. </a:t>
            </a:r>
            <a:r>
              <a:rPr lang="en-US" sz="2400" b="0" dirty="0" smtClean="0">
                <a:solidFill>
                  <a:schemeClr val="bg1"/>
                </a:solidFill>
              </a:rPr>
              <a:t>Here, We are using some </a:t>
            </a:r>
            <a:r>
              <a:rPr lang="en-US" sz="2400" b="0" dirty="0">
                <a:solidFill>
                  <a:schemeClr val="bg1"/>
                </a:solidFill>
              </a:rPr>
              <a:t>key libraries </a:t>
            </a:r>
            <a:r>
              <a:rPr lang="en-US" sz="2400" b="0" dirty="0" smtClean="0">
                <a:solidFill>
                  <a:schemeClr val="bg1"/>
                </a:solidFill>
              </a:rPr>
              <a:t>:</a:t>
            </a:r>
            <a:endParaRPr lang="en-US" sz="2400" b="0" dirty="0" smtClean="0">
              <a:solidFill>
                <a:schemeClr val="bg1"/>
              </a:solidFill>
            </a:endParaRPr>
          </a:p>
          <a:p>
            <a:pPr algn="l"/>
            <a:r>
              <a:rPr lang="en-IN" sz="2400" dirty="0">
                <a:solidFill>
                  <a:schemeClr val="bg1"/>
                </a:solidFill>
              </a:rPr>
              <a:t>Data Manipulation and Cleaning</a:t>
            </a:r>
            <a:endParaRPr lang="en-US" sz="2400" b="0" dirty="0" smtClean="0">
              <a:solidFill>
                <a:schemeClr val="bg1"/>
              </a:solidFill>
            </a:endParaRPr>
          </a:p>
          <a:p>
            <a:pPr algn="l"/>
            <a:r>
              <a:rPr lang="en-US" sz="2400" dirty="0" smtClean="0">
                <a:solidFill>
                  <a:schemeClr val="bg1"/>
                </a:solidFill>
              </a:rPr>
              <a:t>Pandas</a:t>
            </a:r>
            <a:r>
              <a:rPr lang="en-US" sz="2400" dirty="0">
                <a:solidFill>
                  <a:schemeClr val="bg1"/>
                </a:solidFill>
              </a:rPr>
              <a:t>:</a:t>
            </a:r>
          </a:p>
          <a:p>
            <a:pPr marL="342900" indent="-342900" algn="l">
              <a:buFont typeface="Wingdings" panose="05000000000000000000" pitchFamily="2" charset="2"/>
              <a:buChar char="§"/>
            </a:pPr>
            <a:r>
              <a:rPr lang="en-US" sz="2400" b="0" dirty="0">
                <a:solidFill>
                  <a:schemeClr val="bg1"/>
                </a:solidFill>
              </a:rPr>
              <a:t>Used for data manipulation and analysis.</a:t>
            </a:r>
          </a:p>
          <a:p>
            <a:pPr marL="342900" indent="-342900" algn="l">
              <a:buFont typeface="Wingdings" panose="05000000000000000000" pitchFamily="2" charset="2"/>
              <a:buChar char="§"/>
            </a:pPr>
            <a:r>
              <a:rPr lang="en-US" sz="2400" b="0" dirty="0">
                <a:solidFill>
                  <a:schemeClr val="bg1"/>
                </a:solidFill>
              </a:rPr>
              <a:t>Helps in loading, cleaning, and preprocessing data.</a:t>
            </a:r>
          </a:p>
          <a:p>
            <a:pPr algn="l"/>
            <a:r>
              <a:rPr lang="en-US" sz="2400" dirty="0" err="1">
                <a:solidFill>
                  <a:schemeClr val="bg1"/>
                </a:solidFill>
              </a:rPr>
              <a:t>NumPy</a:t>
            </a:r>
            <a:r>
              <a:rPr lang="en-US" sz="2400" dirty="0">
                <a:solidFill>
                  <a:schemeClr val="bg1"/>
                </a:solidFill>
              </a:rPr>
              <a:t>:</a:t>
            </a:r>
          </a:p>
          <a:p>
            <a:pPr marL="342900" indent="-342900" algn="l">
              <a:buFont typeface="Wingdings" panose="05000000000000000000" pitchFamily="2" charset="2"/>
              <a:buChar char="§"/>
            </a:pPr>
            <a:r>
              <a:rPr lang="en-US" sz="2400" b="0" dirty="0">
                <a:solidFill>
                  <a:schemeClr val="bg1"/>
                </a:solidFill>
              </a:rPr>
              <a:t>Provides support for large multi-dimensional arrays and matrices.</a:t>
            </a:r>
          </a:p>
          <a:p>
            <a:pPr marL="342900" indent="-342900" algn="l">
              <a:buFont typeface="Wingdings" panose="05000000000000000000" pitchFamily="2" charset="2"/>
              <a:buChar char="§"/>
            </a:pPr>
            <a:r>
              <a:rPr lang="en-US" sz="2400" b="0" dirty="0">
                <a:solidFill>
                  <a:schemeClr val="bg1"/>
                </a:solidFill>
              </a:rPr>
              <a:t>Contains a collection of mathematical functions.</a:t>
            </a:r>
          </a:p>
          <a:p>
            <a:pPr algn="l"/>
            <a:endParaRPr lang="en-US"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7</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787455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282" y="167951"/>
            <a:ext cx="7976118" cy="662474"/>
          </a:xfrm>
        </p:spPr>
        <p:txBody>
          <a:bodyPr/>
          <a:lstStyle/>
          <a:p>
            <a:r>
              <a:rPr lang="en-IN" dirty="0"/>
              <a:t>LIBRARIES</a:t>
            </a:r>
          </a:p>
        </p:txBody>
      </p:sp>
      <p:sp>
        <p:nvSpPr>
          <p:cNvPr id="3" name="Subtitle 2"/>
          <p:cNvSpPr>
            <a:spLocks noGrp="1"/>
          </p:cNvSpPr>
          <p:nvPr>
            <p:ph type="subTitle" idx="1"/>
          </p:nvPr>
        </p:nvSpPr>
        <p:spPr>
          <a:xfrm>
            <a:off x="85344" y="838200"/>
            <a:ext cx="9058656" cy="4800600"/>
          </a:xfrm>
        </p:spPr>
        <p:txBody>
          <a:bodyPr/>
          <a:lstStyle/>
          <a:p>
            <a:pPr algn="l"/>
            <a:r>
              <a:rPr lang="en-US" sz="2400" dirty="0">
                <a:solidFill>
                  <a:schemeClr val="bg1"/>
                </a:solidFill>
              </a:rPr>
              <a:t>Data Visualization</a:t>
            </a:r>
          </a:p>
          <a:p>
            <a:pPr algn="l"/>
            <a:r>
              <a:rPr lang="en-US" sz="2400" dirty="0" err="1" smtClean="0">
                <a:solidFill>
                  <a:schemeClr val="bg1"/>
                </a:solidFill>
              </a:rPr>
              <a:t>Matplotlib</a:t>
            </a:r>
            <a:r>
              <a:rPr lang="en-US" sz="2400" dirty="0" smtClean="0">
                <a:solidFill>
                  <a:schemeClr val="bg1"/>
                </a:solidFill>
              </a:rPr>
              <a:t>:</a:t>
            </a:r>
          </a:p>
          <a:p>
            <a:pPr marL="457200" indent="-457200" algn="l">
              <a:buFont typeface="Wingdings" panose="05000000000000000000" pitchFamily="2" charset="2"/>
              <a:buChar char="§"/>
            </a:pPr>
            <a:r>
              <a:rPr lang="en-US" sz="2400" b="0" dirty="0" smtClean="0">
                <a:solidFill>
                  <a:schemeClr val="bg1"/>
                </a:solidFill>
              </a:rPr>
              <a:t>Basic </a:t>
            </a:r>
            <a:r>
              <a:rPr lang="en-US" sz="2400" b="0" dirty="0">
                <a:solidFill>
                  <a:schemeClr val="bg1"/>
                </a:solidFill>
              </a:rPr>
              <a:t>plotting library in </a:t>
            </a:r>
            <a:r>
              <a:rPr lang="en-US" sz="2400" b="0" dirty="0" smtClean="0">
                <a:solidFill>
                  <a:schemeClr val="bg1"/>
                </a:solidFill>
              </a:rPr>
              <a:t>Python.</a:t>
            </a:r>
          </a:p>
          <a:p>
            <a:pPr marL="457200" indent="-457200" algn="l">
              <a:buFont typeface="Wingdings" panose="05000000000000000000" pitchFamily="2" charset="2"/>
              <a:buChar char="§"/>
            </a:pPr>
            <a:r>
              <a:rPr lang="en-US" sz="2400" b="0" dirty="0" smtClean="0">
                <a:solidFill>
                  <a:schemeClr val="bg1"/>
                </a:solidFill>
              </a:rPr>
              <a:t>Used </a:t>
            </a:r>
            <a:r>
              <a:rPr lang="en-US" sz="2400" b="0" dirty="0">
                <a:solidFill>
                  <a:schemeClr val="bg1"/>
                </a:solidFill>
              </a:rPr>
              <a:t>for creating static, animated, and interactive </a:t>
            </a:r>
            <a:r>
              <a:rPr lang="en-US" sz="2400" b="0" dirty="0" smtClean="0">
                <a:solidFill>
                  <a:schemeClr val="bg1"/>
                </a:solidFill>
              </a:rPr>
              <a:t>visualizations</a:t>
            </a:r>
          </a:p>
          <a:p>
            <a:pPr algn="l"/>
            <a:r>
              <a:rPr lang="en-US" sz="2400" dirty="0" err="1">
                <a:solidFill>
                  <a:schemeClr val="bg1"/>
                </a:solidFill>
              </a:rPr>
              <a:t>Seaborn</a:t>
            </a:r>
            <a:r>
              <a:rPr lang="en-US" sz="2400" dirty="0">
                <a:solidFill>
                  <a:schemeClr val="bg1"/>
                </a:solidFill>
              </a:rPr>
              <a:t>:</a:t>
            </a:r>
          </a:p>
          <a:p>
            <a:pPr marL="457200" indent="-457200" algn="l">
              <a:buFont typeface="Wingdings" panose="05000000000000000000" pitchFamily="2" charset="2"/>
              <a:buChar char="§"/>
            </a:pPr>
            <a:r>
              <a:rPr lang="en-US" sz="2400" b="0" dirty="0">
                <a:solidFill>
                  <a:schemeClr val="bg1"/>
                </a:solidFill>
              </a:rPr>
              <a:t>Built on top of </a:t>
            </a:r>
            <a:r>
              <a:rPr lang="en-US" sz="2400" b="0" dirty="0" err="1">
                <a:solidFill>
                  <a:schemeClr val="bg1"/>
                </a:solidFill>
              </a:rPr>
              <a:t>Matplotlib</a:t>
            </a:r>
            <a:r>
              <a:rPr lang="en-US" sz="2400" b="0" dirty="0">
                <a:solidFill>
                  <a:schemeClr val="bg1"/>
                </a:solidFill>
              </a:rPr>
              <a:t>.</a:t>
            </a:r>
          </a:p>
          <a:p>
            <a:pPr marL="457200" indent="-457200" algn="l">
              <a:buFont typeface="Wingdings" panose="05000000000000000000" pitchFamily="2" charset="2"/>
              <a:buChar char="§"/>
            </a:pPr>
            <a:r>
              <a:rPr lang="en-US" sz="2400" b="0" dirty="0">
                <a:solidFill>
                  <a:schemeClr val="bg1"/>
                </a:solidFill>
              </a:rPr>
              <a:t>Provides a high-level interface for drawing attractive and informative statistical graphics</a:t>
            </a:r>
            <a:r>
              <a:rPr lang="en-US" sz="2400" b="0" dirty="0" smtClean="0">
                <a:solidFill>
                  <a:schemeClr val="bg1"/>
                </a:solidFill>
              </a:rPr>
              <a:t>.</a:t>
            </a:r>
          </a:p>
          <a:p>
            <a:pPr algn="l"/>
            <a:r>
              <a:rPr lang="en-US" sz="2400" dirty="0">
                <a:solidFill>
                  <a:schemeClr val="bg1"/>
                </a:solidFill>
              </a:rPr>
              <a:t>Machine Learning</a:t>
            </a:r>
          </a:p>
          <a:p>
            <a:pPr algn="l"/>
            <a:r>
              <a:rPr lang="en-US" sz="2400" dirty="0" err="1">
                <a:solidFill>
                  <a:schemeClr val="bg1"/>
                </a:solidFill>
              </a:rPr>
              <a:t>Scikit</a:t>
            </a:r>
            <a:r>
              <a:rPr lang="en-US" sz="2400" dirty="0">
                <a:solidFill>
                  <a:schemeClr val="bg1"/>
                </a:solidFill>
              </a:rPr>
              <a:t>-learn:</a:t>
            </a:r>
          </a:p>
          <a:p>
            <a:pPr marL="457200" indent="-457200" algn="l">
              <a:buFont typeface="Wingdings" panose="05000000000000000000" pitchFamily="2" charset="2"/>
              <a:buChar char="§"/>
            </a:pPr>
            <a:r>
              <a:rPr lang="en-US" sz="2400" b="0" dirty="0">
                <a:solidFill>
                  <a:schemeClr val="bg1"/>
                </a:solidFill>
              </a:rPr>
              <a:t>Comprehensive library for machine learning.</a:t>
            </a:r>
          </a:p>
          <a:p>
            <a:pPr marL="457200" indent="-457200" algn="l">
              <a:buFont typeface="Wingdings" panose="05000000000000000000" pitchFamily="2" charset="2"/>
              <a:buChar char="§"/>
            </a:pPr>
            <a:r>
              <a:rPr lang="en-US" sz="2400" b="0" dirty="0">
                <a:solidFill>
                  <a:schemeClr val="bg1"/>
                </a:solidFill>
              </a:rPr>
              <a:t>Contains simple and efficient tools for data mining and data analysis.</a:t>
            </a:r>
          </a:p>
          <a:p>
            <a:pPr algn="l"/>
            <a:endParaRPr lang="en-US" sz="2400" b="0" dirty="0">
              <a:solidFill>
                <a:schemeClr val="bg1"/>
              </a:solidFill>
            </a:endParaRPr>
          </a:p>
          <a:p>
            <a:pPr marL="457200" indent="-457200" algn="l">
              <a:buFont typeface="Wingdings" panose="05000000000000000000" pitchFamily="2" charset="2"/>
              <a:buChar char="§"/>
            </a:pPr>
            <a:endParaRPr lang="en-US" sz="2400" b="0" dirty="0">
              <a:solidFill>
                <a:schemeClr val="bg1"/>
              </a:solidFill>
            </a:endParaRPr>
          </a:p>
          <a:p>
            <a:pPr algn="l"/>
            <a:r>
              <a:rPr lang="en-US" sz="2400" dirty="0">
                <a:solidFill>
                  <a:schemeClr val="bg1"/>
                </a:solidFill>
              </a:rPr>
              <a:t/>
            </a:r>
            <a:br>
              <a:rPr lang="en-US" sz="2400" dirty="0">
                <a:solidFill>
                  <a:schemeClr val="bg1"/>
                </a:solidFill>
              </a:rPr>
            </a:br>
            <a:endParaRPr lang="en-IN" sz="240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8</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2767312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264" y="118745"/>
            <a:ext cx="7824216" cy="698119"/>
          </a:xfrm>
        </p:spPr>
        <p:txBody>
          <a:bodyPr/>
          <a:lstStyle/>
          <a:p>
            <a:r>
              <a:rPr lang="en-IN" dirty="0" smtClean="0"/>
              <a:t>CODING </a:t>
            </a:r>
            <a:endParaRPr lang="en-IN" dirty="0"/>
          </a:p>
        </p:txBody>
      </p:sp>
      <p:pic>
        <p:nvPicPr>
          <p:cNvPr id="5" name="Picture 4"/>
          <p:cNvPicPr>
            <a:picLocks noChangeAspect="1"/>
          </p:cNvPicPr>
          <p:nvPr/>
        </p:nvPicPr>
        <p:blipFill rotWithShape="1">
          <a:blip r:embed="rId2"/>
          <a:srcRect l="2042" t="1371" r="2193" b="2180"/>
          <a:stretch/>
        </p:blipFill>
        <p:spPr>
          <a:xfrm>
            <a:off x="499872" y="1163955"/>
            <a:ext cx="6851904" cy="3194303"/>
          </a:xfrm>
          <a:prstGeom prst="rect">
            <a:avLst/>
          </a:prstGeom>
        </p:spPr>
      </p:pic>
      <p:sp>
        <p:nvSpPr>
          <p:cNvPr id="4" name="Slide Number Placeholder 3"/>
          <p:cNvSpPr>
            <a:spLocks noGrp="1"/>
          </p:cNvSpPr>
          <p:nvPr>
            <p:ph type="sldNum" sz="quarter" idx="12"/>
          </p:nvPr>
        </p:nvSpPr>
        <p:spPr/>
        <p:txBody>
          <a:bodyPr/>
          <a:lstStyle/>
          <a:p>
            <a:fld id="{7E3D8A1A-F310-4C9F-9F39-DEED8B092108}" type="slidenum">
              <a:rPr lang="en-US" smtClean="0"/>
              <a:pPr/>
              <a:t>9</a:t>
            </a:fld>
            <a:endParaRPr lang="en-US"/>
          </a:p>
        </p:txBody>
      </p:sp>
      <p:pic>
        <p:nvPicPr>
          <p:cNvPr id="6" name="Picture 5"/>
          <p:cNvPicPr>
            <a:picLocks noChangeAspect="1"/>
          </p:cNvPicPr>
          <p:nvPr/>
        </p:nvPicPr>
        <p:blipFill rotWithShape="1">
          <a:blip r:embed="rId3"/>
          <a:srcRect l="1221" t="6896" r="1484" b="4834"/>
          <a:stretch/>
        </p:blipFill>
        <p:spPr>
          <a:xfrm>
            <a:off x="597409" y="4534661"/>
            <a:ext cx="6754368" cy="1293875"/>
          </a:xfrm>
          <a:prstGeom prst="rect">
            <a:avLst/>
          </a:prstGeom>
        </p:spPr>
      </p:pic>
    </p:spTree>
    <p:extLst>
      <p:ext uri="{BB962C8B-B14F-4D97-AF65-F5344CB8AC3E}">
        <p14:creationId xmlns:p14="http://schemas.microsoft.com/office/powerpoint/2010/main" val="3145430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612" y="180328"/>
            <a:ext cx="7833049" cy="659428"/>
          </a:xfrm>
        </p:spPr>
        <p:txBody>
          <a:bodyPr/>
          <a:lstStyle/>
          <a:p>
            <a:r>
              <a:rPr lang="en-IN" dirty="0" smtClean="0"/>
              <a:t>STEPS TO IMPLEMENT</a:t>
            </a:r>
            <a:endParaRPr lang="en-IN" dirty="0"/>
          </a:p>
        </p:txBody>
      </p:sp>
      <p:sp>
        <p:nvSpPr>
          <p:cNvPr id="3" name="Subtitle 2"/>
          <p:cNvSpPr>
            <a:spLocks noGrp="1"/>
          </p:cNvSpPr>
          <p:nvPr>
            <p:ph type="subTitle" idx="1"/>
          </p:nvPr>
        </p:nvSpPr>
        <p:spPr>
          <a:xfrm>
            <a:off x="373224" y="1236306"/>
            <a:ext cx="8052319" cy="5341776"/>
          </a:xfrm>
        </p:spPr>
        <p:txBody>
          <a:bodyPr/>
          <a:lstStyle/>
          <a:p>
            <a:pPr marL="457200" indent="-457200" algn="l">
              <a:buFont typeface="Wingdings" panose="05000000000000000000" pitchFamily="2" charset="2"/>
              <a:buChar char="Ø"/>
            </a:pPr>
            <a:r>
              <a:rPr lang="en-US" sz="2400" b="0" dirty="0">
                <a:solidFill>
                  <a:schemeClr val="bg1"/>
                </a:solidFill>
              </a:rPr>
              <a:t>Prerequisites for Building a Churn Prediction Model</a:t>
            </a:r>
          </a:p>
          <a:p>
            <a:pPr marL="457200" indent="-457200" algn="l">
              <a:buFont typeface="Wingdings" panose="05000000000000000000" pitchFamily="2" charset="2"/>
              <a:buChar char="Ø"/>
            </a:pPr>
            <a:r>
              <a:rPr lang="en-US" sz="2400" b="0" dirty="0">
                <a:solidFill>
                  <a:schemeClr val="bg1"/>
                </a:solidFill>
              </a:rPr>
              <a:t>Reviewing the Dataset</a:t>
            </a:r>
          </a:p>
          <a:p>
            <a:pPr marL="457200" indent="-457200" algn="l">
              <a:buFont typeface="Wingdings" panose="05000000000000000000" pitchFamily="2" charset="2"/>
              <a:buChar char="Ø"/>
            </a:pPr>
            <a:r>
              <a:rPr lang="en-US" sz="2400" b="0" dirty="0">
                <a:solidFill>
                  <a:schemeClr val="bg1"/>
                </a:solidFill>
              </a:rPr>
              <a:t>Exploratory Data Analysis for Customer Churn Prediction</a:t>
            </a:r>
          </a:p>
          <a:p>
            <a:pPr marL="457200" indent="-457200" algn="l">
              <a:buFont typeface="Wingdings" panose="05000000000000000000" pitchFamily="2" charset="2"/>
              <a:buChar char="Ø"/>
            </a:pPr>
            <a:r>
              <a:rPr lang="en-US" sz="2400" b="0" dirty="0">
                <a:solidFill>
                  <a:schemeClr val="bg1"/>
                </a:solidFill>
              </a:rPr>
              <a:t>Preprocessing Data for Customer </a:t>
            </a:r>
            <a:r>
              <a:rPr lang="en-US" sz="2400" b="0" dirty="0" smtClean="0">
                <a:solidFill>
                  <a:schemeClr val="bg1"/>
                </a:solidFill>
              </a:rPr>
              <a:t>Churn</a:t>
            </a:r>
            <a:endParaRPr lang="en-US" sz="2400" b="0" dirty="0">
              <a:solidFill>
                <a:schemeClr val="bg1"/>
              </a:solidFill>
            </a:endParaRPr>
          </a:p>
          <a:p>
            <a:pPr marL="457200" indent="-457200" algn="l">
              <a:buFont typeface="Wingdings" panose="05000000000000000000" pitchFamily="2" charset="2"/>
              <a:buChar char="Ø"/>
            </a:pPr>
            <a:r>
              <a:rPr lang="en-US" sz="2400" b="0" dirty="0">
                <a:solidFill>
                  <a:schemeClr val="bg1"/>
                </a:solidFill>
              </a:rPr>
              <a:t>Building the Customer Churn Prediction Model</a:t>
            </a:r>
          </a:p>
          <a:p>
            <a:pPr marL="457200" indent="-457200" algn="l">
              <a:buFont typeface="Wingdings" panose="05000000000000000000" pitchFamily="2" charset="2"/>
              <a:buChar char="Ø"/>
            </a:pPr>
            <a:r>
              <a:rPr lang="en-US" sz="2400" b="0" dirty="0">
                <a:solidFill>
                  <a:schemeClr val="bg1"/>
                </a:solidFill>
              </a:rPr>
              <a:t>Customer Churn Prediction Model </a:t>
            </a:r>
            <a:r>
              <a:rPr lang="en-US" sz="2400" b="0" dirty="0" smtClean="0">
                <a:solidFill>
                  <a:schemeClr val="bg1"/>
                </a:solidFill>
              </a:rPr>
              <a:t>Evaluation</a:t>
            </a:r>
            <a:endParaRPr lang="en-US" sz="2400" b="0" dirty="0">
              <a:solidFill>
                <a:schemeClr val="bg1"/>
              </a:solidFill>
            </a:endParaRPr>
          </a:p>
          <a:p>
            <a:pPr algn="l"/>
            <a:endParaRPr lang="en-US"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10</a:t>
            </a:fld>
            <a:endParaRPr lang="en-US"/>
          </a:p>
        </p:txBody>
      </p:sp>
    </p:spTree>
    <p:extLst>
      <p:ext uri="{BB962C8B-B14F-4D97-AF65-F5344CB8AC3E}">
        <p14:creationId xmlns:p14="http://schemas.microsoft.com/office/powerpoint/2010/main" val="4027262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299" y="205273"/>
            <a:ext cx="8336902" cy="587829"/>
          </a:xfrm>
        </p:spPr>
        <p:txBody>
          <a:bodyPr/>
          <a:lstStyle/>
          <a:p>
            <a:r>
              <a:rPr lang="en-IN" dirty="0" smtClean="0"/>
              <a:t>ALGORITHMS</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11</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
        <p:nvSpPr>
          <p:cNvPr id="6" name="Rectangle 1"/>
          <p:cNvSpPr>
            <a:spLocks noGrp="1" noChangeArrowheads="1"/>
          </p:cNvSpPr>
          <p:nvPr>
            <p:ph type="subTitle" idx="1"/>
          </p:nvPr>
        </p:nvSpPr>
        <p:spPr bwMode="auto">
          <a:xfrm>
            <a:off x="121299" y="1190155"/>
            <a:ext cx="8500187"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a:spcBef>
                <a:spcPct val="0"/>
              </a:spcBef>
              <a:buClrTx/>
              <a:buSzTx/>
            </a:pPr>
            <a:r>
              <a:rPr lang="en-US" sz="2800" dirty="0">
                <a:solidFill>
                  <a:schemeClr val="bg1"/>
                </a:solidFill>
              </a:rPr>
              <a:t>Support Vector Machines (SVM</a:t>
            </a:r>
            <a:r>
              <a:rPr lang="en-US" sz="2800" dirty="0" smtClean="0">
                <a:solidFill>
                  <a:schemeClr val="bg1"/>
                </a:solidFill>
              </a:rPr>
              <a:t>)</a:t>
            </a:r>
            <a:endParaRPr lang="en-US" sz="2800" dirty="0" smtClean="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2200" b="0" dirty="0" smtClean="0">
                <a:solidFill>
                  <a:schemeClr val="bg1"/>
                </a:solidFill>
              </a:rPr>
              <a:t>Support Vector Machines (SVM) can be effectively utilized for both customer segmentation and churn prediction in the telecom industry. For customer segmentation, SVM can be combined with clustering algorithms to identify distinct groups of customers based on their usage patterns, demographics, and billing information, enabling targeted marketing and personalized services. For churn prediction, SVM can classify customers into churn and non-churn categories by analyzing historical data, customer behavior, and service usage, helping telecom companies proactively address churn risks. By preprocessing data, selecting relevant features, and tuning model parameters, SVM can provide robust and accurate predictions, ultimately enhancing customer retention and satisfaction</a:t>
            </a:r>
            <a:r>
              <a:rPr lang="en-US" sz="2200" b="0" dirty="0" smtClean="0">
                <a:solidFill>
                  <a:schemeClr val="bg1"/>
                </a:solidFill>
              </a:rPr>
              <a:t>. </a:t>
            </a:r>
            <a:endParaRPr kumimoji="0" lang="en-US" altLang="en-US" sz="22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948312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0588" y="161667"/>
            <a:ext cx="7739742" cy="687420"/>
          </a:xfrm>
        </p:spPr>
        <p:txBody>
          <a:bodyPr/>
          <a:lstStyle/>
          <a:p>
            <a:r>
              <a:rPr lang="en-IN" dirty="0"/>
              <a:t>ALGORITHMS</a:t>
            </a:r>
          </a:p>
        </p:txBody>
      </p:sp>
      <p:sp>
        <p:nvSpPr>
          <p:cNvPr id="4" name="Slide Number Placeholder 3"/>
          <p:cNvSpPr>
            <a:spLocks noGrp="1"/>
          </p:cNvSpPr>
          <p:nvPr>
            <p:ph type="sldNum" sz="quarter" idx="12"/>
          </p:nvPr>
        </p:nvSpPr>
        <p:spPr/>
        <p:txBody>
          <a:bodyPr/>
          <a:lstStyle/>
          <a:p>
            <a:fld id="{7E3D8A1A-F310-4C9F-9F39-DEED8B092108}" type="slidenum">
              <a:rPr lang="en-US" smtClean="0"/>
              <a:pPr/>
              <a:t>12</a:t>
            </a:fld>
            <a:endParaRPr lang="en-US"/>
          </a:p>
        </p:txBody>
      </p:sp>
      <p:pic>
        <p:nvPicPr>
          <p:cNvPr id="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
        <p:nvSpPr>
          <p:cNvPr id="6" name="Rectangle 5"/>
          <p:cNvSpPr/>
          <p:nvPr/>
        </p:nvSpPr>
        <p:spPr>
          <a:xfrm>
            <a:off x="74645" y="970384"/>
            <a:ext cx="8416212" cy="9202519"/>
          </a:xfrm>
          <a:prstGeom prst="rect">
            <a:avLst/>
          </a:prstGeom>
        </p:spPr>
        <p:txBody>
          <a:bodyPr wrap="square">
            <a:spAutoFit/>
          </a:bodyPr>
          <a:lstStyle/>
          <a:p>
            <a:pPr lvl="0"/>
            <a:r>
              <a:rPr lang="en-IN" sz="2800" b="1" dirty="0" smtClean="0">
                <a:solidFill>
                  <a:schemeClr val="bg1"/>
                </a:solidFill>
              </a:rPr>
              <a:t>Decision </a:t>
            </a:r>
            <a:r>
              <a:rPr lang="en-IN" sz="2800" b="1" dirty="0">
                <a:solidFill>
                  <a:schemeClr val="bg1"/>
                </a:solidFill>
              </a:rPr>
              <a:t>tree </a:t>
            </a:r>
            <a:r>
              <a:rPr lang="en-IN" sz="2800" b="1" dirty="0" smtClean="0">
                <a:solidFill>
                  <a:schemeClr val="bg1"/>
                </a:solidFill>
              </a:rPr>
              <a:t>classifier</a:t>
            </a:r>
          </a:p>
          <a:p>
            <a:r>
              <a:rPr lang="en-US" sz="2200" dirty="0">
                <a:solidFill>
                  <a:schemeClr val="bg1"/>
                </a:solidFill>
              </a:rPr>
              <a:t>A Decision Tree classifier can effectively </a:t>
            </a:r>
            <a:r>
              <a:rPr lang="en-US" sz="2200" dirty="0" smtClean="0">
                <a:solidFill>
                  <a:schemeClr val="bg1"/>
                </a:solidFill>
              </a:rPr>
              <a:t>by </a:t>
            </a:r>
            <a:r>
              <a:rPr lang="en-US" sz="2200" dirty="0">
                <a:solidFill>
                  <a:schemeClr val="bg1"/>
                </a:solidFill>
              </a:rPr>
              <a:t>leveraging its intuitive tree-structure approach to model decisions and outcomes based on customer data. </a:t>
            </a:r>
            <a:r>
              <a:rPr lang="en-US" sz="2200" dirty="0" smtClean="0">
                <a:solidFill>
                  <a:schemeClr val="bg1"/>
                </a:solidFill>
              </a:rPr>
              <a:t>For </a:t>
            </a:r>
            <a:r>
              <a:rPr lang="en-US" sz="2200" dirty="0">
                <a:solidFill>
                  <a:schemeClr val="bg1"/>
                </a:solidFill>
              </a:rPr>
              <a:t>customer segmentation, the Decision Tree can segment customers by recursively partitioning the dataset into homogenous groups based on key attributes such as usage patterns, billing information, and demographics, facilitating targeted marketing and personalized services. </a:t>
            </a:r>
            <a:r>
              <a:rPr lang="en-US" sz="2200" dirty="0">
                <a:solidFill>
                  <a:schemeClr val="bg1"/>
                </a:solidFill>
              </a:rPr>
              <a:t>For churn prediction, the model can identify patterns and indicators of churn by analyzing historical customer behavior and interactions, allowing for the prediction of at-risk </a:t>
            </a:r>
            <a:r>
              <a:rPr lang="en-US" sz="2200" dirty="0" err="1" smtClean="0">
                <a:solidFill>
                  <a:schemeClr val="bg1"/>
                </a:solidFill>
              </a:rPr>
              <a:t>customers.The</a:t>
            </a:r>
            <a:r>
              <a:rPr lang="en-US" sz="2200" dirty="0" smtClean="0">
                <a:solidFill>
                  <a:schemeClr val="bg1"/>
                </a:solidFill>
              </a:rPr>
              <a:t> </a:t>
            </a:r>
            <a:r>
              <a:rPr lang="en-US" sz="2200" dirty="0">
                <a:solidFill>
                  <a:schemeClr val="bg1"/>
                </a:solidFill>
              </a:rPr>
              <a:t>interpretability of Decision Trees makes it easy to understand the decision rules driving both segmentation and churn predictions, enabling telecom companies to implement proactive retention strategies and enhance customer satisfaction.</a:t>
            </a:r>
          </a:p>
          <a:p>
            <a:pPr lvl="0"/>
            <a:endParaRPr lang="en-US" sz="2200" b="1" dirty="0" smtClean="0">
              <a:solidFill>
                <a:schemeClr val="bg1"/>
              </a:solidFill>
            </a:endParaRPr>
          </a:p>
          <a:p>
            <a:pPr lvl="0"/>
            <a:endParaRPr lang="en-US" altLang="en-US" dirty="0">
              <a:solidFill>
                <a:schemeClr val="bg1"/>
              </a:solidFill>
            </a:endParaRPr>
          </a:p>
          <a:p>
            <a:pPr lvl="0"/>
            <a:endParaRPr lang="en-US" altLang="en-US" dirty="0" smtClean="0">
              <a:solidFill>
                <a:schemeClr val="bg1"/>
              </a:solidFill>
            </a:endParaRPr>
          </a:p>
          <a:p>
            <a:pPr lvl="0"/>
            <a:endParaRPr lang="en-US" altLang="en-US" dirty="0">
              <a:solidFill>
                <a:schemeClr val="bg1"/>
              </a:solidFill>
            </a:endParaRPr>
          </a:p>
          <a:p>
            <a:pPr lvl="0"/>
            <a:endParaRPr lang="en-US" altLang="en-US" dirty="0" smtClean="0">
              <a:solidFill>
                <a:schemeClr val="bg1"/>
              </a:solidFill>
            </a:endParaRPr>
          </a:p>
          <a:p>
            <a:pPr lvl="0"/>
            <a:endParaRPr lang="en-US" altLang="en-US" dirty="0">
              <a:solidFill>
                <a:schemeClr val="bg1"/>
              </a:solidFill>
            </a:endParaRPr>
          </a:p>
          <a:p>
            <a:pPr lvl="0"/>
            <a:endParaRPr lang="en-US" altLang="en-US" dirty="0" smtClean="0">
              <a:solidFill>
                <a:schemeClr val="bg1"/>
              </a:solidFill>
            </a:endParaRPr>
          </a:p>
          <a:p>
            <a:pPr lvl="0"/>
            <a:endParaRPr lang="en-US" altLang="en-US" dirty="0">
              <a:solidFill>
                <a:schemeClr val="bg1"/>
              </a:solidFill>
            </a:endParaRPr>
          </a:p>
          <a:p>
            <a:pPr lvl="0"/>
            <a:endParaRPr lang="en-US" altLang="en-US" dirty="0" smtClean="0">
              <a:solidFill>
                <a:schemeClr val="bg1"/>
              </a:solidFill>
            </a:endParaRPr>
          </a:p>
          <a:p>
            <a:pPr lvl="0"/>
            <a:endParaRPr lang="en-US" altLang="en-US" dirty="0">
              <a:solidFill>
                <a:schemeClr val="bg1"/>
              </a:solidFill>
            </a:endParaRPr>
          </a:p>
          <a:p>
            <a:pPr lvl="0"/>
            <a:endParaRPr lang="en-US" altLang="en-US" dirty="0" smtClean="0">
              <a:solidFill>
                <a:schemeClr val="bg1"/>
              </a:solidFill>
            </a:endParaRPr>
          </a:p>
          <a:p>
            <a:pPr lvl="0"/>
            <a:endParaRPr lang="en-US" altLang="en-US" dirty="0">
              <a:solidFill>
                <a:schemeClr val="bg1"/>
              </a:solidFill>
            </a:endParaRPr>
          </a:p>
          <a:p>
            <a:pPr lvl="0"/>
            <a:endParaRPr lang="en-US" altLang="en-US" dirty="0" smtClean="0">
              <a:solidFill>
                <a:schemeClr val="bg1"/>
              </a:solidFill>
            </a:endParaRPr>
          </a:p>
          <a:p>
            <a:pPr lvl="0"/>
            <a:endParaRPr lang="en-US" altLang="en-US" dirty="0">
              <a:solidFill>
                <a:schemeClr val="bg1"/>
              </a:solidFill>
            </a:endParaRPr>
          </a:p>
        </p:txBody>
      </p:sp>
    </p:spTree>
    <p:extLst>
      <p:ext uri="{BB962C8B-B14F-4D97-AF65-F5344CB8AC3E}">
        <p14:creationId xmlns:p14="http://schemas.microsoft.com/office/powerpoint/2010/main" val="3503754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1257" y="195943"/>
            <a:ext cx="8196943" cy="559837"/>
          </a:xfrm>
        </p:spPr>
        <p:txBody>
          <a:bodyPr/>
          <a:lstStyle/>
          <a:p>
            <a:r>
              <a:rPr lang="en-IN" dirty="0"/>
              <a:t>ALGORITHMS</a:t>
            </a:r>
          </a:p>
        </p:txBody>
      </p:sp>
      <p:sp>
        <p:nvSpPr>
          <p:cNvPr id="3" name="Subtitle 2"/>
          <p:cNvSpPr>
            <a:spLocks noGrp="1"/>
          </p:cNvSpPr>
          <p:nvPr>
            <p:ph type="subTitle" idx="1"/>
          </p:nvPr>
        </p:nvSpPr>
        <p:spPr>
          <a:xfrm>
            <a:off x="261257" y="1007706"/>
            <a:ext cx="8388221" cy="4631094"/>
          </a:xfrm>
        </p:spPr>
        <p:txBody>
          <a:bodyPr/>
          <a:lstStyle/>
          <a:p>
            <a:pPr algn="l"/>
            <a:r>
              <a:rPr lang="en-IN" sz="2800" dirty="0" smtClean="0">
                <a:solidFill>
                  <a:schemeClr val="bg1"/>
                </a:solidFill>
              </a:rPr>
              <a:t>KNN </a:t>
            </a:r>
            <a:r>
              <a:rPr lang="en-IN" sz="2800" dirty="0" smtClean="0">
                <a:solidFill>
                  <a:schemeClr val="bg1"/>
                </a:solidFill>
              </a:rPr>
              <a:t>classifier</a:t>
            </a:r>
          </a:p>
          <a:p>
            <a:pPr algn="l"/>
            <a:r>
              <a:rPr lang="en-US" sz="2200" b="0" dirty="0">
                <a:solidFill>
                  <a:schemeClr val="bg1"/>
                </a:solidFill>
              </a:rPr>
              <a:t>K-Nearest Neighbors (KNN) classifier can be effectively utilized for both telecom customer segmentation and churn prediction. For customer segmentation, KNN can classify customers into distinct segments based on their similarity in usage patterns, demographics, and other relevant features, enabling targeted marketing strategies</a:t>
            </a:r>
            <a:r>
              <a:rPr lang="en-US" sz="2200" b="0" dirty="0">
                <a:solidFill>
                  <a:schemeClr val="bg1"/>
                </a:solidFill>
              </a:rPr>
              <a:t>. In churn prediction, KNN identifies customers likely to churn by comparing them with similar customers who have previously left, leveraging historical data to predict churn risk. By analyzing the 'nearest neighbors' in a multidimensional feature space, KNN provides intuitive and interpretable insights, making it a valuable tool for enhancing customer retention and optimizing service offerings in the telecom industry.</a:t>
            </a:r>
            <a:endParaRPr lang="en-IN" sz="2200" b="0" dirty="0">
              <a:solidFill>
                <a:schemeClr val="bg1"/>
              </a:solidFill>
            </a:endParaRPr>
          </a:p>
          <a:p>
            <a:pPr algn="l"/>
            <a:endParaRPr lang="en-US" sz="2200" b="0" dirty="0" smtClean="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13</a:t>
            </a:fld>
            <a:endParaRPr lang="en-US"/>
          </a:p>
        </p:txBody>
      </p:sp>
    </p:spTree>
    <p:extLst>
      <p:ext uri="{BB962C8B-B14F-4D97-AF65-F5344CB8AC3E}">
        <p14:creationId xmlns:p14="http://schemas.microsoft.com/office/powerpoint/2010/main" val="3613652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 y="158497"/>
            <a:ext cx="8336280" cy="658367"/>
          </a:xfrm>
        </p:spPr>
        <p:txBody>
          <a:bodyPr/>
          <a:lstStyle/>
          <a:p>
            <a:r>
              <a:rPr lang="en-IN" dirty="0" smtClean="0"/>
              <a:t>CODING </a:t>
            </a:r>
            <a:endParaRPr lang="en-IN" dirty="0"/>
          </a:p>
        </p:txBody>
      </p:sp>
      <p:sp>
        <p:nvSpPr>
          <p:cNvPr id="4" name="Slide Number Placeholder 3"/>
          <p:cNvSpPr>
            <a:spLocks noGrp="1"/>
          </p:cNvSpPr>
          <p:nvPr>
            <p:ph type="sldNum" sz="quarter" idx="12"/>
          </p:nvPr>
        </p:nvSpPr>
        <p:spPr/>
        <p:txBody>
          <a:bodyPr/>
          <a:lstStyle/>
          <a:p>
            <a:fld id="{7E3D8A1A-F310-4C9F-9F39-DEED8B092108}" type="slidenum">
              <a:rPr lang="en-US" smtClean="0"/>
              <a:pPr/>
              <a:t>14</a:t>
            </a:fld>
            <a:endParaRPr lang="en-US"/>
          </a:p>
        </p:txBody>
      </p:sp>
      <p:pic>
        <p:nvPicPr>
          <p:cNvPr id="7" name="Picture 6"/>
          <p:cNvPicPr>
            <a:picLocks noChangeAspect="1"/>
          </p:cNvPicPr>
          <p:nvPr/>
        </p:nvPicPr>
        <p:blipFill rotWithShape="1">
          <a:blip r:embed="rId2"/>
          <a:srcRect l="1256" t="1509" r="2065" b="1895"/>
          <a:stretch/>
        </p:blipFill>
        <p:spPr>
          <a:xfrm>
            <a:off x="609599" y="1060703"/>
            <a:ext cx="6095999" cy="3121153"/>
          </a:xfrm>
          <a:prstGeom prst="rect">
            <a:avLst/>
          </a:prstGeom>
        </p:spPr>
      </p:pic>
      <p:pic>
        <p:nvPicPr>
          <p:cNvPr id="8" name="Picture 7"/>
          <p:cNvPicPr>
            <a:picLocks noChangeAspect="1"/>
          </p:cNvPicPr>
          <p:nvPr/>
        </p:nvPicPr>
        <p:blipFill rotWithShape="1">
          <a:blip r:embed="rId3"/>
          <a:srcRect l="802" t="3221" r="2900" b="6352"/>
          <a:stretch/>
        </p:blipFill>
        <p:spPr>
          <a:xfrm>
            <a:off x="579117" y="4425695"/>
            <a:ext cx="6156961" cy="1584960"/>
          </a:xfrm>
          <a:prstGeom prst="rect">
            <a:avLst/>
          </a:prstGeom>
        </p:spPr>
      </p:pic>
    </p:spTree>
    <p:extLst>
      <p:ext uri="{BB962C8B-B14F-4D97-AF65-F5344CB8AC3E}">
        <p14:creationId xmlns:p14="http://schemas.microsoft.com/office/powerpoint/2010/main" val="3820800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smtClean="0">
                <a:solidFill>
                  <a:schemeClr val="tx1"/>
                </a:solidFill>
              </a:rPr>
              <a:t>EXPECTED RESULT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1. Improved </a:t>
            </a:r>
            <a:r>
              <a:rPr lang="en-US" sz="1800" dirty="0">
                <a:solidFill>
                  <a:schemeClr val="bg1"/>
                </a:solidFill>
                <a:latin typeface="Times New Roman" panose="02020603050405020304" pitchFamily="18" charset="0"/>
                <a:cs typeface="Times New Roman" panose="02020603050405020304" pitchFamily="18" charset="0"/>
              </a:rPr>
              <a:t>Churn Prediction </a:t>
            </a:r>
            <a:r>
              <a:rPr lang="en-US" sz="1800" dirty="0" smtClean="0">
                <a:solidFill>
                  <a:schemeClr val="bg1"/>
                </a:solidFill>
                <a:latin typeface="Times New Roman" panose="02020603050405020304" pitchFamily="18" charset="0"/>
                <a:cs typeface="Times New Roman" panose="02020603050405020304" pitchFamily="18" charset="0"/>
              </a:rPr>
              <a:t>Accuracy: </a:t>
            </a:r>
            <a:r>
              <a:rPr lang="en-US" sz="1800" b="0" dirty="0">
                <a:solidFill>
                  <a:schemeClr val="bg1"/>
                </a:solidFill>
                <a:latin typeface="Times New Roman" panose="02020603050405020304" pitchFamily="18" charset="0"/>
                <a:cs typeface="Times New Roman" panose="02020603050405020304" pitchFamily="18" charset="0"/>
              </a:rPr>
              <a:t>Achieve a higher accuracy rate in predicting customer churn, leading to early identification of at-risk customers and proactive retention efforts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2</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Reduction </a:t>
            </a:r>
            <a:r>
              <a:rPr lang="en-US" sz="1800" dirty="0">
                <a:solidFill>
                  <a:schemeClr val="bg1"/>
                </a:solidFill>
                <a:latin typeface="Times New Roman" panose="02020603050405020304" pitchFamily="18" charset="0"/>
                <a:cs typeface="Times New Roman" panose="02020603050405020304" pitchFamily="18" charset="0"/>
              </a:rPr>
              <a:t>in Churn </a:t>
            </a:r>
            <a:r>
              <a:rPr lang="en-US" sz="1800" dirty="0" smtClean="0">
                <a:solidFill>
                  <a:schemeClr val="bg1"/>
                </a:solidFill>
                <a:latin typeface="Times New Roman" panose="02020603050405020304" pitchFamily="18" charset="0"/>
                <a:cs typeface="Times New Roman" panose="02020603050405020304" pitchFamily="18" charset="0"/>
              </a:rPr>
              <a:t>Rate: </a:t>
            </a:r>
            <a:r>
              <a:rPr lang="en-US" sz="1800" b="0" dirty="0">
                <a:solidFill>
                  <a:schemeClr val="bg1"/>
                </a:solidFill>
                <a:latin typeface="Times New Roman" panose="02020603050405020304" pitchFamily="18" charset="0"/>
                <a:cs typeface="Times New Roman" panose="02020603050405020304" pitchFamily="18" charset="0"/>
              </a:rPr>
              <a:t>Realize a measurable decrease in overall churn rate among targeted customer segments, resulting in improved customer retention and reduced revenue loss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3. Enhanced </a:t>
            </a:r>
            <a:r>
              <a:rPr lang="en-US" sz="1800" dirty="0">
                <a:solidFill>
                  <a:schemeClr val="bg1"/>
                </a:solidFill>
                <a:latin typeface="Times New Roman" panose="02020603050405020304" pitchFamily="18" charset="0"/>
                <a:cs typeface="Times New Roman" panose="02020603050405020304" pitchFamily="18" charset="0"/>
              </a:rPr>
              <a:t>Customer </a:t>
            </a:r>
            <a:r>
              <a:rPr lang="en-US" sz="1800" dirty="0" smtClean="0">
                <a:solidFill>
                  <a:schemeClr val="bg1"/>
                </a:solidFill>
                <a:latin typeface="Times New Roman" panose="02020603050405020304" pitchFamily="18" charset="0"/>
                <a:cs typeface="Times New Roman" panose="02020603050405020304" pitchFamily="18" charset="0"/>
              </a:rPr>
              <a:t>Segmentation: </a:t>
            </a:r>
            <a:r>
              <a:rPr lang="en-US" sz="1800" b="0" dirty="0">
                <a:solidFill>
                  <a:schemeClr val="bg1"/>
                </a:solidFill>
                <a:latin typeface="Times New Roman" panose="02020603050405020304" pitchFamily="18" charset="0"/>
                <a:cs typeface="Times New Roman" panose="02020603050405020304" pitchFamily="18" charset="0"/>
              </a:rPr>
              <a:t>Utilize advanced segmentation to deliver personalized interventions and offers, resulting in increased customer satisfaction and loyalty</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4</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Increase </a:t>
            </a:r>
            <a:r>
              <a:rPr lang="en-US" sz="1800" dirty="0">
                <a:solidFill>
                  <a:schemeClr val="bg1"/>
                </a:solidFill>
                <a:latin typeface="Times New Roman" panose="02020603050405020304" pitchFamily="18" charset="0"/>
                <a:cs typeface="Times New Roman" panose="02020603050405020304" pitchFamily="18" charset="0"/>
              </a:rPr>
              <a:t>in Customer Lifetime Value (CLV</a:t>
            </a:r>
            <a:r>
              <a:rPr lang="en-US" sz="1800" dirty="0" smtClean="0">
                <a:solidFill>
                  <a:schemeClr val="bg1"/>
                </a:solidFill>
                <a:latin typeface="Times New Roman" panose="02020603050405020304" pitchFamily="18" charset="0"/>
                <a:cs typeface="Times New Roman" panose="02020603050405020304" pitchFamily="18" charset="0"/>
              </a:rPr>
              <a:t>): </a:t>
            </a:r>
            <a:r>
              <a:rPr lang="en-US" sz="1800" b="0" dirty="0">
                <a:solidFill>
                  <a:schemeClr val="bg1"/>
                </a:solidFill>
                <a:latin typeface="Times New Roman" panose="02020603050405020304" pitchFamily="18" charset="0"/>
                <a:cs typeface="Times New Roman" panose="02020603050405020304" pitchFamily="18" charset="0"/>
              </a:rPr>
              <a:t>Improve CLV by retaining high-value customers identified through churn prediction models, leading to higher revenue generation over the </a:t>
            </a:r>
            <a:r>
              <a:rPr lang="en-US" sz="1800" b="0" dirty="0" smtClean="0">
                <a:solidFill>
                  <a:schemeClr val="bg1"/>
                </a:solidFill>
                <a:latin typeface="Times New Roman" panose="02020603050405020304" pitchFamily="18" charset="0"/>
                <a:cs typeface="Times New Roman" panose="02020603050405020304" pitchFamily="18" charset="0"/>
              </a:rPr>
              <a:t>customer</a:t>
            </a: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15</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10818651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ctrTitle"/>
          </p:nvPr>
        </p:nvSpPr>
        <p:spPr>
          <a:xfrm>
            <a:off x="228600" y="152400"/>
            <a:ext cx="7620000" cy="609600"/>
          </a:xfrm>
        </p:spPr>
        <p:txBody>
          <a:bodyPr/>
          <a:lstStyle/>
          <a:p>
            <a:r>
              <a:rPr lang="en-US" dirty="0">
                <a:solidFill>
                  <a:schemeClr val="tx1"/>
                </a:solidFill>
              </a:rPr>
              <a:t>EXPECTED RESULT</a:t>
            </a:r>
            <a:endParaRPr lang="en-IN" dirty="0" smtClean="0">
              <a:solidFill>
                <a:schemeClr val="tx1"/>
              </a:solidFill>
            </a:endParaRPr>
          </a:p>
        </p:txBody>
      </p:sp>
      <p:sp>
        <p:nvSpPr>
          <p:cNvPr id="3" name="Subtitle 2">
            <a:extLst>
              <a:ext uri="{FF2B5EF4-FFF2-40B4-BE49-F238E27FC236}">
                <a16:creationId xmlns:a16="http://schemas.microsoft.com/office/drawing/2014/main" id="{B920B90F-3D1E-4077-1510-648C4DDE955D}"/>
              </a:ext>
            </a:extLst>
          </p:cNvPr>
          <p:cNvSpPr>
            <a:spLocks noGrp="1"/>
          </p:cNvSpPr>
          <p:nvPr>
            <p:ph type="subTitle" idx="1"/>
          </p:nvPr>
        </p:nvSpPr>
        <p:spPr>
          <a:xfrm>
            <a:off x="228600" y="1143000"/>
            <a:ext cx="8534400" cy="5410200"/>
          </a:xfrm>
        </p:spPr>
        <p:txBody>
          <a:bodyPr/>
          <a:lstStyle/>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5</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Optimized </a:t>
            </a:r>
            <a:r>
              <a:rPr lang="en-US" sz="1800" dirty="0">
                <a:solidFill>
                  <a:schemeClr val="bg1"/>
                </a:solidFill>
                <a:latin typeface="Times New Roman" panose="02020603050405020304" pitchFamily="18" charset="0"/>
                <a:cs typeface="Times New Roman" panose="02020603050405020304" pitchFamily="18" charset="0"/>
              </a:rPr>
              <a:t>Resource </a:t>
            </a:r>
            <a:r>
              <a:rPr lang="en-US" sz="1800" dirty="0" smtClean="0">
                <a:solidFill>
                  <a:schemeClr val="bg1"/>
                </a:solidFill>
                <a:latin typeface="Times New Roman" panose="02020603050405020304" pitchFamily="18" charset="0"/>
                <a:cs typeface="Times New Roman" panose="02020603050405020304" pitchFamily="18" charset="0"/>
              </a:rPr>
              <a:t>Allocation: </a:t>
            </a:r>
            <a:r>
              <a:rPr lang="en-US" sz="1800" b="0" dirty="0">
                <a:solidFill>
                  <a:schemeClr val="bg1"/>
                </a:solidFill>
                <a:latin typeface="Times New Roman" panose="02020603050405020304" pitchFamily="18" charset="0"/>
                <a:cs typeface="Times New Roman" panose="02020603050405020304" pitchFamily="18" charset="0"/>
              </a:rPr>
              <a:t>Allocate resources more efficiently by focusing efforts on retaining existing customers rather than solely acquiring new ones, leading to improved operational efficiency and cost savings</a:t>
            </a:r>
            <a:r>
              <a:rPr lang="en-US" sz="1800" b="0" dirty="0" smtClean="0">
                <a:solidFill>
                  <a:schemeClr val="bg1"/>
                </a:solidFill>
                <a:latin typeface="Times New Roman" panose="02020603050405020304" pitchFamily="18" charset="0"/>
                <a:cs typeface="Times New Roman" panose="02020603050405020304" pitchFamily="18" charset="0"/>
              </a:rPr>
              <a:t>.</a:t>
            </a:r>
          </a:p>
          <a:p>
            <a:pPr algn="just">
              <a:lnSpc>
                <a:spcPct val="150000"/>
              </a:lnSpc>
              <a:defRPr/>
            </a:pPr>
            <a:r>
              <a:rPr lang="en-US" sz="1800" dirty="0" smtClean="0">
                <a:solidFill>
                  <a:schemeClr val="bg1"/>
                </a:solidFill>
                <a:latin typeface="Times New Roman" panose="02020603050405020304" pitchFamily="18" charset="0"/>
                <a:cs typeface="Times New Roman" panose="02020603050405020304" pitchFamily="18" charset="0"/>
              </a:rPr>
              <a:t>6</a:t>
            </a:r>
            <a:r>
              <a:rPr lang="en-US" sz="1800" dirty="0">
                <a:solidFill>
                  <a:schemeClr val="bg1"/>
                </a:solidFill>
                <a:latin typeface="Times New Roman" panose="02020603050405020304" pitchFamily="18" charset="0"/>
                <a:cs typeface="Times New Roman" panose="02020603050405020304" pitchFamily="18" charset="0"/>
              </a:rPr>
              <a:t>. </a:t>
            </a:r>
            <a:r>
              <a:rPr lang="en-US" sz="1800" dirty="0" smtClean="0">
                <a:solidFill>
                  <a:schemeClr val="bg1"/>
                </a:solidFill>
                <a:latin typeface="Times New Roman" panose="02020603050405020304" pitchFamily="18" charset="0"/>
                <a:cs typeface="Times New Roman" panose="02020603050405020304" pitchFamily="18" charset="0"/>
              </a:rPr>
              <a:t>Positive </a:t>
            </a:r>
            <a:r>
              <a:rPr lang="en-US" sz="1800" dirty="0">
                <a:solidFill>
                  <a:schemeClr val="bg1"/>
                </a:solidFill>
                <a:latin typeface="Times New Roman" panose="02020603050405020304" pitchFamily="18" charset="0"/>
                <a:cs typeface="Times New Roman" panose="02020603050405020304" pitchFamily="18" charset="0"/>
              </a:rPr>
              <a:t>Impact on Revenue and </a:t>
            </a:r>
            <a:r>
              <a:rPr lang="en-US" sz="1800" dirty="0" smtClean="0">
                <a:solidFill>
                  <a:schemeClr val="bg1"/>
                </a:solidFill>
                <a:latin typeface="Times New Roman" panose="02020603050405020304" pitchFamily="18" charset="0"/>
                <a:cs typeface="Times New Roman" panose="02020603050405020304" pitchFamily="18" charset="0"/>
              </a:rPr>
              <a:t>Profitability: </a:t>
            </a:r>
            <a:r>
              <a:rPr lang="en-US" sz="1800" b="0" dirty="0">
                <a:solidFill>
                  <a:schemeClr val="bg1"/>
                </a:solidFill>
                <a:latin typeface="Times New Roman" panose="02020603050405020304" pitchFamily="18" charset="0"/>
                <a:cs typeface="Times New Roman" panose="02020603050405020304" pitchFamily="18" charset="0"/>
              </a:rPr>
              <a:t>Ultimately, achieve a positive impact on revenue and profitability through reduced churn, increased customer engagement, and optimized retention strategies.</a:t>
            </a:r>
          </a:p>
          <a:p>
            <a:pPr marL="457200" indent="-457200" algn="just">
              <a:lnSpc>
                <a:spcPct val="150000"/>
              </a:lnSpc>
              <a:buFont typeface="Arial" panose="020B0604020202020204" pitchFamily="34" charset="0"/>
              <a:buChar char="•"/>
              <a:defRPr/>
            </a:pPr>
            <a:endParaRPr lang="en-US" sz="1800" b="0" dirty="0" smtClean="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7DE002-0C0A-60FA-0FF8-5F472887A02B}"/>
              </a:ext>
            </a:extLst>
          </p:cNvPr>
          <p:cNvSpPr>
            <a:spLocks noGrp="1"/>
          </p:cNvSpPr>
          <p:nvPr>
            <p:ph type="sldNum" sz="quarter" idx="12"/>
          </p:nvPr>
        </p:nvSpPr>
        <p:spPr/>
        <p:txBody>
          <a:bodyPr/>
          <a:lstStyle/>
          <a:p>
            <a:fld id="{D3F95ACA-ACAC-4409-826B-EAD691881C06}" type="slidenum">
              <a:rPr lang="en-US"/>
              <a:pPr/>
              <a:t>16</a:t>
            </a:fld>
            <a:endParaRPr lang="en-US"/>
          </a:p>
        </p:txBody>
      </p:sp>
      <p:pic>
        <p:nvPicPr>
          <p:cNvPr id="20485" name="Picture 5"/>
          <p:cNvPicPr>
            <a:picLocks noChangeAspect="1"/>
          </p:cNvPicPr>
          <p:nvPr/>
        </p:nvPicPr>
        <p:blipFill>
          <a:blip r:embed="rId2"/>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73559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283" y="167952"/>
            <a:ext cx="8280918" cy="643812"/>
          </a:xfrm>
        </p:spPr>
        <p:txBody>
          <a:bodyPr/>
          <a:lstStyle/>
          <a:p>
            <a:r>
              <a:rPr lang="en-IN" dirty="0" smtClean="0"/>
              <a:t>CONCLUSION</a:t>
            </a:r>
            <a:endParaRPr lang="en-IN" dirty="0"/>
          </a:p>
        </p:txBody>
      </p:sp>
      <p:sp>
        <p:nvSpPr>
          <p:cNvPr id="3" name="Subtitle 2"/>
          <p:cNvSpPr>
            <a:spLocks noGrp="1"/>
          </p:cNvSpPr>
          <p:nvPr>
            <p:ph type="subTitle" idx="1"/>
          </p:nvPr>
        </p:nvSpPr>
        <p:spPr>
          <a:xfrm>
            <a:off x="177283" y="1278294"/>
            <a:ext cx="7595117" cy="4360506"/>
          </a:xfrm>
        </p:spPr>
        <p:txBody>
          <a:bodyPr/>
          <a:lstStyle/>
          <a:p>
            <a:pPr algn="l"/>
            <a:r>
              <a:rPr lang="en-US" sz="2400" b="0" dirty="0">
                <a:solidFill>
                  <a:schemeClr val="bg1"/>
                </a:solidFill>
              </a:rPr>
              <a:t>The importance of churn prediction will help many companies, mainly in telecom industries, to have a profitable income and achieve good revenue. Customer churn prediction is the major issue in the Telecom Industry, and due to this, companies are trying to keep the existing ones from leaving rather than acquiring a new customer.</a:t>
            </a:r>
            <a:endParaRPr lang="en-IN" sz="2400" b="0" dirty="0">
              <a:solidFill>
                <a:schemeClr val="bg1"/>
              </a:solidFill>
            </a:endParaRPr>
          </a:p>
        </p:txBody>
      </p:sp>
      <p:sp>
        <p:nvSpPr>
          <p:cNvPr id="4" name="Slide Number Placeholder 3"/>
          <p:cNvSpPr>
            <a:spLocks noGrp="1"/>
          </p:cNvSpPr>
          <p:nvPr>
            <p:ph type="sldNum" sz="quarter" idx="12"/>
          </p:nvPr>
        </p:nvSpPr>
        <p:spPr/>
        <p:txBody>
          <a:bodyPr/>
          <a:lstStyle/>
          <a:p>
            <a:fld id="{7E3D8A1A-F310-4C9F-9F39-DEED8B092108}" type="slidenum">
              <a:rPr lang="en-US" smtClean="0"/>
              <a:pPr/>
              <a:t>17</a:t>
            </a:fld>
            <a:endParaRPr lang="en-US"/>
          </a:p>
        </p:txBody>
      </p:sp>
    </p:spTree>
    <p:extLst>
      <p:ext uri="{BB962C8B-B14F-4D97-AF65-F5344CB8AC3E}">
        <p14:creationId xmlns:p14="http://schemas.microsoft.com/office/powerpoint/2010/main" val="2481690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18</a:t>
            </a:fld>
            <a:endParaRPr lang="en-US"/>
          </a:p>
        </p:txBody>
      </p:sp>
      <p:pic>
        <p:nvPicPr>
          <p:cNvPr id="7" name="Picture 5"/>
          <p:cNvPicPr>
            <a:picLocks noChangeAspect="1"/>
          </p:cNvPicPr>
          <p:nvPr/>
        </p:nvPicPr>
        <p:blipFill>
          <a:blip r:embed="rId3"/>
          <a:srcRect/>
          <a:stretch>
            <a:fillRect/>
          </a:stretch>
        </p:blipFill>
        <p:spPr bwMode="auto">
          <a:xfrm>
            <a:off x="8328025" y="14288"/>
            <a:ext cx="731838" cy="823912"/>
          </a:xfrm>
          <a:prstGeom prst="rect">
            <a:avLst/>
          </a:prstGeom>
          <a:noFill/>
          <a:ln w="9525">
            <a:noFill/>
            <a:miter lim="800000"/>
            <a:headEnd/>
            <a:tailEnd/>
          </a:ln>
        </p:spPr>
      </p:pic>
    </p:spTree>
    <p:extLst>
      <p:ext uri="{BB962C8B-B14F-4D97-AF65-F5344CB8AC3E}">
        <p14:creationId xmlns:p14="http://schemas.microsoft.com/office/powerpoint/2010/main" val="34678074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961</TotalTime>
  <Words>1189</Words>
  <Application>Microsoft Office PowerPoint</Application>
  <PresentationFormat>On-screen Show (4:3)</PresentationFormat>
  <Paragraphs>114</Paragraphs>
  <Slides>18</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Arial</vt:lpstr>
      <vt:lpstr>Berlin Sans FB</vt:lpstr>
      <vt:lpstr>Brush Script MT</vt:lpstr>
      <vt:lpstr>Calibri</vt:lpstr>
      <vt:lpstr>Franklin Gothic Book</vt:lpstr>
      <vt:lpstr>Times New Roman</vt:lpstr>
      <vt:lpstr>Wingdings</vt:lpstr>
      <vt:lpstr>Wingdings 2</vt:lpstr>
      <vt:lpstr>Technic</vt:lpstr>
      <vt:lpstr>Custom Design</vt:lpstr>
      <vt:lpstr>PowerPoint Presentation</vt:lpstr>
      <vt:lpstr>ABSTRACT</vt:lpstr>
      <vt:lpstr>INTRODUCTION </vt:lpstr>
      <vt:lpstr>OBJECTIVES </vt:lpstr>
      <vt:lpstr>PROPOSED APPROACH </vt:lpstr>
      <vt:lpstr>WORKFLOW</vt:lpstr>
      <vt:lpstr>LIBRARIES</vt:lpstr>
      <vt:lpstr>LIBRARIES</vt:lpstr>
      <vt:lpstr>CODING </vt:lpstr>
      <vt:lpstr>STEPS TO IMPLEMENT</vt:lpstr>
      <vt:lpstr>ALGORITHMS</vt:lpstr>
      <vt:lpstr>ALGORITHMS</vt:lpstr>
      <vt:lpstr>ALGORITHMS</vt:lpstr>
      <vt:lpstr>CODING </vt:lpstr>
      <vt:lpstr>EXPECTED RESULT</vt:lpstr>
      <vt:lpstr>EXPECTED 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NH</dc:creator>
  <cp:lastModifiedBy>home</cp:lastModifiedBy>
  <cp:revision>64</cp:revision>
  <dcterms:modified xsi:type="dcterms:W3CDTF">2024-06-12T05:50:58Z</dcterms:modified>
</cp:coreProperties>
</file>