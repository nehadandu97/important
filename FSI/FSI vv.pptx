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49" r:id="rId2"/>
  </p:sldMasterIdLst>
  <p:notesMasterIdLst>
    <p:notesMasterId r:id="rId36"/>
  </p:notesMasterIdLst>
  <p:sldIdLst>
    <p:sldId id="256" r:id="rId3"/>
    <p:sldId id="285" r:id="rId4"/>
    <p:sldId id="313" r:id="rId5"/>
    <p:sldId id="314" r:id="rId6"/>
    <p:sldId id="315" r:id="rId7"/>
    <p:sldId id="316" r:id="rId8"/>
    <p:sldId id="317" r:id="rId9"/>
    <p:sldId id="318" r:id="rId10"/>
    <p:sldId id="319" r:id="rId11"/>
    <p:sldId id="328" r:id="rId12"/>
    <p:sldId id="320" r:id="rId13"/>
    <p:sldId id="324" r:id="rId14"/>
    <p:sldId id="325" r:id="rId15"/>
    <p:sldId id="299" r:id="rId16"/>
    <p:sldId id="326" r:id="rId17"/>
    <p:sldId id="329" r:id="rId18"/>
    <p:sldId id="330" r:id="rId19"/>
    <p:sldId id="331" r:id="rId20"/>
    <p:sldId id="336" r:id="rId21"/>
    <p:sldId id="337" r:id="rId22"/>
    <p:sldId id="338" r:id="rId23"/>
    <p:sldId id="334" r:id="rId24"/>
    <p:sldId id="335" r:id="rId25"/>
    <p:sldId id="343" r:id="rId26"/>
    <p:sldId id="339" r:id="rId27"/>
    <p:sldId id="345" r:id="rId28"/>
    <p:sldId id="340" r:id="rId29"/>
    <p:sldId id="341" r:id="rId30"/>
    <p:sldId id="349" r:id="rId31"/>
    <p:sldId id="348" r:id="rId32"/>
    <p:sldId id="346" r:id="rId33"/>
    <p:sldId id="350" r:id="rId34"/>
    <p:sldId id="283" r:id="rId35"/>
  </p:sldIdLst>
  <p:sldSz cx="9144000" cy="6858000" type="screen4x3"/>
  <p:notesSz cx="7104063" cy="10234613"/>
  <p:defaultTextStyle>
    <a:defPPr lvl="0">
      <a:defRPr lang="en-US"/>
    </a:defPPr>
    <a:lvl1pPr lvl="0" algn="l" rtl="0" eaLnBrk="0" fontAlgn="base" hangingPunct="0">
      <a:spcBef>
        <a:spcPct val="0"/>
      </a:spcBef>
      <a:spcAft>
        <a:spcPct val="0"/>
      </a:spcAft>
      <a:defRPr kern="1200">
        <a:solidFill>
          <a:schemeClr val="tx1"/>
        </a:solidFill>
        <a:latin typeface="Arial" pitchFamily="34" charset="0"/>
        <a:ea typeface="+mn-ea"/>
        <a:cs typeface="Arial" pitchFamily="34" charset="0"/>
      </a:defRPr>
    </a:lvl1pPr>
    <a:lvl2pPr marL="457200" lvl="1" algn="l" rtl="0" eaLnBrk="0" fontAlgn="base" hangingPunct="0">
      <a:spcBef>
        <a:spcPct val="0"/>
      </a:spcBef>
      <a:spcAft>
        <a:spcPct val="0"/>
      </a:spcAft>
      <a:defRPr kern="1200">
        <a:solidFill>
          <a:schemeClr val="tx1"/>
        </a:solidFill>
        <a:latin typeface="Arial" pitchFamily="34" charset="0"/>
        <a:ea typeface="+mn-ea"/>
        <a:cs typeface="Arial" pitchFamily="34" charset="0"/>
      </a:defRPr>
    </a:lvl2pPr>
    <a:lvl3pPr marL="914400" lvl="2" algn="l" rtl="0" eaLnBrk="0" fontAlgn="base" hangingPunct="0">
      <a:spcBef>
        <a:spcPct val="0"/>
      </a:spcBef>
      <a:spcAft>
        <a:spcPct val="0"/>
      </a:spcAft>
      <a:defRPr kern="1200">
        <a:solidFill>
          <a:schemeClr val="tx1"/>
        </a:solidFill>
        <a:latin typeface="Arial" pitchFamily="34" charset="0"/>
        <a:ea typeface="+mn-ea"/>
        <a:cs typeface="Arial" pitchFamily="34" charset="0"/>
      </a:defRPr>
    </a:lvl3pPr>
    <a:lvl4pPr marL="1371600" lvl="3" algn="l" rtl="0" eaLnBrk="0" fontAlgn="base" hangingPunct="0">
      <a:spcBef>
        <a:spcPct val="0"/>
      </a:spcBef>
      <a:spcAft>
        <a:spcPct val="0"/>
      </a:spcAft>
      <a:defRPr kern="1200">
        <a:solidFill>
          <a:schemeClr val="tx1"/>
        </a:solidFill>
        <a:latin typeface="Arial" pitchFamily="34" charset="0"/>
        <a:ea typeface="+mn-ea"/>
        <a:cs typeface="Arial" pitchFamily="34" charset="0"/>
      </a:defRPr>
    </a:lvl4pPr>
    <a:lvl5pPr marL="1828800" lvl="4" algn="l" rtl="0" eaLnBrk="0" fontAlgn="base" hangingPunct="0">
      <a:spcBef>
        <a:spcPct val="0"/>
      </a:spcBef>
      <a:spcAft>
        <a:spcPct val="0"/>
      </a:spcAft>
      <a:defRPr kern="1200">
        <a:solidFill>
          <a:schemeClr val="tx1"/>
        </a:solidFill>
        <a:latin typeface="Arial" pitchFamily="34" charset="0"/>
        <a:ea typeface="+mn-ea"/>
        <a:cs typeface="Arial" pitchFamily="34" charset="0"/>
      </a:defRPr>
    </a:lvl5pPr>
    <a:lvl6pPr marL="2286000" lvl="5" algn="l" defTabSz="914400" rtl="0" eaLnBrk="1" latinLnBrk="0" hangingPunct="1">
      <a:defRPr kern="1200">
        <a:solidFill>
          <a:schemeClr val="tx1"/>
        </a:solidFill>
        <a:latin typeface="Arial" pitchFamily="34" charset="0"/>
        <a:ea typeface="+mn-ea"/>
        <a:cs typeface="Arial" pitchFamily="34" charset="0"/>
      </a:defRPr>
    </a:lvl6pPr>
    <a:lvl7pPr marL="2743200" lvl="6" algn="l" defTabSz="914400" rtl="0" eaLnBrk="1" latinLnBrk="0" hangingPunct="1">
      <a:defRPr kern="1200">
        <a:solidFill>
          <a:schemeClr val="tx1"/>
        </a:solidFill>
        <a:latin typeface="Arial" pitchFamily="34" charset="0"/>
        <a:ea typeface="+mn-ea"/>
        <a:cs typeface="Arial" pitchFamily="34" charset="0"/>
      </a:defRPr>
    </a:lvl7pPr>
    <a:lvl8pPr marL="3200400" lvl="7" algn="l" defTabSz="914400" rtl="0" eaLnBrk="1" latinLnBrk="0" hangingPunct="1">
      <a:defRPr kern="1200">
        <a:solidFill>
          <a:schemeClr val="tx1"/>
        </a:solidFill>
        <a:latin typeface="Arial" pitchFamily="34" charset="0"/>
        <a:ea typeface="+mn-ea"/>
        <a:cs typeface="Arial" pitchFamily="34" charset="0"/>
      </a:defRPr>
    </a:lvl8pPr>
    <a:lvl9pPr marL="3657600" lvl="8"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orient="horz" pos="3224">
          <p15:clr>
            <a:srgbClr val="000000"/>
          </p15:clr>
        </p15:guide>
        <p15:guide id="3" pos="2160">
          <p15:clr>
            <a:srgbClr val="000000"/>
          </p15:clr>
        </p15:guide>
        <p15:guide id="4" pos="2238">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snapToGrid="0">
      <p:cViewPr varScale="1">
        <p:scale>
          <a:sx n="87" d="100"/>
          <a:sy n="87" d="100"/>
        </p:scale>
        <p:origin x="1022" y="58"/>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orient="horz" pos="3224"/>
        <p:guide pos="2160"/>
        <p:guide pos="223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29" name="Header Placeholder 1"/>
          <p:cNvSpPr>
            <a:spLocks noGrp="1"/>
          </p:cNvSpPr>
          <p:nvPr>
            <p:ph type="hdr" sz="quarter"/>
          </p:nvPr>
        </p:nvSpPr>
        <p:spPr>
          <a:xfrm>
            <a:off x="0" y="0"/>
            <a:ext cx="3078163" cy="511175"/>
          </a:xfrm>
          <a:prstGeom prst="rect">
            <a:avLst/>
          </a:prstGeom>
        </p:spPr>
        <p:txBody>
          <a:bodyPr vert="horz" lIns="99075" tIns="49538" rIns="99075" bIns="49538"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1048730" name="Date Placeholder 2"/>
          <p:cNvSpPr>
            <a:spLocks noGrp="1"/>
          </p:cNvSpPr>
          <p:nvPr>
            <p:ph type="dt" idx="1"/>
          </p:nvPr>
        </p:nvSpPr>
        <p:spPr>
          <a:xfrm>
            <a:off x="4024313" y="0"/>
            <a:ext cx="3078162" cy="511175"/>
          </a:xfrm>
          <a:prstGeom prst="rect">
            <a:avLst/>
          </a:prstGeom>
        </p:spPr>
        <p:txBody>
          <a:bodyPr vert="horz" lIns="99075" tIns="49538" rIns="99075" bIns="49538" rtlCol="0"/>
          <a:lstStyle>
            <a:lvl1pPr algn="r" eaLnBrk="1" fontAlgn="auto" hangingPunct="1">
              <a:spcBef>
                <a:spcPts val="0"/>
              </a:spcBef>
              <a:spcAft>
                <a:spcPts val="0"/>
              </a:spcAft>
              <a:defRPr sz="1300">
                <a:latin typeface="+mn-lt"/>
                <a:cs typeface="+mn-cs"/>
              </a:defRPr>
            </a:lvl1pPr>
          </a:lstStyle>
          <a:p>
            <a:pPr>
              <a:defRPr/>
            </a:pPr>
            <a:fld id="{79632D85-81B2-4939-9A60-F41EB6CE5E65}" type="datetimeFigureOut">
              <a:rPr lang="en-US"/>
              <a:pPr>
                <a:defRPr/>
              </a:pPr>
              <a:t>5/1/2025</a:t>
            </a:fld>
            <a:endParaRPr lang="en-US"/>
          </a:p>
        </p:txBody>
      </p:sp>
      <p:sp>
        <p:nvSpPr>
          <p:cNvPr id="1048731" name="Slide Image Placeholder 3"/>
          <p:cNvSpPr>
            <a:spLocks noGrp="1" noRot="1" noChangeAspect="1"/>
          </p:cNvSpPr>
          <p:nvPr>
            <p:ph type="sldImg" idx="2"/>
          </p:nvPr>
        </p:nvSpPr>
        <p:spPr>
          <a:xfrm>
            <a:off x="995363" y="768350"/>
            <a:ext cx="5113337" cy="3836988"/>
          </a:xfrm>
          <a:prstGeom prst="rect">
            <a:avLst/>
          </a:prstGeom>
          <a:noFill/>
          <a:ln w="12700">
            <a:solidFill>
              <a:prstClr val="black"/>
            </a:solidFill>
          </a:ln>
        </p:spPr>
        <p:txBody>
          <a:bodyPr vert="horz" lIns="99075" tIns="49538" rIns="99075" bIns="49538" rtlCol="0" anchor="ctr"/>
          <a:lstStyle/>
          <a:p>
            <a:pPr lvl="0"/>
            <a:endParaRPr lang="en-US" noProof="0"/>
          </a:p>
        </p:txBody>
      </p:sp>
      <p:sp>
        <p:nvSpPr>
          <p:cNvPr id="1048732" name="Notes Placeholder 4"/>
          <p:cNvSpPr>
            <a:spLocks noGrp="1"/>
          </p:cNvSpPr>
          <p:nvPr>
            <p:ph type="body" sz="quarter" idx="3"/>
          </p:nvPr>
        </p:nvSpPr>
        <p:spPr>
          <a:xfrm>
            <a:off x="711200" y="4860925"/>
            <a:ext cx="5683250" cy="4605338"/>
          </a:xfrm>
          <a:prstGeom prst="rect">
            <a:avLst/>
          </a:prstGeom>
        </p:spPr>
        <p:txBody>
          <a:bodyPr vert="horz" lIns="99075" tIns="49538" rIns="99075" bIns="4953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8733" name="Footer Placeholder 5"/>
          <p:cNvSpPr>
            <a:spLocks noGrp="1"/>
          </p:cNvSpPr>
          <p:nvPr>
            <p:ph type="ftr" sz="quarter" idx="4"/>
          </p:nvPr>
        </p:nvSpPr>
        <p:spPr>
          <a:xfrm>
            <a:off x="0" y="9721850"/>
            <a:ext cx="3078163" cy="511175"/>
          </a:xfrm>
          <a:prstGeom prst="rect">
            <a:avLst/>
          </a:prstGeom>
        </p:spPr>
        <p:txBody>
          <a:bodyPr vert="horz" lIns="99075" tIns="49538" rIns="99075" bIns="49538"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1048734" name="Slide Number Placeholder 6"/>
          <p:cNvSpPr>
            <a:spLocks noGrp="1"/>
          </p:cNvSpPr>
          <p:nvPr>
            <p:ph type="sldNum" sz="quarter" idx="5"/>
          </p:nvPr>
        </p:nvSpPr>
        <p:spPr>
          <a:xfrm>
            <a:off x="4024313" y="9721850"/>
            <a:ext cx="3078162" cy="511175"/>
          </a:xfrm>
          <a:prstGeom prst="rect">
            <a:avLst/>
          </a:prstGeom>
        </p:spPr>
        <p:txBody>
          <a:bodyPr vert="horz" wrap="square" lIns="99075" tIns="49538" rIns="99075" bIns="49538" numCol="1" anchor="b" anchorCtr="0" compatLnSpc="1">
            <a:prstTxWarp prst="textNoShape">
              <a:avLst/>
            </a:prstTxWarp>
          </a:bodyPr>
          <a:lstStyle>
            <a:lvl1pPr algn="r" eaLnBrk="1" hangingPunct="1">
              <a:defRPr sz="1300">
                <a:latin typeface="Calibri" pitchFamily="34" charset="0"/>
              </a:defRPr>
            </a:lvl1pPr>
          </a:lstStyle>
          <a:p>
            <a:fld id="{722DFA5A-79E3-4533-A1E0-79252CADEB2C}"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Freeform 2"/>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4" name="Freeform 3"/>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48671" name="Title 8"/>
          <p:cNvSpPr>
            <a:spLocks noGrp="1"/>
          </p:cNvSpPr>
          <p:nvPr>
            <p:ph type="ctrTitle"/>
          </p:nvPr>
        </p:nvSpPr>
        <p:spPr>
          <a:xfrm>
            <a:off x="457200" y="1752600"/>
            <a:ext cx="6629400" cy="2590800"/>
          </a:xfrm>
        </p:spPr>
        <p:txBody>
          <a:bodyPr anchor="t"/>
          <a:lstStyle>
            <a:lvl1pPr algn="ct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en-US"/>
              <a:t>Click to edit Master title style</a:t>
            </a:r>
          </a:p>
        </p:txBody>
      </p:sp>
      <p:sp>
        <p:nvSpPr>
          <p:cNvPr id="5" name="Date Placeholder 29"/>
          <p:cNvSpPr>
            <a:spLocks noGrp="1"/>
          </p:cNvSpPr>
          <p:nvPr>
            <p:ph type="dt" sz="half" idx="10"/>
          </p:nvPr>
        </p:nvSpPr>
        <p:spPr/>
        <p:txBody>
          <a:bodyPr/>
          <a:lstStyle>
            <a:lvl1pPr>
              <a:defRPr b="1">
                <a:solidFill>
                  <a:schemeClr val="tx1"/>
                </a:solidFill>
              </a:defRPr>
            </a:lvl1pPr>
          </a:lstStyle>
          <a:p>
            <a:pPr>
              <a:defRPr/>
            </a:pPr>
            <a:fld id="{FC3E349C-3BB1-4441-9598-7385183D9E03}" type="datetime4">
              <a:rPr lang="en-US"/>
              <a:pPr>
                <a:defRPr/>
              </a:pPr>
              <a:t>May 1, 2025</a:t>
            </a:fld>
            <a:endParaRPr lang="en-US"/>
          </a:p>
        </p:txBody>
      </p:sp>
      <p:sp>
        <p:nvSpPr>
          <p:cNvPr id="6" name="Footer Placeholder 18"/>
          <p:cNvSpPr>
            <a:spLocks noGrp="1"/>
          </p:cNvSpPr>
          <p:nvPr>
            <p:ph type="ftr" sz="quarter" idx="11"/>
          </p:nvPr>
        </p:nvSpPr>
        <p:spPr/>
        <p:txBody>
          <a:bodyPr/>
          <a:lstStyle>
            <a:lvl1pPr>
              <a:defRPr b="1">
                <a:solidFill>
                  <a:schemeClr val="tx1"/>
                </a:solidFill>
              </a:defRPr>
            </a:lvl1pPr>
          </a:lstStyle>
          <a:p>
            <a:pPr>
              <a:defRPr/>
            </a:pPr>
            <a:r>
              <a:rPr lang="en-US"/>
              <a:t>MSRIT, Bangalore - 54</a:t>
            </a:r>
          </a:p>
        </p:txBody>
      </p:sp>
      <p:sp>
        <p:nvSpPr>
          <p:cNvPr id="7" name="Slide Number Placeholder 26"/>
          <p:cNvSpPr>
            <a:spLocks noGrp="1"/>
          </p:cNvSpPr>
          <p:nvPr>
            <p:ph type="sldNum" sz="quarter" idx="12"/>
          </p:nvPr>
        </p:nvSpPr>
        <p:spPr/>
        <p:txBody>
          <a:bodyPr/>
          <a:lstStyle>
            <a:lvl1pPr>
              <a:defRPr/>
            </a:lvl1pPr>
          </a:lstStyle>
          <a:p>
            <a:fld id="{3AAB8470-621A-4D5F-8E5C-868FB963F40A}"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9" name="Title 1"/>
          <p:cNvSpPr>
            <a:spLocks noGrp="1"/>
          </p:cNvSpPr>
          <p:nvPr>
            <p:ph type="title"/>
          </p:nvPr>
        </p:nvSpPr>
        <p:spPr>
          <a:xfrm>
            <a:off x="228600" y="152400"/>
            <a:ext cx="7696200" cy="990600"/>
          </a:xfrm>
        </p:spPr>
        <p:txBody>
          <a:bodyPr/>
          <a:lstStyle>
            <a:lvl1pPr algn="l"/>
          </a:lstStyle>
          <a:p>
            <a:r>
              <a:rPr lang="en-US"/>
              <a:t>Click to edit Master title style</a:t>
            </a:r>
          </a:p>
        </p:txBody>
      </p:sp>
      <p:sp>
        <p:nvSpPr>
          <p:cNvPr id="1048600" name="Content Placeholder 2"/>
          <p:cNvSpPr>
            <a:spLocks noGrp="1"/>
          </p:cNvSpPr>
          <p:nvPr>
            <p:ph idx="1"/>
          </p:nvPr>
        </p:nvSpPr>
        <p:spPr>
          <a:xfrm>
            <a:off x="228600" y="1371600"/>
            <a:ext cx="8610600" cy="4678363"/>
          </a:xfrm>
        </p:spPr>
        <p:txBody>
          <a:bodyPr/>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001000" y="0"/>
            <a:ext cx="1143000" cy="228600"/>
          </a:xfrm>
        </p:spPr>
        <p:txBody>
          <a:bodyPr anchor="t"/>
          <a:lstStyle>
            <a:lvl1pPr>
              <a:defRPr/>
            </a:lvl1pPr>
          </a:lstStyle>
          <a:p>
            <a:pPr>
              <a:defRPr/>
            </a:pPr>
            <a:fld id="{4A4C099B-A88E-433C-B393-79A5FD6CFF9D}" type="datetime4">
              <a:rPr lang="en-US"/>
              <a:pPr>
                <a:defRPr/>
              </a:pPr>
              <a:t>May 1, 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5"/>
          <p:cNvSpPr>
            <a:spLocks noGrp="1"/>
          </p:cNvSpPr>
          <p:nvPr>
            <p:ph type="sldNum" sz="quarter" idx="12"/>
          </p:nvPr>
        </p:nvSpPr>
        <p:spPr/>
        <p:txBody>
          <a:bodyPr/>
          <a:lstStyle>
            <a:lvl1pPr>
              <a:defRPr/>
            </a:lvl1pPr>
          </a:lstStyle>
          <a:p>
            <a:fld id="{B01A9520-9C13-42F6-B778-5D2C2F9052DA}"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Freeform 2"/>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4" name="Freeform 3"/>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48692" name="Title 1"/>
          <p:cNvSpPr>
            <a:spLocks noGrp="1"/>
          </p:cNvSpPr>
          <p:nvPr>
            <p:ph type="title"/>
          </p:nvPr>
        </p:nvSpPr>
        <p:spPr>
          <a:xfrm>
            <a:off x="609600" y="2133600"/>
            <a:ext cx="6629400" cy="1826363"/>
          </a:xfrm>
        </p:spPr>
        <p:txBody>
          <a:bodyPr tIns="0" bIns="0" anchor="t">
            <a:noAutofit/>
          </a:bodyPr>
          <a:lstStyle>
            <a:lvl1pPr algn="l">
              <a:buNone/>
              <a:defRPr sz="6600" b="1" cap="none" spc="0" baseline="0">
                <a:ln w="18415" cmpd="sng">
                  <a:solidFill>
                    <a:srgbClr val="FFFFFF"/>
                  </a:solidFill>
                  <a:prstDash val="solid"/>
                </a:ln>
                <a:solidFill>
                  <a:srgbClr val="FFFFFF"/>
                </a:solidFill>
                <a:effectLst>
                  <a:outerShdw blurRad="63500" dir="3600000" algn="tl" rotWithShape="0">
                    <a:srgbClr val="000000">
                      <a:alpha val="70000"/>
                    </a:srgbClr>
                  </a:outerShdw>
                </a:effectLst>
                <a:latin typeface="Brush Script MT" pitchFamily="66" charset="0"/>
              </a:defRPr>
            </a:lvl1pPr>
          </a:lstStyle>
          <a:p>
            <a:r>
              <a:rPr lang="en-US" dirty="0"/>
              <a:t>Click to edit Master title style</a:t>
            </a:r>
          </a:p>
        </p:txBody>
      </p:sp>
      <p:sp>
        <p:nvSpPr>
          <p:cNvPr id="5" name="Date Placeholder 3"/>
          <p:cNvSpPr>
            <a:spLocks noGrp="1"/>
          </p:cNvSpPr>
          <p:nvPr>
            <p:ph type="dt" sz="half" idx="10"/>
          </p:nvPr>
        </p:nvSpPr>
        <p:spPr>
          <a:xfrm>
            <a:off x="7924800" y="0"/>
            <a:ext cx="1219200" cy="284163"/>
          </a:xfrm>
        </p:spPr>
        <p:txBody>
          <a:bodyPr anchor="t"/>
          <a:lstStyle>
            <a:lvl1pPr>
              <a:defRPr/>
            </a:lvl1pPr>
          </a:lstStyle>
          <a:p>
            <a:pPr>
              <a:defRPr/>
            </a:pPr>
            <a:fld id="{8CFCA4A3-FFE7-450D-AB01-591E1F108729}" type="datetime4">
              <a:rPr lang="en-US"/>
              <a:pPr>
                <a:defRPr/>
              </a:pPr>
              <a:t>May 1, 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5"/>
          <p:cNvSpPr>
            <a:spLocks noGrp="1"/>
          </p:cNvSpPr>
          <p:nvPr>
            <p:ph type="sldNum" sz="quarter" idx="12"/>
          </p:nvPr>
        </p:nvSpPr>
        <p:spPr/>
        <p:txBody>
          <a:bodyPr/>
          <a:lstStyle>
            <a:lvl1pPr>
              <a:defRPr/>
            </a:lvl1pPr>
          </a:lstStyle>
          <a:p>
            <a:fld id="{825C13BF-B321-4287-839C-07C6ACB0A795}"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17" name="Title 1"/>
          <p:cNvSpPr>
            <a:spLocks noGrp="1"/>
          </p:cNvSpPr>
          <p:nvPr>
            <p:ph type="title"/>
          </p:nvPr>
        </p:nvSpPr>
        <p:spPr>
          <a:xfrm>
            <a:off x="457200" y="274638"/>
            <a:ext cx="7467600" cy="1143000"/>
          </a:xfrm>
        </p:spPr>
        <p:txBody>
          <a:bodyPr/>
          <a:lstStyle/>
          <a:p>
            <a:r>
              <a:rPr lang="en-US"/>
              <a:t>Click to edit Master title style</a:t>
            </a:r>
          </a:p>
        </p:txBody>
      </p:sp>
      <p:sp>
        <p:nvSpPr>
          <p:cNvPr id="1048718" name="Content Placeholder 2"/>
          <p:cNvSpPr>
            <a:spLocks noGrp="1"/>
          </p:cNvSpPr>
          <p:nvPr>
            <p:ph sz="half" idx="1"/>
          </p:nvPr>
        </p:nvSpPr>
        <p:spPr>
          <a:xfrm>
            <a:off x="457200" y="1600200"/>
            <a:ext cx="3657600" cy="4525963"/>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9" name="Content Placeholder 3"/>
          <p:cNvSpPr>
            <a:spLocks noGrp="1"/>
          </p:cNvSpPr>
          <p:nvPr>
            <p:ph sz="half" idx="2"/>
          </p:nvPr>
        </p:nvSpPr>
        <p:spPr>
          <a:xfrm>
            <a:off x="4267200" y="1600200"/>
            <a:ext cx="3657600" cy="4525963"/>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001000" y="0"/>
            <a:ext cx="1143000" cy="365125"/>
          </a:xfrm>
        </p:spPr>
        <p:txBody>
          <a:bodyPr anchor="t"/>
          <a:lstStyle>
            <a:lvl1pPr>
              <a:defRPr/>
            </a:lvl1pPr>
          </a:lstStyle>
          <a:p>
            <a:pPr>
              <a:defRPr/>
            </a:pPr>
            <a:fld id="{6F8267F7-E5E9-42FD-9E6A-B755052B2DA0}" type="datetime4">
              <a:rPr lang="en-US"/>
              <a:pPr>
                <a:defRPr/>
              </a:pPr>
              <a:t>May 1, 2025</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p:txBody>
          <a:bodyPr/>
          <a:lstStyle>
            <a:lvl1pPr>
              <a:defRPr/>
            </a:lvl1pPr>
          </a:lstStyle>
          <a:p>
            <a:fld id="{4EAEBFF4-474F-42E8-B530-9F7EEBB83E59}"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96" name="Title 1"/>
          <p:cNvSpPr>
            <a:spLocks noGrp="1"/>
          </p:cNvSpPr>
          <p:nvPr>
            <p:ph type="title"/>
          </p:nvPr>
        </p:nvSpPr>
        <p:spPr>
          <a:xfrm>
            <a:off x="457200" y="273050"/>
            <a:ext cx="8229600" cy="1143000"/>
          </a:xfrm>
        </p:spPr>
        <p:txBody>
          <a:bodyPr/>
          <a:lstStyle/>
          <a:p>
            <a:r>
              <a:rPr lang="en-US"/>
              <a:t>Click to edit Master title style</a:t>
            </a:r>
          </a:p>
        </p:txBody>
      </p:sp>
      <p:sp>
        <p:nvSpPr>
          <p:cNvPr id="1048697" name="Text Placeholder 2"/>
          <p:cNvSpPr>
            <a:spLocks noGrp="1"/>
          </p:cNvSpPr>
          <p:nvPr>
            <p:ph type="body" idx="1"/>
          </p:nvPr>
        </p:nvSpPr>
        <p:spPr>
          <a:xfrm>
            <a:off x="457200" y="5486400"/>
            <a:ext cx="4040188"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dirty="0"/>
              <a:t>Click to edit Master text styles</a:t>
            </a:r>
          </a:p>
        </p:txBody>
      </p:sp>
      <p:sp>
        <p:nvSpPr>
          <p:cNvPr id="1048698" name="Text Placeholder 3"/>
          <p:cNvSpPr>
            <a:spLocks noGrp="1"/>
          </p:cNvSpPr>
          <p:nvPr>
            <p:ph type="body" sz="half" idx="3"/>
          </p:nvPr>
        </p:nvSpPr>
        <p:spPr>
          <a:xfrm>
            <a:off x="4645025" y="5486400"/>
            <a:ext cx="4041775"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048699" name="Content Placeholder 4"/>
          <p:cNvSpPr>
            <a:spLocks noGrp="1"/>
          </p:cNvSpPr>
          <p:nvPr>
            <p:ph sz="quarter" idx="2"/>
          </p:nvPr>
        </p:nvSpPr>
        <p:spPr>
          <a:xfrm>
            <a:off x="457200" y="1516912"/>
            <a:ext cx="4040188" cy="3941763"/>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0" name="Content Placeholder 5"/>
          <p:cNvSpPr>
            <a:spLocks noGrp="1"/>
          </p:cNvSpPr>
          <p:nvPr>
            <p:ph sz="quarter" idx="4"/>
          </p:nvPr>
        </p:nvSpPr>
        <p:spPr>
          <a:xfrm>
            <a:off x="4645025" y="1516912"/>
            <a:ext cx="4041775" cy="3941763"/>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001000" y="0"/>
            <a:ext cx="1143000" cy="365125"/>
          </a:xfrm>
        </p:spPr>
        <p:txBody>
          <a:bodyPr anchor="t"/>
          <a:lstStyle>
            <a:lvl1pPr>
              <a:defRPr/>
            </a:lvl1pPr>
          </a:lstStyle>
          <a:p>
            <a:pPr>
              <a:defRPr/>
            </a:pPr>
            <a:fld id="{D0F435B1-29E4-49BD-A149-C5555E043C0E}" type="datetime4">
              <a:rPr lang="en-US"/>
              <a:pPr>
                <a:defRPr/>
              </a:pPr>
              <a:t>May 1, 2025</a:t>
            </a:fld>
            <a:endParaRPr lang="en-US" dirty="0"/>
          </a:p>
        </p:txBody>
      </p:sp>
      <p:sp>
        <p:nvSpPr>
          <p:cNvPr id="8" name="Footer Placeholder 7"/>
          <p:cNvSpPr>
            <a:spLocks noGrp="1"/>
          </p:cNvSpPr>
          <p:nvPr>
            <p:ph type="ftr" sz="quarter" idx="11"/>
          </p:nvPr>
        </p:nvSpPr>
        <p:spPr/>
        <p:txBody>
          <a:bodyPr/>
          <a:lstStyle>
            <a:lvl1pPr>
              <a:defRPr/>
            </a:lvl1pPr>
          </a:lstStyle>
          <a:p>
            <a:pPr>
              <a:defRPr/>
            </a:pPr>
            <a:r>
              <a:rPr lang="en-US"/>
              <a:t>MSRIT, Bangalore - 54</a:t>
            </a:r>
          </a:p>
        </p:txBody>
      </p:sp>
      <p:sp>
        <p:nvSpPr>
          <p:cNvPr id="9" name="Slide Number Placeholder 8"/>
          <p:cNvSpPr>
            <a:spLocks noGrp="1"/>
          </p:cNvSpPr>
          <p:nvPr>
            <p:ph type="sldNum" sz="quarter" idx="12"/>
          </p:nvPr>
        </p:nvSpPr>
        <p:spPr/>
        <p:txBody>
          <a:bodyPr/>
          <a:lstStyle>
            <a:lvl1pPr>
              <a:defRPr/>
            </a:lvl1pPr>
          </a:lstStyle>
          <a:p>
            <a:fld id="{F29097ED-38EA-4005-BCCB-17081F174C5F}"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75" name="Title 1"/>
          <p:cNvSpPr>
            <a:spLocks noGrp="1"/>
          </p:cNvSpPr>
          <p:nvPr>
            <p:ph type="title"/>
          </p:nvPr>
        </p:nvSpPr>
        <p:spPr>
          <a:xfrm>
            <a:off x="457200" y="274320"/>
            <a:ext cx="7470648" cy="1143000"/>
          </a:xfrm>
        </p:spPr>
        <p:txBody>
          <a:bodyPr/>
          <a:lstStyle>
            <a:lvl1pPr algn="l">
              <a:defRPr sz="4600"/>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9156AE75-B3FB-49D0-B7E0-54938871B5E8}" type="datetime4">
              <a:rPr lang="en-US"/>
              <a:pPr>
                <a:defRPr/>
              </a:pPr>
              <a:t>May 1, 2025</a:t>
            </a:fld>
            <a:endParaRPr lang="en-US"/>
          </a:p>
        </p:txBody>
      </p:sp>
      <p:sp>
        <p:nvSpPr>
          <p:cNvPr id="4" name="Footer Placeholder 21"/>
          <p:cNvSpPr>
            <a:spLocks noGrp="1"/>
          </p:cNvSpPr>
          <p:nvPr>
            <p:ph type="ftr" sz="quarter" idx="11"/>
          </p:nvPr>
        </p:nvSpPr>
        <p:spPr/>
        <p:txBody>
          <a:bodyPr/>
          <a:lstStyle>
            <a:lvl1pPr>
              <a:defRPr/>
            </a:lvl1pPr>
          </a:lstStyle>
          <a:p>
            <a:pPr>
              <a:defRPr/>
            </a:pPr>
            <a:r>
              <a:rPr lang="en-US"/>
              <a:t>MSRIT, Bangalore - 54</a:t>
            </a:r>
          </a:p>
        </p:txBody>
      </p:sp>
      <p:sp>
        <p:nvSpPr>
          <p:cNvPr id="5" name="Slide Number Placeholder 17"/>
          <p:cNvSpPr>
            <a:spLocks noGrp="1"/>
          </p:cNvSpPr>
          <p:nvPr>
            <p:ph type="sldNum" sz="quarter" idx="12"/>
          </p:nvPr>
        </p:nvSpPr>
        <p:spPr/>
        <p:txBody>
          <a:bodyPr/>
          <a:lstStyle>
            <a:lvl1pPr>
              <a:defRPr/>
            </a:lvl1pPr>
          </a:lstStyle>
          <a:p>
            <a:fld id="{4F4A914D-FADC-41DA-801A-A2DE0BD96A02}"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916CF7BD-80D7-4182-9023-2FD14B7C52EA}" type="datetime4">
              <a:rPr lang="en-US"/>
              <a:pPr>
                <a:defRPr/>
              </a:pPr>
              <a:t>May 1, 2025</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t>MSRIT, Bangalore - 54</a:t>
            </a:r>
          </a:p>
        </p:txBody>
      </p:sp>
      <p:sp>
        <p:nvSpPr>
          <p:cNvPr id="4" name="Slide Number Placeholder 17"/>
          <p:cNvSpPr>
            <a:spLocks noGrp="1"/>
          </p:cNvSpPr>
          <p:nvPr>
            <p:ph type="sldNum" sz="quarter" idx="12"/>
          </p:nvPr>
        </p:nvSpPr>
        <p:spPr/>
        <p:txBody>
          <a:bodyPr/>
          <a:lstStyle>
            <a:lvl1pPr>
              <a:defRPr/>
            </a:lvl1pPr>
          </a:lstStyle>
          <a:p>
            <a:fld id="{8F5E18D7-4F5F-402B-8C89-01E5A229D9FC}"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23"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lang="en-US"/>
              <a:t>Click to edit Master title style</a:t>
            </a:r>
          </a:p>
        </p:txBody>
      </p:sp>
      <p:sp>
        <p:nvSpPr>
          <p:cNvPr id="1048724"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b="1"/>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048725" name="Content Placeholder 3"/>
          <p:cNvSpPr>
            <a:spLocks noGrp="1"/>
          </p:cNvSpPr>
          <p:nvPr>
            <p:ph sz="half" idx="1"/>
          </p:nvPr>
        </p:nvSpPr>
        <p:spPr>
          <a:xfrm>
            <a:off x="457200" y="1981200"/>
            <a:ext cx="7086600" cy="3810000"/>
          </a:xfrm>
        </p:spPr>
        <p:txBody>
          <a:bodyPr/>
          <a:lstStyle>
            <a:lvl1pPr>
              <a:defRPr sz="2800" b="1"/>
            </a:lvl1pPr>
            <a:lvl2pPr>
              <a:defRPr sz="2400" b="1"/>
            </a:lvl2pPr>
            <a:lvl3pPr>
              <a:defRPr sz="2200" b="1"/>
            </a:lvl3pPr>
            <a:lvl4pPr>
              <a:defRPr sz="2000" b="1"/>
            </a:lvl4pPr>
            <a:lvl5pPr>
              <a:defRPr sz="20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F3C76DBD-8BC9-4C62-93AD-EBB15ADB9BC9}" type="datetime4">
              <a:rPr lang="en-US"/>
              <a:pPr>
                <a:defRPr/>
              </a:pPr>
              <a:t>May 1, 2025</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a:xfrm>
            <a:off x="8156575" y="6421438"/>
            <a:ext cx="762000" cy="365125"/>
          </a:xfrm>
        </p:spPr>
        <p:txBody>
          <a:bodyPr/>
          <a:lstStyle>
            <a:lvl1pPr>
              <a:defRPr/>
            </a:lvl1pPr>
          </a:lstStyle>
          <a:p>
            <a:fld id="{51D4C46A-DD38-4B9B-9F42-63AD57C6933D}"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84" name="Title 1"/>
          <p:cNvSpPr>
            <a:spLocks noGrp="1"/>
          </p:cNvSpPr>
          <p:nvPr>
            <p:ph type="title"/>
          </p:nvPr>
        </p:nvSpPr>
        <p:spPr>
          <a:xfrm>
            <a:off x="5562600" y="1219200"/>
            <a:ext cx="3053868" cy="1253808"/>
          </a:xfrm>
        </p:spPr>
        <p:txBody>
          <a:bodyPr anchor="b"/>
          <a:lstStyle>
            <a:lvl1pPr algn="l">
              <a:buNone/>
              <a:defRPr sz="2200" b="1">
                <a:solidFill>
                  <a:srgbClr val="FFD03B"/>
                </a:solidFill>
              </a:defRPr>
            </a:lvl1pPr>
          </a:lstStyle>
          <a:p>
            <a:r>
              <a:rPr lang="en-US"/>
              <a:t>Click to edit Master title style</a:t>
            </a:r>
          </a:p>
        </p:txBody>
      </p:sp>
      <p:sp>
        <p:nvSpPr>
          <p:cNvPr id="1048685"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en-US" noProof="0"/>
              <a:t>Click icon to add picture</a:t>
            </a:r>
            <a:endParaRPr lang="en-US" noProof="0" dirty="0"/>
          </a:p>
        </p:txBody>
      </p:sp>
      <p:sp>
        <p:nvSpPr>
          <p:cNvPr id="1048686" name="Text Placeholder 3"/>
          <p:cNvSpPr>
            <a:spLocks noGrp="1"/>
          </p:cNvSpPr>
          <p:nvPr>
            <p:ph type="body" sz="half" idx="2"/>
          </p:nvPr>
        </p:nvSpPr>
        <p:spPr>
          <a:xfrm>
            <a:off x="5562600" y="2743200"/>
            <a:ext cx="3053866" cy="2663482"/>
          </a:xfrm>
        </p:spPr>
        <p:txBody>
          <a:bodyPr lIns="45720" rIns="45720"/>
          <a:lstStyle>
            <a:lvl1pPr marL="0" indent="0">
              <a:buFontTx/>
              <a:buNone/>
              <a:defRPr sz="1200" b="1"/>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5" name="Date Placeholder 9"/>
          <p:cNvSpPr>
            <a:spLocks noGrp="1"/>
          </p:cNvSpPr>
          <p:nvPr>
            <p:ph type="dt" sz="half" idx="10"/>
          </p:nvPr>
        </p:nvSpPr>
        <p:spPr/>
        <p:txBody>
          <a:bodyPr/>
          <a:lstStyle>
            <a:lvl1pPr>
              <a:defRPr/>
            </a:lvl1pPr>
          </a:lstStyle>
          <a:p>
            <a:pPr>
              <a:defRPr/>
            </a:pPr>
            <a:fld id="{0ED4BD44-D27C-4228-9B19-221E0AADB205}" type="datetime4">
              <a:rPr lang="en-US"/>
              <a:pPr>
                <a:defRPr/>
              </a:pPr>
              <a:t>May 1, 2025</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17"/>
          <p:cNvSpPr>
            <a:spLocks noGrp="1"/>
          </p:cNvSpPr>
          <p:nvPr>
            <p:ph type="sldNum" sz="quarter" idx="12"/>
          </p:nvPr>
        </p:nvSpPr>
        <p:spPr/>
        <p:txBody>
          <a:bodyPr/>
          <a:lstStyle>
            <a:lvl1pPr>
              <a:defRPr/>
            </a:lvl1pPr>
          </a:lstStyle>
          <a:p>
            <a:fld id="{2534D676-1AC6-47FF-A609-68B579A5C5E8}"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12" name="Title 1"/>
          <p:cNvSpPr>
            <a:spLocks noGrp="1"/>
          </p:cNvSpPr>
          <p:nvPr>
            <p:ph type="title"/>
          </p:nvPr>
        </p:nvSpPr>
        <p:spPr/>
        <p:txBody>
          <a:bodyPr/>
          <a:lstStyle/>
          <a:p>
            <a:r>
              <a:rPr lang="en-US"/>
              <a:t>Click to edit Master title style</a:t>
            </a:r>
          </a:p>
        </p:txBody>
      </p:sp>
      <p:sp>
        <p:nvSpPr>
          <p:cNvPr id="1048713" name="Vertical Text Placeholder 2"/>
          <p:cNvSpPr>
            <a:spLocks noGrp="1"/>
          </p:cNvSpPr>
          <p:nvPr>
            <p:ph type="body" orient="vert" idx="1"/>
          </p:nvPr>
        </p:nvSpPr>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8FE03502-A26B-4B1A-9E6F-603622473C37}" type="datetime4">
              <a:rPr lang="en-US"/>
              <a:pPr>
                <a:defRPr/>
              </a:pPr>
              <a:t>May 1, 2025</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fld id="{00E500CF-7DF5-474C-A4DC-851F9846807E}"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79"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80" name="Vertical Text Placeholder 2"/>
          <p:cNvSpPr>
            <a:spLocks noGrp="1"/>
          </p:cNvSpPr>
          <p:nvPr>
            <p:ph type="body" orient="vert" idx="1"/>
          </p:nvPr>
        </p:nvSpPr>
        <p:spPr>
          <a:xfrm>
            <a:off x="457200" y="274638"/>
            <a:ext cx="6019800" cy="5851525"/>
          </a:xfrm>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E40D75AE-4815-443D-A2BA-308073E26317}" type="datetime4">
              <a:rPr lang="en-US"/>
              <a:pPr>
                <a:defRPr/>
              </a:pPr>
              <a:t>May 1, 2025</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fld id="{6D00B3C1-51F1-4070-853C-3C896E2A788C}"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104870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708" name="Text Placeholder 2"/>
          <p:cNvSpPr>
            <a:spLocks noGrp="1"/>
          </p:cNvSpPr>
          <p:nvPr>
            <p:ph type="body" idx="1"/>
          </p:nvPr>
        </p:nvSpPr>
        <p:spPr>
          <a:xfrm>
            <a:off x="722313" y="2906713"/>
            <a:ext cx="7772400" cy="1500187"/>
          </a:xfrm>
        </p:spPr>
        <p:txBody>
          <a:bodyPr anchor="b"/>
          <a:lstStyle>
            <a:lvl1pPr marL="0" indent="0">
              <a:buNone/>
              <a:defRPr sz="2000" b="1">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06A94BBD-121E-4A91-B755-F9E15CA10A8C}" type="datetime4">
              <a:rPr lang="en-US"/>
              <a:pPr>
                <a:defRPr/>
              </a:pPr>
              <a:t>May 1, 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endParaRPr lang="en-US" dirty="0"/>
          </a:p>
        </p:txBody>
      </p:sp>
      <p:sp>
        <p:nvSpPr>
          <p:cNvPr id="6" name="Slide Number Placeholder 5"/>
          <p:cNvSpPr>
            <a:spLocks noGrp="1"/>
          </p:cNvSpPr>
          <p:nvPr>
            <p:ph type="sldNum" sz="quarter" idx="12"/>
          </p:nvPr>
        </p:nvSpPr>
        <p:spPr/>
        <p:txBody>
          <a:bodyPr/>
          <a:lstStyle>
            <a:lvl1pPr>
              <a:defRPr/>
            </a:lvl1pPr>
          </a:lstStyle>
          <a:p>
            <a:fld id="{79672586-0B34-4B84-A94A-7B01315591F9}"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4" name="Rectangle 3"/>
          <p:cNvSpPr/>
          <p:nvPr userDrawn="1"/>
        </p:nvSpPr>
        <p:spPr>
          <a:xfrm>
            <a:off x="0" y="0"/>
            <a:ext cx="9144000" cy="9144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48589"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590" name="Subtitle 2"/>
          <p:cNvSpPr>
            <a:spLocks noGrp="1"/>
          </p:cNvSpPr>
          <p:nvPr>
            <p:ph type="subTitle" idx="1"/>
          </p:nvPr>
        </p:nvSpPr>
        <p:spPr>
          <a:xfrm>
            <a:off x="1371600" y="3886200"/>
            <a:ext cx="6400800" cy="1752600"/>
          </a:xfrm>
        </p:spPr>
        <p:txBody>
          <a:bodyPr/>
          <a:lstStyle>
            <a:lvl1pPr marL="0" indent="0" algn="ctr">
              <a:buNone/>
              <a:defRPr b="1">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p:cNvSpPr>
            <a:spLocks noGrp="1"/>
          </p:cNvSpPr>
          <p:nvPr>
            <p:ph type="dt" sz="half" idx="10"/>
          </p:nvPr>
        </p:nvSpPr>
        <p:spPr/>
        <p:txBody>
          <a:bodyPr/>
          <a:lstStyle>
            <a:lvl1pPr>
              <a:defRPr/>
            </a:lvl1pPr>
          </a:lstStyle>
          <a:p>
            <a:pPr>
              <a:defRPr/>
            </a:pPr>
            <a:fld id="{6D5FBC73-EF85-4A88-98EF-3D30FE943CD7}" type="datetime4">
              <a:rPr lang="en-US"/>
              <a:pPr>
                <a:defRPr/>
              </a:pPr>
              <a:t>May 1, 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5"/>
          <p:cNvSpPr>
            <a:spLocks noGrp="1"/>
          </p:cNvSpPr>
          <p:nvPr>
            <p:ph type="sldNum" sz="quarter" idx="12"/>
          </p:nvPr>
        </p:nvSpPr>
        <p:spPr/>
        <p:txBody>
          <a:bodyPr/>
          <a:lstStyle>
            <a:lvl1pPr>
              <a:defRPr/>
            </a:lvl1pPr>
          </a:lstStyle>
          <a:p>
            <a:fld id="{7E3D8A1A-F310-4C9F-9F39-DEED8B092108}"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431925" y="36513"/>
            <a:ext cx="246063" cy="358775"/>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3" name="Text Box 5"/>
          <p:cNvSpPr txBox="1">
            <a:spLocks noChangeArrowheads="1"/>
          </p:cNvSpPr>
          <p:nvPr/>
        </p:nvSpPr>
        <p:spPr bwMode="auto">
          <a:xfrm>
            <a:off x="1584325" y="265113"/>
            <a:ext cx="6950075" cy="366712"/>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4" name="Text Box 6"/>
          <p:cNvSpPr txBox="1">
            <a:spLocks noChangeArrowheads="1"/>
          </p:cNvSpPr>
          <p:nvPr/>
        </p:nvSpPr>
        <p:spPr bwMode="auto">
          <a:xfrm>
            <a:off x="152400" y="0"/>
            <a:ext cx="8778875" cy="366713"/>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5" name="Text Box 7"/>
          <p:cNvSpPr txBox="1">
            <a:spLocks noChangeArrowheads="1"/>
          </p:cNvSpPr>
          <p:nvPr/>
        </p:nvSpPr>
        <p:spPr bwMode="auto">
          <a:xfrm>
            <a:off x="1431925" y="265113"/>
            <a:ext cx="246063" cy="358775"/>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46"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647"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5/1/2025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1720AD12-4C7D-48ED-A781-1D90EAF8F27D}"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64" name="Title 1"/>
          <p:cNvSpPr>
            <a:spLocks noGrp="1"/>
          </p:cNvSpPr>
          <p:nvPr>
            <p:ph type="title"/>
          </p:nvPr>
        </p:nvSpPr>
        <p:spPr/>
        <p:txBody>
          <a:bodyPr/>
          <a:lstStyle/>
          <a:p>
            <a:r>
              <a:rPr lang="en-US"/>
              <a:t>Click to edit Master title style</a:t>
            </a:r>
          </a:p>
        </p:txBody>
      </p:sp>
      <p:sp>
        <p:nvSpPr>
          <p:cNvPr id="1048665"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5/1/2025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9266AE6B-2183-4854-B748-44186F8C5598}" type="slidenum">
              <a:rPr lang="en-US"/>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59"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660"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5/1/2025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4BC9AF8-C5DE-4806-92A9-EE8242DE140E}" type="slidenum">
              <a:rPr lang="en-US"/>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11" name="Title 1"/>
          <p:cNvSpPr>
            <a:spLocks noGrp="1"/>
          </p:cNvSpPr>
          <p:nvPr>
            <p:ph type="title"/>
          </p:nvPr>
        </p:nvSpPr>
        <p:spPr/>
        <p:txBody>
          <a:bodyPr/>
          <a:lstStyle/>
          <a:p>
            <a:r>
              <a:rPr lang="en-US"/>
              <a:t>Click to edit Master title style</a:t>
            </a:r>
          </a:p>
        </p:txBody>
      </p:sp>
      <p:sp>
        <p:nvSpPr>
          <p:cNvPr id="1048612"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3"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5/1/2025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69A3A83D-79B4-45DB-9CD2-65B55F6C98F5}" type="slidenum">
              <a:rPr lang="en-US"/>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51" name="Title 1"/>
          <p:cNvSpPr>
            <a:spLocks noGrp="1"/>
          </p:cNvSpPr>
          <p:nvPr>
            <p:ph type="title"/>
          </p:nvPr>
        </p:nvSpPr>
        <p:spPr/>
        <p:txBody>
          <a:bodyPr/>
          <a:lstStyle/>
          <a:p>
            <a:r>
              <a:rPr lang="en-US"/>
              <a:t>Click to edit Master title style</a:t>
            </a:r>
          </a:p>
        </p:txBody>
      </p:sp>
      <p:sp>
        <p:nvSpPr>
          <p:cNvPr id="1048652"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3"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4"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5"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5/1/2025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41EF6AB0-0D75-4ADF-8D76-DFC49B5D4226}" type="slidenum">
              <a:rPr lang="en-US"/>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33"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5/1/2025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D458017C-6284-4482-882E-C30184979605}" type="slidenum">
              <a:rPr lang="en-US"/>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5/1/2025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1A12DB6F-C3AF-4FAE-A7A6-D1B35630A24C}" type="slidenum">
              <a:rPr lang="en-US"/>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40"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641"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2"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5/1/2025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1AC2CA08-EB1D-45EA-A306-09E31D898AD8}" type="slidenum">
              <a:rPr lang="en-US"/>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27"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628"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048629"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5/1/2025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21B76E4-A9B1-4889-842E-5068B48DAC8C}" type="slidenum">
              <a:rPr lang="en-US"/>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17" name="Title 1"/>
          <p:cNvSpPr>
            <a:spLocks noGrp="1"/>
          </p:cNvSpPr>
          <p:nvPr>
            <p:ph type="title"/>
          </p:nvPr>
        </p:nvSpPr>
        <p:spPr/>
        <p:txBody>
          <a:bodyPr/>
          <a:lstStyle/>
          <a:p>
            <a:r>
              <a:rPr lang="en-US"/>
              <a:t>Click to edit Master title style</a:t>
            </a:r>
          </a:p>
        </p:txBody>
      </p:sp>
      <p:sp>
        <p:nvSpPr>
          <p:cNvPr id="1048618"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5/1/2025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D79E108D-97AB-4851-B10F-017F82988B0D}" type="slidenum">
              <a:rPr lang="en-US"/>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2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2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5/1/2025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06F62FF3-9B14-415A-AD6D-2D35045551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48576" name="Freeform 11"/>
          <p:cNvSpPr/>
          <p:nvPr/>
        </p:nvSpPr>
        <p:spPr bwMode="auto">
          <a:xfrm>
            <a:off x="0" y="5410200"/>
            <a:ext cx="9144000" cy="1454150"/>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27" name="Title Placeholder 8"/>
          <p:cNvSpPr>
            <a:spLocks noGrp="1"/>
          </p:cNvSpPr>
          <p:nvPr>
            <p:ph type="title"/>
          </p:nvPr>
        </p:nvSpPr>
        <p:spPr bwMode="auto">
          <a:xfrm>
            <a:off x="304800" y="152400"/>
            <a:ext cx="7620000" cy="9906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smtClean="0"/>
              <a:t>Click to edit Master title style</a:t>
            </a:r>
          </a:p>
        </p:txBody>
      </p:sp>
      <p:sp>
        <p:nvSpPr>
          <p:cNvPr id="1028" name="Text Placeholder 29"/>
          <p:cNvSpPr>
            <a:spLocks noGrp="1"/>
          </p:cNvSpPr>
          <p:nvPr>
            <p:ph type="body" idx="1"/>
          </p:nvPr>
        </p:nvSpPr>
        <p:spPr bwMode="auto">
          <a:xfrm>
            <a:off x="304800" y="1371600"/>
            <a:ext cx="7620000" cy="46783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579" name="Date Placeholder 9"/>
          <p:cNvSpPr>
            <a:spLocks noGrp="1"/>
          </p:cNvSpPr>
          <p:nvPr>
            <p:ph type="dt" sz="half" idx="2"/>
          </p:nvPr>
        </p:nvSpPr>
        <p:spPr>
          <a:xfrm>
            <a:off x="457200" y="6421438"/>
            <a:ext cx="2133600" cy="365125"/>
          </a:xfrm>
          <a:prstGeom prst="rect">
            <a:avLst/>
          </a:prstGeom>
        </p:spPr>
        <p:txBody>
          <a:bodyPr vert="horz" bIns="0" anchor="b"/>
          <a:lstStyle>
            <a:lvl1pPr algn="l" eaLnBrk="1" fontAlgn="auto" latinLnBrk="0" hangingPunct="1">
              <a:spcBef>
                <a:spcPts val="0"/>
              </a:spcBef>
              <a:spcAft>
                <a:spcPts val="0"/>
              </a:spcAft>
              <a:defRPr kumimoji="0" sz="1000" b="1">
                <a:solidFill>
                  <a:schemeClr val="tx1"/>
                </a:solidFill>
                <a:latin typeface="+mn-lt"/>
                <a:cs typeface="+mn-cs"/>
              </a:defRPr>
            </a:lvl1pPr>
          </a:lstStyle>
          <a:p>
            <a:pPr>
              <a:defRPr/>
            </a:pPr>
            <a:fld id="{CE502735-63BE-4EE3-9EFC-E3669953DA34}" type="datetime4">
              <a:rPr lang="en-US"/>
              <a:pPr>
                <a:defRPr/>
              </a:pPr>
              <a:t>May 1, 2025</a:t>
            </a:fld>
            <a:endParaRPr lang="en-US"/>
          </a:p>
        </p:txBody>
      </p:sp>
      <p:sp>
        <p:nvSpPr>
          <p:cNvPr id="1048580" name="Footer Placeholder 21"/>
          <p:cNvSpPr>
            <a:spLocks noGrp="1"/>
          </p:cNvSpPr>
          <p:nvPr>
            <p:ph type="ftr" sz="quarter" idx="3"/>
          </p:nvPr>
        </p:nvSpPr>
        <p:spPr>
          <a:xfrm>
            <a:off x="3124200" y="6421438"/>
            <a:ext cx="2895600" cy="365125"/>
          </a:xfrm>
          <a:prstGeom prst="rect">
            <a:avLst/>
          </a:prstGeom>
        </p:spPr>
        <p:txBody>
          <a:bodyPr vert="horz" lIns="0" rIns="0" bIns="0" anchor="b"/>
          <a:lstStyle>
            <a:lvl1pPr algn="ctr" eaLnBrk="1" fontAlgn="auto" latinLnBrk="0" hangingPunct="1">
              <a:spcBef>
                <a:spcPts val="0"/>
              </a:spcBef>
              <a:spcAft>
                <a:spcPts val="0"/>
              </a:spcAft>
              <a:defRPr kumimoji="0" sz="1000" b="1">
                <a:solidFill>
                  <a:schemeClr val="tx1"/>
                </a:solidFill>
                <a:latin typeface="+mn-lt"/>
                <a:cs typeface="+mn-cs"/>
              </a:defRPr>
            </a:lvl1pPr>
          </a:lstStyle>
          <a:p>
            <a:pPr>
              <a:defRPr/>
            </a:pPr>
            <a:r>
              <a:rPr lang="en-US"/>
              <a:t>MSRIT, Bangalore - 54</a:t>
            </a:r>
          </a:p>
        </p:txBody>
      </p:sp>
      <p:sp>
        <p:nvSpPr>
          <p:cNvPr id="1048581" name="Slide Number Placeholder 17"/>
          <p:cNvSpPr>
            <a:spLocks noGrp="1"/>
          </p:cNvSpPr>
          <p:nvPr>
            <p:ph type="sldNum" sz="quarter" idx="4"/>
          </p:nvPr>
        </p:nvSpPr>
        <p:spPr>
          <a:xfrm>
            <a:off x="8153400" y="6421438"/>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000" b="1"/>
            </a:lvl1pPr>
          </a:lstStyle>
          <a:p>
            <a:fld id="{A0DE0D6A-5BD3-4220-8C61-BD0CB23BE6E6}" type="slidenum">
              <a:rPr lang="en-US"/>
              <a:pPr/>
              <a:t>‹#›</a:t>
            </a:fld>
            <a:endParaRPr lang="en-US"/>
          </a:p>
        </p:txBody>
      </p:sp>
    </p:spTree>
  </p:cSld>
  <p:clrMap bg1="dk1" tx1="lt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685" r:id="rId6"/>
    <p:sldLayoutId id="2147483686" r:id="rId7"/>
    <p:sldLayoutId id="2147483706" r:id="rId8"/>
    <p:sldLayoutId id="2147483687" r:id="rId9"/>
    <p:sldLayoutId id="2147483688" r:id="rId10"/>
    <p:sldLayoutId id="2147483689" r:id="rId11"/>
    <p:sldLayoutId id="2147483707" r:id="rId12"/>
    <p:sldLayoutId id="2147483708" r:id="rId13"/>
    <p:sldLayoutId id="2147483709" r:id="rId14"/>
  </p:sldLayoutIdLst>
  <p:hf hdr="0" ftr="0" dt="0"/>
  <p:txStyles>
    <p:titleStyle>
      <a:lvl1pPr algn="l" rtl="0" eaLnBrk="0" fontAlgn="base" hangingPunct="0">
        <a:spcBef>
          <a:spcPct val="0"/>
        </a:spcBef>
        <a:spcAft>
          <a:spcPct val="0"/>
        </a:spcAft>
        <a:defRPr sz="4600" b="1" kern="1200">
          <a:solidFill>
            <a:srgbClr val="FFD03B"/>
          </a:solidFill>
          <a:latin typeface="+mj-lt"/>
          <a:ea typeface="+mj-ea"/>
          <a:cs typeface="+mj-cs"/>
        </a:defRPr>
      </a:lvl1pPr>
      <a:lvl2pPr algn="l" rtl="0" eaLnBrk="0" fontAlgn="base" hangingPunct="0">
        <a:spcBef>
          <a:spcPct val="0"/>
        </a:spcBef>
        <a:spcAft>
          <a:spcPct val="0"/>
        </a:spcAft>
        <a:defRPr sz="4600" b="1">
          <a:solidFill>
            <a:srgbClr val="FFD03B"/>
          </a:solidFill>
          <a:latin typeface="Franklin Gothic Book" pitchFamily="34" charset="0"/>
        </a:defRPr>
      </a:lvl2pPr>
      <a:lvl3pPr algn="l" rtl="0" eaLnBrk="0" fontAlgn="base" hangingPunct="0">
        <a:spcBef>
          <a:spcPct val="0"/>
        </a:spcBef>
        <a:spcAft>
          <a:spcPct val="0"/>
        </a:spcAft>
        <a:defRPr sz="4600" b="1">
          <a:solidFill>
            <a:srgbClr val="FFD03B"/>
          </a:solidFill>
          <a:latin typeface="Franklin Gothic Book" pitchFamily="34" charset="0"/>
        </a:defRPr>
      </a:lvl3pPr>
      <a:lvl4pPr algn="l" rtl="0" eaLnBrk="0" fontAlgn="base" hangingPunct="0">
        <a:spcBef>
          <a:spcPct val="0"/>
        </a:spcBef>
        <a:spcAft>
          <a:spcPct val="0"/>
        </a:spcAft>
        <a:defRPr sz="4600" b="1">
          <a:solidFill>
            <a:srgbClr val="FFD03B"/>
          </a:solidFill>
          <a:latin typeface="Franklin Gothic Book" pitchFamily="34" charset="0"/>
        </a:defRPr>
      </a:lvl4pPr>
      <a:lvl5pPr algn="l" rtl="0" eaLnBrk="0" fontAlgn="base" hangingPunct="0">
        <a:spcBef>
          <a:spcPct val="0"/>
        </a:spcBef>
        <a:spcAft>
          <a:spcPct val="0"/>
        </a:spcAft>
        <a:defRPr sz="4600" b="1">
          <a:solidFill>
            <a:srgbClr val="FFD03B"/>
          </a:solidFill>
          <a:latin typeface="Franklin Gothic Book" pitchFamily="34" charset="0"/>
        </a:defRPr>
      </a:lvl5pPr>
      <a:lvl6pPr marL="457200" algn="l" rtl="0" fontAlgn="base">
        <a:spcBef>
          <a:spcPct val="0"/>
        </a:spcBef>
        <a:spcAft>
          <a:spcPct val="0"/>
        </a:spcAft>
        <a:defRPr sz="4600">
          <a:solidFill>
            <a:srgbClr val="FFD03B"/>
          </a:solidFill>
          <a:latin typeface="Franklin Gothic Book" pitchFamily="34" charset="0"/>
        </a:defRPr>
      </a:lvl6pPr>
      <a:lvl7pPr marL="914400" algn="l" rtl="0" fontAlgn="base">
        <a:spcBef>
          <a:spcPct val="0"/>
        </a:spcBef>
        <a:spcAft>
          <a:spcPct val="0"/>
        </a:spcAft>
        <a:defRPr sz="4600">
          <a:solidFill>
            <a:srgbClr val="FFD03B"/>
          </a:solidFill>
          <a:latin typeface="Franklin Gothic Book" pitchFamily="34" charset="0"/>
        </a:defRPr>
      </a:lvl7pPr>
      <a:lvl8pPr marL="1371600" algn="l" rtl="0" fontAlgn="base">
        <a:spcBef>
          <a:spcPct val="0"/>
        </a:spcBef>
        <a:spcAft>
          <a:spcPct val="0"/>
        </a:spcAft>
        <a:defRPr sz="4600">
          <a:solidFill>
            <a:srgbClr val="FFD03B"/>
          </a:solidFill>
          <a:latin typeface="Franklin Gothic Book" pitchFamily="34" charset="0"/>
        </a:defRPr>
      </a:lvl8pPr>
      <a:lvl9pPr marL="1828800" algn="l" rtl="0" fontAlgn="base">
        <a:spcBef>
          <a:spcPct val="0"/>
        </a:spcBef>
        <a:spcAft>
          <a:spcPct val="0"/>
        </a:spcAft>
        <a:defRPr sz="4600">
          <a:solidFill>
            <a:srgbClr val="FFD03B"/>
          </a:solidFill>
          <a:latin typeface="Franklin Gothic Book"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0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cs typeface="Arial" charset="0"/>
              </a:defRPr>
            </a:lvl1pPr>
          </a:lstStyle>
          <a:p>
            <a:pPr>
              <a:defRPr/>
            </a:pPr>
            <a:fld id="{F5CA11FA-81BA-4E1A-93CB-0E664232FF38}" type="datetimeFigureOut">
              <a:rPr lang="en-US"/>
              <a:pPr>
                <a:defRPr/>
              </a:pPr>
              <a:t>5/1/2025</a:t>
            </a:fld>
            <a:endParaRPr lang="en-US"/>
          </a:p>
        </p:txBody>
      </p:sp>
      <p:sp>
        <p:nvSpPr>
          <p:cNvPr id="104860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cs typeface="Arial" charset="0"/>
              </a:defRPr>
            </a:lvl1pPr>
          </a:lstStyle>
          <a:p>
            <a:pPr>
              <a:defRPr/>
            </a:pPr>
            <a:endParaRPr lang="en-US"/>
          </a:p>
        </p:txBody>
      </p:sp>
      <p:sp>
        <p:nvSpPr>
          <p:cNvPr id="1048610"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9D1A466F-D17A-47B5-BF09-1FD6E1EA7625}"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object 2"/>
          <p:cNvSpPr>
            <a:spLocks/>
          </p:cNvSpPr>
          <p:nvPr/>
        </p:nvSpPr>
        <p:spPr bwMode="auto">
          <a:xfrm>
            <a:off x="0" y="0"/>
            <a:ext cx="9144000" cy="944563"/>
          </a:xfrm>
          <a:custGeom>
            <a:avLst/>
            <a:gdLst/>
            <a:ahLst/>
            <a:cxnLst>
              <a:cxn ang="0">
                <a:pos x="9144000" y="0"/>
              </a:cxn>
              <a:cxn ang="0">
                <a:pos x="0" y="0"/>
              </a:cxn>
              <a:cxn ang="0">
                <a:pos x="0" y="914400"/>
              </a:cxn>
              <a:cxn ang="0">
                <a:pos x="9144000" y="914400"/>
              </a:cxn>
              <a:cxn ang="0">
                <a:pos x="9144000" y="0"/>
              </a:cxn>
            </a:cxnLst>
            <a:rect l="0" t="0" r="r" b="b"/>
            <a:pathLst>
              <a:path w="9144000" h="914400">
                <a:moveTo>
                  <a:pt x="9144000" y="0"/>
                </a:moveTo>
                <a:lnTo>
                  <a:pt x="0" y="0"/>
                </a:lnTo>
                <a:lnTo>
                  <a:pt x="0" y="914400"/>
                </a:lnTo>
                <a:lnTo>
                  <a:pt x="9144000" y="914400"/>
                </a:lnTo>
                <a:lnTo>
                  <a:pt x="9144000" y="0"/>
                </a:lnTo>
                <a:close/>
              </a:path>
            </a:pathLst>
          </a:custGeom>
          <a:solidFill>
            <a:srgbClr val="2D6FA0"/>
          </a:solidFill>
          <a:ln w="9525">
            <a:noFill/>
            <a:round/>
            <a:headEnd/>
            <a:tailEnd/>
          </a:ln>
        </p:spPr>
        <p:txBody>
          <a:bodyPr lIns="0" tIns="0" rIns="0" bIns="0"/>
          <a:lstStyle/>
          <a:p>
            <a:endParaRPr lang="en-US"/>
          </a:p>
        </p:txBody>
      </p:sp>
      <p:sp>
        <p:nvSpPr>
          <p:cNvPr id="13315" name="TextBox 2"/>
          <p:cNvSpPr txBox="1">
            <a:spLocks noChangeArrowheads="1"/>
          </p:cNvSpPr>
          <p:nvPr/>
        </p:nvSpPr>
        <p:spPr bwMode="auto">
          <a:xfrm>
            <a:off x="249238" y="257175"/>
            <a:ext cx="8078787" cy="492125"/>
          </a:xfrm>
          <a:prstGeom prst="rect">
            <a:avLst/>
          </a:prstGeom>
          <a:noFill/>
          <a:ln w="9525">
            <a:noFill/>
            <a:miter lim="800000"/>
            <a:headEnd/>
            <a:tailEnd/>
          </a:ln>
        </p:spPr>
        <p:txBody>
          <a:bodyPr>
            <a:spAutoFit/>
          </a:bodyPr>
          <a:lstStyle/>
          <a:p>
            <a:pPr eaLnBrk="1" hangingPunct="1"/>
            <a:r>
              <a:rPr lang="en-US" sz="2600" b="1" dirty="0">
                <a:latin typeface="Times New Roman" pitchFamily="18" charset="0"/>
                <a:cs typeface="Times New Roman" pitchFamily="18" charset="0"/>
              </a:rPr>
              <a:t>  INSTITUTE OF AERONAUTICAL ENGINEERING</a:t>
            </a:r>
            <a:endParaRPr lang="en-IN" sz="2600" dirty="0">
              <a:latin typeface="Times New Roman" pitchFamily="18" charset="0"/>
              <a:cs typeface="Times New Roman" pitchFamily="18" charset="0"/>
            </a:endParaRPr>
          </a:p>
        </p:txBody>
      </p:sp>
      <p:pic>
        <p:nvPicPr>
          <p:cNvPr id="13316" name="Picture 3"/>
          <p:cNvPicPr>
            <a:picLocks noChangeAspect="1"/>
          </p:cNvPicPr>
          <p:nvPr/>
        </p:nvPicPr>
        <p:blipFill>
          <a:blip r:embed="rId2"/>
          <a:srcRect/>
          <a:stretch>
            <a:fillRect/>
          </a:stretch>
        </p:blipFill>
        <p:spPr bwMode="auto">
          <a:xfrm>
            <a:off x="8328025" y="23813"/>
            <a:ext cx="731838" cy="822325"/>
          </a:xfrm>
          <a:prstGeom prst="rect">
            <a:avLst/>
          </a:prstGeom>
          <a:noFill/>
          <a:ln w="9525">
            <a:noFill/>
            <a:miter lim="800000"/>
            <a:headEnd/>
            <a:tailEnd/>
          </a:ln>
        </p:spPr>
      </p:pic>
      <p:sp>
        <p:nvSpPr>
          <p:cNvPr id="13317" name="TextBox 4"/>
          <p:cNvSpPr txBox="1">
            <a:spLocks noChangeArrowheads="1"/>
          </p:cNvSpPr>
          <p:nvPr/>
        </p:nvSpPr>
        <p:spPr bwMode="auto">
          <a:xfrm>
            <a:off x="5334000" y="5278438"/>
            <a:ext cx="3725863" cy="1323439"/>
          </a:xfrm>
          <a:prstGeom prst="rect">
            <a:avLst/>
          </a:prstGeom>
          <a:noFill/>
          <a:ln w="9525">
            <a:noFill/>
            <a:miter lim="800000"/>
            <a:headEnd/>
            <a:tailEnd/>
          </a:ln>
        </p:spPr>
        <p:txBody>
          <a:bodyPr>
            <a:spAutoFit/>
          </a:bodyPr>
          <a:lstStyle/>
          <a:p>
            <a:pPr eaLnBrk="1" hangingPunct="1"/>
            <a:r>
              <a:rPr lang="en-US" sz="1600" b="1" dirty="0">
                <a:solidFill>
                  <a:schemeClr val="bg1"/>
                </a:solidFill>
                <a:latin typeface="Times New Roman" pitchFamily="18" charset="0"/>
                <a:cs typeface="Times New Roman" pitchFamily="18" charset="0"/>
              </a:rPr>
              <a:t>Presented by –</a:t>
            </a:r>
            <a:r>
              <a:rPr lang="en-US" sz="1600" dirty="0">
                <a:solidFill>
                  <a:schemeClr val="bg1"/>
                </a:solidFill>
                <a:latin typeface="Times New Roman" pitchFamily="18" charset="0"/>
                <a:cs typeface="Times New Roman" pitchFamily="18" charset="0"/>
              </a:rPr>
              <a:t>                                                        </a:t>
            </a:r>
          </a:p>
          <a:p>
            <a:pPr eaLnBrk="1" hangingPunct="1"/>
            <a:r>
              <a:rPr lang="en-US" sz="1600" dirty="0" err="1" smtClean="0">
                <a:solidFill>
                  <a:schemeClr val="bg1"/>
                </a:solidFill>
                <a:latin typeface="Times New Roman" pitchFamily="18" charset="0"/>
                <a:cs typeface="Times New Roman" pitchFamily="18" charset="0"/>
              </a:rPr>
              <a:t>D.Neha</a:t>
            </a:r>
            <a:r>
              <a:rPr lang="en-US" sz="1600" dirty="0" smtClean="0">
                <a:solidFill>
                  <a:schemeClr val="bg1"/>
                </a:solidFill>
                <a:latin typeface="Times New Roman" pitchFamily="18" charset="0"/>
                <a:cs typeface="Times New Roman" pitchFamily="18" charset="0"/>
              </a:rPr>
              <a:t>  - 21951A05B8</a:t>
            </a:r>
            <a:endParaRPr lang="en-US" sz="1600" dirty="0">
              <a:solidFill>
                <a:schemeClr val="bg1"/>
              </a:solidFill>
              <a:latin typeface="Times New Roman" pitchFamily="18" charset="0"/>
              <a:cs typeface="Times New Roman" pitchFamily="18" charset="0"/>
            </a:endParaRPr>
          </a:p>
          <a:p>
            <a:pPr eaLnBrk="1" hangingPunct="1"/>
            <a:r>
              <a:rPr lang="en-US" sz="1600" dirty="0" smtClean="0">
                <a:solidFill>
                  <a:schemeClr val="bg1"/>
                </a:solidFill>
                <a:latin typeface="Times New Roman" pitchFamily="18" charset="0"/>
                <a:cs typeface="Times New Roman" pitchFamily="18" charset="0"/>
              </a:rPr>
              <a:t>Mohammed </a:t>
            </a:r>
            <a:r>
              <a:rPr lang="en-US" sz="1600" dirty="0" err="1" smtClean="0">
                <a:solidFill>
                  <a:schemeClr val="bg1"/>
                </a:solidFill>
                <a:latin typeface="Times New Roman" pitchFamily="18" charset="0"/>
                <a:cs typeface="Times New Roman" pitchFamily="18" charset="0"/>
              </a:rPr>
              <a:t>Ameesha</a:t>
            </a:r>
            <a:r>
              <a:rPr lang="en-US" sz="1600" dirty="0" smtClean="0">
                <a:solidFill>
                  <a:schemeClr val="bg1"/>
                </a:solidFill>
                <a:latin typeface="Times New Roman" pitchFamily="18" charset="0"/>
                <a:cs typeface="Times New Roman" pitchFamily="18" charset="0"/>
              </a:rPr>
              <a:t>   - 21951A05A4                                                          </a:t>
            </a:r>
            <a:r>
              <a:rPr lang="en-US" sz="1600" dirty="0" err="1" smtClean="0">
                <a:solidFill>
                  <a:schemeClr val="bg1"/>
                </a:solidFill>
                <a:latin typeface="Times New Roman" pitchFamily="18" charset="0"/>
                <a:cs typeface="Times New Roman" pitchFamily="18" charset="0"/>
              </a:rPr>
              <a:t>M.Dheeraj</a:t>
            </a:r>
            <a:r>
              <a:rPr lang="en-US" sz="1600" dirty="0" smtClean="0">
                <a:solidFill>
                  <a:schemeClr val="bg1"/>
                </a:solidFill>
                <a:latin typeface="Times New Roman" pitchFamily="18" charset="0"/>
                <a:cs typeface="Times New Roman" pitchFamily="18" charset="0"/>
              </a:rPr>
              <a:t> – 21951A0538              </a:t>
            </a:r>
            <a:r>
              <a:rPr lang="en-IN" sz="1600" dirty="0">
                <a:solidFill>
                  <a:schemeClr val="bg1"/>
                </a:solidFill>
                <a:latin typeface="Times New Roman" pitchFamily="18" charset="0"/>
                <a:cs typeface="Times New Roman" pitchFamily="18" charset="0"/>
              </a:rPr>
              <a:t>	</a:t>
            </a:r>
          </a:p>
        </p:txBody>
      </p:sp>
      <p:sp>
        <p:nvSpPr>
          <p:cNvPr id="13318" name="TextBox 5"/>
          <p:cNvSpPr txBox="1">
            <a:spLocks noChangeArrowheads="1"/>
          </p:cNvSpPr>
          <p:nvPr/>
        </p:nvSpPr>
        <p:spPr bwMode="auto">
          <a:xfrm>
            <a:off x="0" y="1387475"/>
            <a:ext cx="9059863" cy="461963"/>
          </a:xfrm>
          <a:prstGeom prst="rect">
            <a:avLst/>
          </a:prstGeom>
          <a:noFill/>
          <a:ln w="9525">
            <a:noFill/>
            <a:miter lim="800000"/>
            <a:headEnd/>
            <a:tailEnd/>
          </a:ln>
        </p:spPr>
        <p:txBody>
          <a:bodyPr>
            <a:spAutoFit/>
          </a:bodyPr>
          <a:lstStyle/>
          <a:p>
            <a:pPr algn="ctr" eaLnBrk="1" hangingPunct="1"/>
            <a:r>
              <a:rPr lang="en-US" sz="2400" b="1" dirty="0" smtClean="0">
                <a:solidFill>
                  <a:schemeClr val="bg1"/>
                </a:solidFill>
                <a:latin typeface="Times New Roman" pitchFamily="18" charset="0"/>
                <a:cs typeface="Times New Roman" pitchFamily="18" charset="0"/>
              </a:rPr>
              <a:t>PROJECT WORK </a:t>
            </a:r>
            <a:r>
              <a:rPr lang="en-US" sz="2400" b="1" dirty="0" smtClean="0">
                <a:solidFill>
                  <a:schemeClr val="bg1"/>
                </a:solidFill>
                <a:latin typeface="Times New Roman" pitchFamily="18" charset="0"/>
                <a:cs typeface="Times New Roman" pitchFamily="18" charset="0"/>
              </a:rPr>
              <a:t>PHASE-II</a:t>
            </a:r>
            <a:endParaRPr lang="en-IN" sz="2400" b="1" dirty="0">
              <a:solidFill>
                <a:schemeClr val="bg1"/>
              </a:solidFill>
              <a:latin typeface="Times New Roman" pitchFamily="18" charset="0"/>
              <a:cs typeface="Times New Roman" pitchFamily="18" charset="0"/>
            </a:endParaRPr>
          </a:p>
        </p:txBody>
      </p:sp>
      <p:sp>
        <p:nvSpPr>
          <p:cNvPr id="13319" name="TextBox 6"/>
          <p:cNvSpPr txBox="1">
            <a:spLocks noChangeArrowheads="1"/>
          </p:cNvSpPr>
          <p:nvPr/>
        </p:nvSpPr>
        <p:spPr bwMode="auto">
          <a:xfrm>
            <a:off x="760414" y="2041525"/>
            <a:ext cx="7538856" cy="2031325"/>
          </a:xfrm>
          <a:prstGeom prst="rect">
            <a:avLst/>
          </a:prstGeom>
          <a:noFill/>
          <a:ln w="9525">
            <a:noFill/>
            <a:miter lim="800000"/>
            <a:headEnd/>
            <a:tailEnd/>
          </a:ln>
        </p:spPr>
        <p:txBody>
          <a:bodyPr wrap="square">
            <a:spAutoFit/>
          </a:bodyPr>
          <a:lstStyle/>
          <a:p>
            <a:pPr eaLnBrk="1" hangingPunct="1">
              <a:lnSpc>
                <a:spcPct val="150000"/>
              </a:lnSpc>
            </a:pPr>
            <a:r>
              <a:rPr lang="en-US" sz="2400" b="1" dirty="0">
                <a:solidFill>
                  <a:schemeClr val="bg1"/>
                </a:solidFill>
                <a:latin typeface="Times New Roman" pitchFamily="18" charset="0"/>
                <a:cs typeface="Times New Roman" pitchFamily="18" charset="0"/>
              </a:rPr>
              <a:t> </a:t>
            </a:r>
            <a:r>
              <a:rPr lang="en-IN" sz="2400" b="1" dirty="0">
                <a:solidFill>
                  <a:srgbClr val="C00000"/>
                </a:solidFill>
                <a:latin typeface="Times New Roman" pitchFamily="18" charset="0"/>
                <a:cs typeface="Times New Roman" pitchFamily="18" charset="0"/>
              </a:rPr>
              <a:t>Department</a:t>
            </a:r>
            <a:r>
              <a:rPr lang="en-IN" sz="2400" dirty="0">
                <a:solidFill>
                  <a:srgbClr val="C00000"/>
                </a:solidFill>
                <a:latin typeface="Times New Roman" pitchFamily="18" charset="0"/>
                <a:cs typeface="Times New Roman" pitchFamily="18" charset="0"/>
              </a:rPr>
              <a:t>:</a:t>
            </a:r>
            <a:r>
              <a:rPr lang="en-US" sz="2400" dirty="0">
                <a:solidFill>
                  <a:srgbClr val="C00000"/>
                </a:solidFill>
                <a:latin typeface="Times New Roman" pitchFamily="18" charset="0"/>
                <a:cs typeface="Times New Roman" pitchFamily="18" charset="0"/>
              </a:rPr>
              <a:t> </a:t>
            </a:r>
            <a:r>
              <a:rPr lang="en-US" sz="2400" dirty="0" smtClean="0">
                <a:solidFill>
                  <a:schemeClr val="bg1"/>
                </a:solidFill>
                <a:latin typeface="Times New Roman" pitchFamily="18" charset="0"/>
                <a:cs typeface="Times New Roman" pitchFamily="18" charset="0"/>
              </a:rPr>
              <a:t>Computer Science and Engineering  </a:t>
            </a:r>
            <a:endParaRPr lang="en-US" sz="2400" dirty="0">
              <a:solidFill>
                <a:schemeClr val="bg1"/>
              </a:solidFill>
              <a:latin typeface="Times New Roman" pitchFamily="18" charset="0"/>
              <a:cs typeface="Times New Roman" pitchFamily="18" charset="0"/>
            </a:endParaRPr>
          </a:p>
          <a:p>
            <a:pPr eaLnBrk="1" hangingPunct="1">
              <a:lnSpc>
                <a:spcPct val="150000"/>
              </a:lnSpc>
            </a:pPr>
            <a:r>
              <a:rPr lang="en-IN" sz="3000" b="1" dirty="0">
                <a:solidFill>
                  <a:schemeClr val="bg1"/>
                </a:solidFill>
                <a:latin typeface="Times New Roman" pitchFamily="18" charset="0"/>
                <a:cs typeface="Times New Roman" pitchFamily="18" charset="0"/>
              </a:rPr>
              <a:t> </a:t>
            </a:r>
            <a:r>
              <a:rPr lang="en-IN" sz="2400" b="1" dirty="0">
                <a:solidFill>
                  <a:srgbClr val="C00000"/>
                </a:solidFill>
                <a:latin typeface="Times New Roman" pitchFamily="18" charset="0"/>
                <a:cs typeface="Times New Roman" pitchFamily="18" charset="0"/>
              </a:rPr>
              <a:t>Project </a:t>
            </a:r>
            <a:r>
              <a:rPr lang="en-IN" sz="2400" b="1" dirty="0" smtClean="0">
                <a:solidFill>
                  <a:srgbClr val="C00000"/>
                </a:solidFill>
                <a:latin typeface="Times New Roman" pitchFamily="18" charset="0"/>
                <a:cs typeface="Times New Roman" pitchFamily="18" charset="0"/>
              </a:rPr>
              <a:t>title: </a:t>
            </a:r>
            <a:r>
              <a:rPr lang="en-IN" sz="2400" b="1" dirty="0" smtClean="0">
                <a:solidFill>
                  <a:schemeClr val="bg1"/>
                </a:solidFill>
                <a:latin typeface="Times New Roman" pitchFamily="18" charset="0"/>
                <a:cs typeface="Times New Roman" pitchFamily="18" charset="0"/>
              </a:rPr>
              <a:t>Optimizing Telecom Operations with Segmentation and Churn Prediction  </a:t>
            </a:r>
            <a:r>
              <a:rPr lang="en-IN" sz="2400" dirty="0" smtClean="0">
                <a:solidFill>
                  <a:schemeClr val="bg1"/>
                </a:solidFill>
                <a:latin typeface="Times New Roman" pitchFamily="18" charset="0"/>
                <a:cs typeface="Times New Roman" pitchFamily="18" charset="0"/>
              </a:rPr>
              <a:t>.    </a:t>
            </a:r>
            <a:r>
              <a:rPr lang="en-IN" sz="3000" dirty="0">
                <a:solidFill>
                  <a:schemeClr val="bg1"/>
                </a:solidFill>
                <a:latin typeface="Times New Roman" pitchFamily="18" charset="0"/>
                <a:cs typeface="Times New Roman" pitchFamily="18" charset="0"/>
              </a:rPr>
              <a:t>	</a:t>
            </a:r>
          </a:p>
        </p:txBody>
      </p:sp>
      <p:sp>
        <p:nvSpPr>
          <p:cNvPr id="13320" name="TextBox 7"/>
          <p:cNvSpPr txBox="1">
            <a:spLocks noChangeArrowheads="1"/>
          </p:cNvSpPr>
          <p:nvPr/>
        </p:nvSpPr>
        <p:spPr bwMode="auto">
          <a:xfrm>
            <a:off x="225425" y="3997234"/>
            <a:ext cx="8693150" cy="577081"/>
          </a:xfrm>
          <a:prstGeom prst="rect">
            <a:avLst/>
          </a:prstGeom>
          <a:noFill/>
          <a:ln w="9525">
            <a:noFill/>
            <a:miter lim="800000"/>
            <a:headEnd/>
            <a:tailEnd/>
          </a:ln>
        </p:spPr>
        <p:txBody>
          <a:bodyPr wrap="square">
            <a:spAutoFit/>
          </a:bodyPr>
          <a:lstStyle/>
          <a:p>
            <a:pPr algn="ctr" eaLnBrk="1" hangingPunct="1">
              <a:lnSpc>
                <a:spcPct val="150000"/>
              </a:lnSpc>
            </a:pPr>
            <a:r>
              <a:rPr lang="en-IN" b="1" dirty="0">
                <a:solidFill>
                  <a:srgbClr val="C00000"/>
                </a:solidFill>
                <a:latin typeface="Times New Roman" pitchFamily="18" charset="0"/>
                <a:cs typeface="Times New Roman" pitchFamily="18" charset="0"/>
              </a:rPr>
              <a:t>Mentor</a:t>
            </a:r>
            <a:r>
              <a:rPr lang="en-IN" dirty="0">
                <a:solidFill>
                  <a:srgbClr val="C00000"/>
                </a:solidFill>
                <a:latin typeface="Times New Roman" pitchFamily="18" charset="0"/>
                <a:cs typeface="Times New Roman" pitchFamily="18" charset="0"/>
              </a:rPr>
              <a:t>: </a:t>
            </a:r>
            <a:r>
              <a:rPr lang="en-IN" dirty="0">
                <a:solidFill>
                  <a:schemeClr val="bg1"/>
                </a:solidFill>
                <a:latin typeface="Times New Roman" pitchFamily="18" charset="0"/>
                <a:cs typeface="Times New Roman" pitchFamily="18" charset="0"/>
              </a:rPr>
              <a:t>Ms. </a:t>
            </a:r>
            <a:r>
              <a:rPr lang="en-IN" dirty="0" smtClean="0">
                <a:solidFill>
                  <a:schemeClr val="bg1"/>
                </a:solidFill>
                <a:latin typeface="Times New Roman" pitchFamily="18" charset="0"/>
                <a:cs typeface="Times New Roman" pitchFamily="18" charset="0"/>
              </a:rPr>
              <a:t>K. </a:t>
            </a:r>
            <a:r>
              <a:rPr lang="en-IN" dirty="0" err="1" smtClean="0">
                <a:solidFill>
                  <a:schemeClr val="bg1"/>
                </a:solidFill>
                <a:latin typeface="Times New Roman" pitchFamily="18" charset="0"/>
                <a:cs typeface="Times New Roman" pitchFamily="18" charset="0"/>
              </a:rPr>
              <a:t>Sangeeta</a:t>
            </a:r>
            <a:r>
              <a:rPr lang="en-IN" dirty="0" smtClean="0">
                <a:solidFill>
                  <a:schemeClr val="bg1"/>
                </a:solidFill>
                <a:latin typeface="Times New Roman" pitchFamily="18" charset="0"/>
                <a:cs typeface="Times New Roman" pitchFamily="18" charset="0"/>
              </a:rPr>
              <a:t> , </a:t>
            </a:r>
            <a:r>
              <a:rPr lang="en-IN" dirty="0">
                <a:solidFill>
                  <a:schemeClr val="bg1"/>
                </a:solidFill>
                <a:latin typeface="Times New Roman" pitchFamily="18" charset="0"/>
                <a:cs typeface="Times New Roman" pitchFamily="18" charset="0"/>
              </a:rPr>
              <a:t>Assistant Professor, </a:t>
            </a:r>
            <a:r>
              <a:rPr lang="en-IN" dirty="0" smtClean="0">
                <a:solidFill>
                  <a:schemeClr val="bg1"/>
                </a:solidFill>
                <a:latin typeface="Times New Roman" pitchFamily="18" charset="0"/>
                <a:cs typeface="Times New Roman" pitchFamily="18" charset="0"/>
              </a:rPr>
              <a:t>CSE </a:t>
            </a:r>
            <a:r>
              <a:rPr lang="en-IN" dirty="0">
                <a:solidFill>
                  <a:schemeClr val="bg1"/>
                </a:solidFill>
                <a:latin typeface="Times New Roman" pitchFamily="18" charset="0"/>
                <a:cs typeface="Times New Roman" pitchFamily="18" charset="0"/>
              </a:rPr>
              <a:t>Departmen</a:t>
            </a:r>
            <a:r>
              <a:rPr lang="en-IN" sz="2100" dirty="0">
                <a:solidFill>
                  <a:schemeClr val="bg1"/>
                </a:solidFill>
                <a:latin typeface="Times New Roman" pitchFamily="18" charset="0"/>
                <a:cs typeface="Times New Roman" pitchFamily="18" charset="0"/>
              </a:rPr>
              <a:t>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a:solidFill>
                  <a:schemeClr val="accent2">
                    <a:lumMod val="60000"/>
                    <a:lumOff val="40000"/>
                  </a:schemeClr>
                </a:solidFill>
              </a:rPr>
              <a:t>ABSTRACT</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US" sz="1600" b="0" dirty="0">
                <a:solidFill>
                  <a:schemeClr val="bg1"/>
                </a:solidFill>
                <a:latin typeface="Times New Roman" panose="02020603050405020304" pitchFamily="18" charset="0"/>
                <a:cs typeface="Times New Roman" panose="02020603050405020304" pitchFamily="18" charset="0"/>
              </a:rPr>
              <a:t>Client turnover is a major challenge for large companies, especially in the telecom sector, as it directly affects profitability. Telecom providers are increasingly focused on developing methods to predict customer churn to mitigate its negative effects. Understanding the factors that contribute to churn is essential for preventing it. This work's primary contribution is the development of a churn prediction model, which helps telecom providers identify customers at high risk of churning. We explore different data analysis scenarios and display the results using graphical representations. Our model, built using machine learning techniques, leverages large datasets and introduces a novel approach  for feature design and selection. The datasets used for training, evaluation, and validation include historical customer data from previous months. We experimented with four machine learning algorithms: Logistic Regression, </a:t>
            </a:r>
            <a:r>
              <a:rPr lang="en-US" sz="1600" b="0" dirty="0" err="1">
                <a:solidFill>
                  <a:schemeClr val="bg1"/>
                </a:solidFill>
                <a:latin typeface="Times New Roman" panose="02020603050405020304" pitchFamily="18" charset="0"/>
                <a:cs typeface="Times New Roman" panose="02020603050405020304" pitchFamily="18" charset="0"/>
              </a:rPr>
              <a:t>XGBoost</a:t>
            </a:r>
            <a:r>
              <a:rPr lang="en-US" sz="1600" b="0" dirty="0">
                <a:solidFill>
                  <a:schemeClr val="bg1"/>
                </a:solidFill>
                <a:latin typeface="Times New Roman" panose="02020603050405020304" pitchFamily="18" charset="0"/>
                <a:cs typeface="Times New Roman" panose="02020603050405020304" pitchFamily="18" charset="0"/>
              </a:rPr>
              <a:t>, gradient-boosted machine (GBM) Trees, Random Forests, and Decision Trees. To enhance accuracy, we applied parameter tuning during training. The goal of this study is to optimize telecom operations through effective segmentation and churn prediction, ultimately improving operational efficiency and customer retention. </a:t>
            </a:r>
            <a:r>
              <a:rPr lang="en-US" sz="1600" b="0" dirty="0" smtClean="0">
                <a:solidFill>
                  <a:schemeClr val="bg1"/>
                </a:solidFill>
                <a:latin typeface="Times New Roman" panose="02020603050405020304" pitchFamily="18" charset="0"/>
                <a:cs typeface="Times New Roman" panose="02020603050405020304" pitchFamily="18" charset="0"/>
              </a:rPr>
              <a:t>   </a:t>
            </a: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2</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27740625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a:solidFill>
                  <a:schemeClr val="accent2">
                    <a:lumMod val="60000"/>
                    <a:lumOff val="40000"/>
                  </a:schemeClr>
                </a:solidFill>
              </a:rPr>
              <a:t>PROBLEM STATEMENT</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lvl="0"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The </a:t>
            </a:r>
            <a:r>
              <a:rPr lang="en-US" sz="1600" b="0" dirty="0">
                <a:solidFill>
                  <a:schemeClr val="bg1"/>
                </a:solidFill>
                <a:latin typeface="Times New Roman" panose="02020603050405020304" pitchFamily="18" charset="0"/>
                <a:cs typeface="Times New Roman" panose="02020603050405020304" pitchFamily="18" charset="0"/>
              </a:rPr>
              <a:t>telecommunication industry faces significant challenges due to customer churn, where subscribers discontinue their services, leading to revenue loss and increased customer acquisition costs. This project aims to develop a machine learning model to predict customer churn by analyzing user behavior, service usage patterns, and demographic data. Accurate churn prediction enables telecom companies to proactively engage at-risk customers with retention strategies, such as personalized offers or service improvements. The goal is to enhance customer satisfaction, reduce churn rates, and ultimately increase profitability. The solution involves using various algorithms to process historical data and identify key indicators of churn.</a:t>
            </a:r>
            <a:endParaRPr lang="en-IN"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   </a:t>
            </a: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3</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15576423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a:t>OBJECTIVE</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r>
              <a:rPr lang="en-US" sz="1600" b="0" dirty="0" smtClean="0">
                <a:solidFill>
                  <a:schemeClr val="bg1"/>
                </a:solidFill>
                <a:latin typeface="Times New Roman" panose="02020603050405020304" pitchFamily="18" charset="0"/>
                <a:cs typeface="Times New Roman" panose="02020603050405020304" pitchFamily="18" charset="0"/>
              </a:rPr>
              <a:t>Develop a machine </a:t>
            </a:r>
            <a:r>
              <a:rPr lang="en-US" sz="1600" b="0" dirty="0">
                <a:solidFill>
                  <a:schemeClr val="bg1"/>
                </a:solidFill>
                <a:latin typeface="Times New Roman" panose="02020603050405020304" pitchFamily="18" charset="0"/>
                <a:cs typeface="Times New Roman" panose="02020603050405020304" pitchFamily="18" charset="0"/>
              </a:rPr>
              <a:t>learning </a:t>
            </a:r>
            <a:r>
              <a:rPr lang="en-US" sz="1600" b="0" dirty="0" smtClean="0">
                <a:solidFill>
                  <a:schemeClr val="bg1"/>
                </a:solidFill>
                <a:latin typeface="Times New Roman" panose="02020603050405020304" pitchFamily="18" charset="0"/>
                <a:cs typeface="Times New Roman" panose="02020603050405020304" pitchFamily="18" charset="0"/>
              </a:rPr>
              <a:t>model </a:t>
            </a:r>
            <a:r>
              <a:rPr lang="en-US" sz="1600" b="0" dirty="0">
                <a:solidFill>
                  <a:schemeClr val="bg1"/>
                </a:solidFill>
                <a:latin typeface="Times New Roman" panose="02020603050405020304" pitchFamily="18" charset="0"/>
                <a:cs typeface="Times New Roman" panose="02020603050405020304" pitchFamily="18" charset="0"/>
              </a:rPr>
              <a:t>that predicts customer churn with high accuracy. </a:t>
            </a:r>
            <a:r>
              <a:rPr lang="en-US" sz="1600" b="0" dirty="0" smtClean="0">
                <a:solidFill>
                  <a:schemeClr val="bg1"/>
                </a:solidFill>
                <a:latin typeface="Times New Roman" panose="02020603050405020304" pitchFamily="18" charset="0"/>
                <a:cs typeface="Times New Roman" panose="02020603050405020304" pitchFamily="18" charset="0"/>
              </a:rPr>
              <a:t>Utilize </a:t>
            </a:r>
            <a:r>
              <a:rPr lang="en-US" sz="1600" b="0" dirty="0">
                <a:solidFill>
                  <a:schemeClr val="bg1"/>
                </a:solidFill>
                <a:latin typeface="Times New Roman" panose="02020603050405020304" pitchFamily="18" charset="0"/>
                <a:cs typeface="Times New Roman" panose="02020603050405020304" pitchFamily="18" charset="0"/>
              </a:rPr>
              <a:t>data from </a:t>
            </a:r>
            <a:r>
              <a:rPr lang="en-US" sz="1600" b="0" dirty="0" smtClean="0">
                <a:solidFill>
                  <a:schemeClr val="bg1"/>
                </a:solidFill>
                <a:latin typeface="Times New Roman" panose="02020603050405020304" pitchFamily="18" charset="0"/>
                <a:cs typeface="Times New Roman" panose="02020603050405020304" pitchFamily="18" charset="0"/>
              </a:rPr>
              <a:t>customer historical interactions, usage patterns, and demographic information </a:t>
            </a:r>
            <a:r>
              <a:rPr lang="en-US" sz="1600" b="0" dirty="0">
                <a:solidFill>
                  <a:schemeClr val="bg1"/>
                </a:solidFill>
                <a:latin typeface="Times New Roman" panose="02020603050405020304" pitchFamily="18" charset="0"/>
                <a:cs typeface="Times New Roman" panose="02020603050405020304" pitchFamily="18" charset="0"/>
              </a:rPr>
              <a:t>to inform predictions. </a:t>
            </a:r>
          </a:p>
          <a:p>
            <a:pPr marL="285750" indent="-285750" algn="just">
              <a:buFont typeface="Wingdings" panose="05000000000000000000" pitchFamily="2" charset="2"/>
              <a:buChar char="§"/>
            </a:pPr>
            <a:r>
              <a:rPr lang="en-US" sz="1600" dirty="0" smtClean="0">
                <a:solidFill>
                  <a:schemeClr val="bg1"/>
                </a:solidFill>
                <a:latin typeface="Times New Roman" panose="02020603050405020304" pitchFamily="18" charset="0"/>
                <a:cs typeface="Times New Roman" panose="02020603050405020304" pitchFamily="18" charset="0"/>
              </a:rPr>
              <a:t>Proactive Identification: </a:t>
            </a:r>
            <a:endParaRPr lang="en-US" sz="1600" dirty="0">
              <a:solidFill>
                <a:schemeClr val="bg1"/>
              </a:solidFill>
              <a:latin typeface="Times New Roman" panose="02020603050405020304" pitchFamily="18" charset="0"/>
              <a:cs typeface="Times New Roman" panose="02020603050405020304" pitchFamily="18" charset="0"/>
            </a:endParaRPr>
          </a:p>
          <a:p>
            <a:pPr algn="just"/>
            <a:r>
              <a:rPr lang="en-US" sz="1600" b="0" dirty="0">
                <a:solidFill>
                  <a:schemeClr val="bg1"/>
                </a:solidFill>
                <a:latin typeface="Times New Roman" panose="02020603050405020304" pitchFamily="18" charset="0"/>
                <a:cs typeface="Times New Roman" panose="02020603050405020304" pitchFamily="18" charset="0"/>
              </a:rPr>
              <a:t>- Enable </a:t>
            </a:r>
            <a:r>
              <a:rPr lang="en-US" sz="1600" b="0" dirty="0" smtClean="0">
                <a:solidFill>
                  <a:schemeClr val="bg1"/>
                </a:solidFill>
                <a:latin typeface="Times New Roman" panose="02020603050405020304" pitchFamily="18" charset="0"/>
                <a:cs typeface="Times New Roman" panose="02020603050405020304" pitchFamily="18" charset="0"/>
              </a:rPr>
              <a:t>early detection </a:t>
            </a:r>
            <a:r>
              <a:rPr lang="en-US" sz="1600" b="0" dirty="0">
                <a:solidFill>
                  <a:schemeClr val="bg1"/>
                </a:solidFill>
                <a:latin typeface="Times New Roman" panose="02020603050405020304" pitchFamily="18" charset="0"/>
                <a:cs typeface="Times New Roman" panose="02020603050405020304" pitchFamily="18" charset="0"/>
              </a:rPr>
              <a:t>of customers at risk of churning. </a:t>
            </a:r>
          </a:p>
          <a:p>
            <a:pPr algn="just"/>
            <a:r>
              <a:rPr lang="en-US" sz="1600" b="0" dirty="0">
                <a:solidFill>
                  <a:schemeClr val="bg1"/>
                </a:solidFill>
                <a:latin typeface="Times New Roman" panose="02020603050405020304" pitchFamily="18" charset="0"/>
                <a:cs typeface="Times New Roman" panose="02020603050405020304" pitchFamily="18" charset="0"/>
              </a:rPr>
              <a:t>- Empower telecom companies to take </a:t>
            </a:r>
            <a:r>
              <a:rPr lang="en-US" sz="1600" b="0" dirty="0" smtClean="0">
                <a:solidFill>
                  <a:schemeClr val="bg1"/>
                </a:solidFill>
                <a:latin typeface="Times New Roman" panose="02020603050405020304" pitchFamily="18" charset="0"/>
                <a:cs typeface="Times New Roman" panose="02020603050405020304" pitchFamily="18" charset="0"/>
              </a:rPr>
              <a:t>proactive </a:t>
            </a:r>
            <a:r>
              <a:rPr lang="en-US" sz="1600" b="0" dirty="0">
                <a:solidFill>
                  <a:schemeClr val="bg1"/>
                </a:solidFill>
                <a:latin typeface="Times New Roman" panose="02020603050405020304" pitchFamily="18" charset="0"/>
                <a:cs typeface="Times New Roman" panose="02020603050405020304" pitchFamily="18" charset="0"/>
              </a:rPr>
              <a:t>retention </a:t>
            </a:r>
            <a:r>
              <a:rPr lang="en-US" sz="1600" b="0" dirty="0" smtClean="0">
                <a:solidFill>
                  <a:schemeClr val="bg1"/>
                </a:solidFill>
                <a:latin typeface="Times New Roman" panose="02020603050405020304" pitchFamily="18" charset="0"/>
                <a:cs typeface="Times New Roman" panose="02020603050405020304" pitchFamily="18" charset="0"/>
              </a:rPr>
              <a:t>measures </a:t>
            </a:r>
            <a:r>
              <a:rPr lang="en-US" sz="1600" b="0" dirty="0">
                <a:solidFill>
                  <a:schemeClr val="bg1"/>
                </a:solidFill>
                <a:latin typeface="Times New Roman" panose="02020603050405020304" pitchFamily="18" charset="0"/>
                <a:cs typeface="Times New Roman" panose="02020603050405020304" pitchFamily="18" charset="0"/>
              </a:rPr>
              <a:t>to address potential issues. </a:t>
            </a:r>
          </a:p>
          <a:p>
            <a:pPr marL="285750" indent="-285750" algn="just">
              <a:buFont typeface="Wingdings" panose="05000000000000000000" pitchFamily="2" charset="2"/>
              <a:buChar char="§"/>
            </a:pPr>
            <a:r>
              <a:rPr lang="en-US" sz="1600" dirty="0" smtClean="0">
                <a:solidFill>
                  <a:schemeClr val="bg1"/>
                </a:solidFill>
                <a:latin typeface="Times New Roman" panose="02020603050405020304" pitchFamily="18" charset="0"/>
                <a:cs typeface="Times New Roman" panose="02020603050405020304" pitchFamily="18" charset="0"/>
              </a:rPr>
              <a:t>Personalized Interventions: </a:t>
            </a:r>
            <a:endParaRPr lang="en-US" sz="1600" dirty="0">
              <a:solidFill>
                <a:schemeClr val="bg1"/>
              </a:solidFill>
              <a:latin typeface="Times New Roman" panose="02020603050405020304" pitchFamily="18" charset="0"/>
              <a:cs typeface="Times New Roman" panose="02020603050405020304" pitchFamily="18" charset="0"/>
            </a:endParaRPr>
          </a:p>
          <a:p>
            <a:pPr algn="just"/>
            <a:r>
              <a:rPr lang="en-US" sz="1600" b="0" dirty="0">
                <a:solidFill>
                  <a:schemeClr val="bg1"/>
                </a:solidFill>
                <a:latin typeface="Times New Roman" panose="02020603050405020304" pitchFamily="18" charset="0"/>
                <a:cs typeface="Times New Roman" panose="02020603050405020304" pitchFamily="18" charset="0"/>
              </a:rPr>
              <a:t>- Enhance the ability to design and deliver </a:t>
            </a:r>
            <a:r>
              <a:rPr lang="en-US" sz="1600" b="0" dirty="0" smtClean="0">
                <a:solidFill>
                  <a:schemeClr val="bg1"/>
                </a:solidFill>
                <a:latin typeface="Times New Roman" panose="02020603050405020304" pitchFamily="18" charset="0"/>
                <a:cs typeface="Times New Roman" panose="02020603050405020304" pitchFamily="18" charset="0"/>
              </a:rPr>
              <a:t>tailored </a:t>
            </a:r>
            <a:r>
              <a:rPr lang="en-US" sz="1600" b="0" dirty="0">
                <a:solidFill>
                  <a:schemeClr val="bg1"/>
                </a:solidFill>
                <a:latin typeface="Times New Roman" panose="02020603050405020304" pitchFamily="18" charset="0"/>
                <a:cs typeface="Times New Roman" panose="02020603050405020304" pitchFamily="18" charset="0"/>
              </a:rPr>
              <a:t>retention </a:t>
            </a:r>
            <a:r>
              <a:rPr lang="en-US" sz="1600" b="0" dirty="0" smtClean="0">
                <a:solidFill>
                  <a:schemeClr val="bg1"/>
                </a:solidFill>
                <a:latin typeface="Times New Roman" panose="02020603050405020304" pitchFamily="18" charset="0"/>
                <a:cs typeface="Times New Roman" panose="02020603050405020304" pitchFamily="18" charset="0"/>
              </a:rPr>
              <a:t>strategies </a:t>
            </a:r>
            <a:r>
              <a:rPr lang="en-US" sz="1600" b="0" dirty="0">
                <a:solidFill>
                  <a:schemeClr val="bg1"/>
                </a:solidFill>
                <a:latin typeface="Times New Roman" panose="02020603050405020304" pitchFamily="18" charset="0"/>
                <a:cs typeface="Times New Roman" panose="02020603050405020304" pitchFamily="18" charset="0"/>
              </a:rPr>
              <a:t>that resonate with individual customer needs and preferences. </a:t>
            </a:r>
          </a:p>
          <a:p>
            <a:pPr algn="just"/>
            <a:r>
              <a:rPr lang="en-US" sz="1600" b="0" dirty="0">
                <a:solidFill>
                  <a:schemeClr val="bg1"/>
                </a:solidFill>
                <a:latin typeface="Times New Roman" panose="02020603050405020304" pitchFamily="18" charset="0"/>
                <a:cs typeface="Times New Roman" panose="02020603050405020304" pitchFamily="18" charset="0"/>
              </a:rPr>
              <a:t>- Focus on improving </a:t>
            </a:r>
            <a:r>
              <a:rPr lang="en-US" sz="1600" b="0" dirty="0" smtClean="0">
                <a:solidFill>
                  <a:schemeClr val="bg1"/>
                </a:solidFill>
                <a:latin typeface="Times New Roman" panose="02020603050405020304" pitchFamily="18" charset="0"/>
                <a:cs typeface="Times New Roman" panose="02020603050405020304" pitchFamily="18" charset="0"/>
              </a:rPr>
              <a:t>customer satisfaction </a:t>
            </a:r>
            <a:r>
              <a:rPr lang="en-US" sz="1600" b="0" dirty="0">
                <a:solidFill>
                  <a:schemeClr val="bg1"/>
                </a:solidFill>
                <a:latin typeface="Times New Roman" panose="02020603050405020304" pitchFamily="18" charset="0"/>
                <a:cs typeface="Times New Roman" panose="02020603050405020304" pitchFamily="18" charset="0"/>
              </a:rPr>
              <a:t>and </a:t>
            </a:r>
            <a:r>
              <a:rPr lang="en-US" sz="1600" b="0" dirty="0" smtClean="0">
                <a:solidFill>
                  <a:schemeClr val="bg1"/>
                </a:solidFill>
                <a:latin typeface="Times New Roman" panose="02020603050405020304" pitchFamily="18" charset="0"/>
                <a:cs typeface="Times New Roman" panose="02020603050405020304" pitchFamily="18" charset="0"/>
              </a:rPr>
              <a:t>long-term loyalty through </a:t>
            </a:r>
            <a:r>
              <a:rPr lang="en-US" sz="1600" b="0" dirty="0">
                <a:solidFill>
                  <a:schemeClr val="bg1"/>
                </a:solidFill>
                <a:latin typeface="Times New Roman" panose="02020603050405020304" pitchFamily="18" charset="0"/>
                <a:cs typeface="Times New Roman" panose="02020603050405020304" pitchFamily="18" charset="0"/>
              </a:rPr>
              <a:t>personalized communication and offers. </a:t>
            </a:r>
          </a:p>
          <a:p>
            <a:pPr marL="285750" indent="-285750" algn="just">
              <a:buFont typeface="Wingdings" panose="05000000000000000000" pitchFamily="2" charset="2"/>
              <a:buChar char="§"/>
            </a:pPr>
            <a:r>
              <a:rPr lang="en-US" sz="1600" dirty="0" smtClean="0">
                <a:solidFill>
                  <a:schemeClr val="bg1"/>
                </a:solidFill>
                <a:latin typeface="Times New Roman" panose="02020603050405020304" pitchFamily="18" charset="0"/>
                <a:cs typeface="Times New Roman" panose="02020603050405020304" pitchFamily="18" charset="0"/>
              </a:rPr>
              <a:t>Resource Optimization: </a:t>
            </a:r>
            <a:endParaRPr lang="en-US" sz="1600" dirty="0">
              <a:solidFill>
                <a:schemeClr val="bg1"/>
              </a:solidFill>
              <a:latin typeface="Times New Roman" panose="02020603050405020304" pitchFamily="18" charset="0"/>
              <a:cs typeface="Times New Roman" panose="02020603050405020304" pitchFamily="18" charset="0"/>
            </a:endParaRPr>
          </a:p>
          <a:p>
            <a:pPr algn="just"/>
            <a:r>
              <a:rPr lang="en-US" sz="1600" b="0" dirty="0">
                <a:solidFill>
                  <a:schemeClr val="bg1"/>
                </a:solidFill>
                <a:latin typeface="Times New Roman" panose="02020603050405020304" pitchFamily="18" charset="0"/>
                <a:cs typeface="Times New Roman" panose="02020603050405020304" pitchFamily="18" charset="0"/>
              </a:rPr>
              <a:t>- Allocate resources effectively by focusing on </a:t>
            </a:r>
            <a:r>
              <a:rPr lang="en-US" sz="1600" b="0" dirty="0" smtClean="0">
                <a:solidFill>
                  <a:schemeClr val="bg1"/>
                </a:solidFill>
                <a:latin typeface="Times New Roman" panose="02020603050405020304" pitchFamily="18" charset="0"/>
                <a:cs typeface="Times New Roman" panose="02020603050405020304" pitchFamily="18" charset="0"/>
              </a:rPr>
              <a:t>high-risk </a:t>
            </a:r>
            <a:r>
              <a:rPr lang="en-US" sz="1600" b="0" dirty="0">
                <a:solidFill>
                  <a:schemeClr val="bg1"/>
                </a:solidFill>
                <a:latin typeface="Times New Roman" panose="02020603050405020304" pitchFamily="18" charset="0"/>
                <a:cs typeface="Times New Roman" panose="02020603050405020304" pitchFamily="18" charset="0"/>
              </a:rPr>
              <a:t>customer </a:t>
            </a:r>
            <a:r>
              <a:rPr lang="en-US" sz="1600" b="0" dirty="0" smtClean="0">
                <a:solidFill>
                  <a:schemeClr val="bg1"/>
                </a:solidFill>
                <a:latin typeface="Times New Roman" panose="02020603050405020304" pitchFamily="18" charset="0"/>
                <a:cs typeface="Times New Roman" panose="02020603050405020304" pitchFamily="18" charset="0"/>
              </a:rPr>
              <a:t>segments, </a:t>
            </a:r>
            <a:r>
              <a:rPr lang="en-US" sz="1600" b="0" dirty="0">
                <a:solidFill>
                  <a:schemeClr val="bg1"/>
                </a:solidFill>
                <a:latin typeface="Times New Roman" panose="02020603050405020304" pitchFamily="18" charset="0"/>
                <a:cs typeface="Times New Roman" panose="02020603050405020304" pitchFamily="18" charset="0"/>
              </a:rPr>
              <a:t>optimizing the use of marketing and customer support efforts. </a:t>
            </a:r>
          </a:p>
          <a:p>
            <a:pPr algn="just"/>
            <a:r>
              <a:rPr lang="en-US" sz="1600" b="0" dirty="0">
                <a:solidFill>
                  <a:schemeClr val="bg1"/>
                </a:solidFill>
                <a:latin typeface="Times New Roman" panose="02020603050405020304" pitchFamily="18" charset="0"/>
                <a:cs typeface="Times New Roman" panose="02020603050405020304" pitchFamily="18" charset="0"/>
              </a:rPr>
              <a:t>- Ensure cost-efficient retention strategies that maximize return on investment. </a:t>
            </a:r>
          </a:p>
          <a:p>
            <a:pPr marL="285750" indent="-285750" algn="just">
              <a:buFont typeface="Wingdings" panose="05000000000000000000" pitchFamily="2" charset="2"/>
              <a:buChar char="§"/>
            </a:pPr>
            <a:r>
              <a:rPr lang="en-US" sz="1600" dirty="0" smtClean="0">
                <a:solidFill>
                  <a:schemeClr val="bg1"/>
                </a:solidFill>
                <a:latin typeface="Times New Roman" panose="02020603050405020304" pitchFamily="18" charset="0"/>
                <a:cs typeface="Times New Roman" panose="02020603050405020304" pitchFamily="18" charset="0"/>
              </a:rPr>
              <a:t>Business Impact: </a:t>
            </a:r>
            <a:endParaRPr lang="en-US" sz="1600" dirty="0">
              <a:solidFill>
                <a:schemeClr val="bg1"/>
              </a:solidFill>
              <a:latin typeface="Times New Roman" panose="02020603050405020304" pitchFamily="18" charset="0"/>
              <a:cs typeface="Times New Roman" panose="02020603050405020304" pitchFamily="18" charset="0"/>
            </a:endParaRPr>
          </a:p>
          <a:p>
            <a:pPr algn="just"/>
            <a:r>
              <a:rPr lang="en-US" sz="1600" b="0" dirty="0">
                <a:solidFill>
                  <a:schemeClr val="bg1"/>
                </a:solidFill>
                <a:latin typeface="Times New Roman" panose="02020603050405020304" pitchFamily="18" charset="0"/>
                <a:cs typeface="Times New Roman" panose="02020603050405020304" pitchFamily="18" charset="0"/>
              </a:rPr>
              <a:t>- Achieve a significant reduction in </a:t>
            </a:r>
            <a:r>
              <a:rPr lang="en-US" sz="1600" b="0" dirty="0" smtClean="0">
                <a:solidFill>
                  <a:schemeClr val="bg1"/>
                </a:solidFill>
                <a:latin typeface="Times New Roman" panose="02020603050405020304" pitchFamily="18" charset="0"/>
                <a:cs typeface="Times New Roman" panose="02020603050405020304" pitchFamily="18" charset="0"/>
              </a:rPr>
              <a:t>customer </a:t>
            </a:r>
            <a:r>
              <a:rPr lang="en-US" sz="1600" b="0" dirty="0">
                <a:solidFill>
                  <a:schemeClr val="bg1"/>
                </a:solidFill>
                <a:latin typeface="Times New Roman" panose="02020603050405020304" pitchFamily="18" charset="0"/>
                <a:cs typeface="Times New Roman" panose="02020603050405020304" pitchFamily="18" charset="0"/>
              </a:rPr>
              <a:t>attrition </a:t>
            </a:r>
            <a:r>
              <a:rPr lang="en-US" sz="1600" b="0" dirty="0" smtClean="0">
                <a:solidFill>
                  <a:schemeClr val="bg1"/>
                </a:solidFill>
                <a:latin typeface="Times New Roman" panose="02020603050405020304" pitchFamily="18" charset="0"/>
                <a:cs typeface="Times New Roman" panose="02020603050405020304" pitchFamily="18" charset="0"/>
              </a:rPr>
              <a:t>rates, </a:t>
            </a:r>
            <a:r>
              <a:rPr lang="en-US" sz="1600" b="0" dirty="0">
                <a:solidFill>
                  <a:schemeClr val="bg1"/>
                </a:solidFill>
                <a:latin typeface="Times New Roman" panose="02020603050405020304" pitchFamily="18" charset="0"/>
                <a:cs typeface="Times New Roman" panose="02020603050405020304" pitchFamily="18" charset="0"/>
              </a:rPr>
              <a:t>directly lowering revenue loss. </a:t>
            </a:r>
            <a:r>
              <a:rPr lang="en-US" sz="1600" b="0" dirty="0" smtClean="0">
                <a:solidFill>
                  <a:schemeClr val="bg1"/>
                </a:solidFill>
                <a:latin typeface="Times New Roman" panose="02020603050405020304" pitchFamily="18" charset="0"/>
                <a:cs typeface="Times New Roman" panose="02020603050405020304" pitchFamily="18" charset="0"/>
              </a:rPr>
              <a:t> </a:t>
            </a:r>
            <a:endParaRPr lang="en-US" sz="1600" b="0" dirty="0">
              <a:solidFill>
                <a:schemeClr val="bg1"/>
              </a:solidFill>
              <a:latin typeface="Times New Roman" panose="02020603050405020304" pitchFamily="18" charset="0"/>
              <a:cs typeface="Times New Roman" panose="02020603050405020304" pitchFamily="18" charset="0"/>
            </a:endParaRPr>
          </a:p>
          <a:p>
            <a:pPr algn="just"/>
            <a:r>
              <a:rPr lang="en-US" sz="1600" b="0" dirty="0">
                <a:solidFill>
                  <a:schemeClr val="bg1"/>
                </a:solidFill>
                <a:latin typeface="Times New Roman" panose="02020603050405020304" pitchFamily="18" charset="0"/>
                <a:cs typeface="Times New Roman" panose="02020603050405020304" pitchFamily="18" charset="0"/>
              </a:rPr>
              <a:t>- Enhance the </a:t>
            </a:r>
            <a:r>
              <a:rPr lang="en-US" sz="1600" b="0" dirty="0" smtClean="0">
                <a:solidFill>
                  <a:schemeClr val="bg1"/>
                </a:solidFill>
                <a:latin typeface="Times New Roman" panose="02020603050405020304" pitchFamily="18" charset="0"/>
                <a:cs typeface="Times New Roman" panose="02020603050405020304" pitchFamily="18" charset="0"/>
              </a:rPr>
              <a:t>overall </a:t>
            </a:r>
            <a:r>
              <a:rPr lang="en-US" sz="1600" b="0" dirty="0">
                <a:solidFill>
                  <a:schemeClr val="bg1"/>
                </a:solidFill>
                <a:latin typeface="Times New Roman" panose="02020603050405020304" pitchFamily="18" charset="0"/>
                <a:cs typeface="Times New Roman" panose="02020603050405020304" pitchFamily="18" charset="0"/>
              </a:rPr>
              <a:t>customer </a:t>
            </a:r>
            <a:r>
              <a:rPr lang="en-US" sz="1600" b="0" dirty="0" smtClean="0">
                <a:solidFill>
                  <a:schemeClr val="bg1"/>
                </a:solidFill>
                <a:latin typeface="Times New Roman" panose="02020603050405020304" pitchFamily="18" charset="0"/>
                <a:cs typeface="Times New Roman" panose="02020603050405020304" pitchFamily="18" charset="0"/>
              </a:rPr>
              <a:t>experience, </a:t>
            </a:r>
            <a:r>
              <a:rPr lang="en-US" sz="1600" b="0" dirty="0">
                <a:solidFill>
                  <a:schemeClr val="bg1"/>
                </a:solidFill>
                <a:latin typeface="Times New Roman" panose="02020603050405020304" pitchFamily="18" charset="0"/>
                <a:cs typeface="Times New Roman" panose="02020603050405020304" pitchFamily="18" charset="0"/>
              </a:rPr>
              <a:t>boosting the company’s reputation and competitive advantage. </a:t>
            </a: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   </a:t>
            </a: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4</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4790855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580292"/>
            <a:ext cx="7620000" cy="181708"/>
          </a:xfrm>
        </p:spPr>
        <p:txBody>
          <a:bodyPr/>
          <a:lstStyle/>
          <a:p>
            <a:r>
              <a:rPr lang="en-US" sz="3600" cap="all" dirty="0" smtClean="0"/>
              <a:t>INTRODUCTION</a:t>
            </a:r>
            <a:r>
              <a:rPr lang="en-IN" cap="all" dirty="0" smtClean="0"/>
              <a:t/>
            </a:r>
            <a:br>
              <a:rPr lang="en-IN" cap="all" dirty="0" smtClean="0"/>
            </a:b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Customer </a:t>
            </a:r>
            <a:r>
              <a:rPr lang="en-US" sz="1600" b="0" dirty="0">
                <a:solidFill>
                  <a:schemeClr val="bg1"/>
                </a:solidFill>
                <a:latin typeface="Times New Roman" panose="02020603050405020304" pitchFamily="18" charset="0"/>
                <a:cs typeface="Times New Roman" panose="02020603050405020304" pitchFamily="18" charset="0"/>
              </a:rPr>
              <a:t>churn is a critical issue in the competitive telecom industry, where high churn rates impact profitability and market share. Retaining customers is more cost-effective than acquiring new ones, making churn reduction a priority. Machine learning (ML) provides a transformative solution by analyzing historical customer data—such as service usage, demographics, and interactions—to predict churn. This allows proactive engagement with at-risk customers through personalized incentives or improved service quality. Developing a churn prediction model involves data integration, preprocessing, feature engineering, model training, and evaluation using algorithms like logistic regression, decision </a:t>
            </a:r>
            <a:r>
              <a:rPr lang="en-US" sz="1600" b="0" dirty="0" smtClean="0">
                <a:solidFill>
                  <a:schemeClr val="bg1"/>
                </a:solidFill>
                <a:latin typeface="Times New Roman" panose="02020603050405020304" pitchFamily="18" charset="0"/>
                <a:cs typeface="Times New Roman" panose="02020603050405020304" pitchFamily="18" charset="0"/>
              </a:rPr>
              <a:t>trees. </a:t>
            </a:r>
            <a:r>
              <a:rPr lang="en-US" sz="1600" b="0" dirty="0">
                <a:solidFill>
                  <a:schemeClr val="bg1"/>
                </a:solidFill>
                <a:latin typeface="Times New Roman" panose="02020603050405020304" pitchFamily="18" charset="0"/>
                <a:cs typeface="Times New Roman" panose="02020603050405020304" pitchFamily="18" charset="0"/>
              </a:rPr>
              <a:t>These models identify churn patterns and provide actionable insights to guide product development, customer service, and marketing. Reducing churn enhances customer lifetime value, stabilizes revenue, and helps telecom operators transition to proactive customer management, fostering satisfaction and loyalty in a competitive market.</a:t>
            </a: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5</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23046809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cap="all" dirty="0"/>
              <a:t>literature survey</a:t>
            </a:r>
            <a:endParaRPr lang="en-IN" sz="3600" cap="all" dirty="0"/>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6</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2884" t="1596" r="7980" b="5894"/>
          <a:stretch/>
        </p:blipFill>
        <p:spPr>
          <a:xfrm>
            <a:off x="158260" y="958361"/>
            <a:ext cx="8247186" cy="5108331"/>
          </a:xfrm>
          <a:prstGeom prst="rect">
            <a:avLst/>
          </a:prstGeom>
        </p:spPr>
      </p:pic>
    </p:spTree>
    <p:extLst>
      <p:ext uri="{BB962C8B-B14F-4D97-AF65-F5344CB8AC3E}">
        <p14:creationId xmlns:p14="http://schemas.microsoft.com/office/powerpoint/2010/main" val="16129062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cap="all" dirty="0"/>
              <a:t>literature survey</a:t>
            </a:r>
            <a:endParaRPr lang="en-IN" sz="3600" cap="all" dirty="0"/>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7</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4808" t="12148" r="3943" b="6185"/>
          <a:stretch/>
        </p:blipFill>
        <p:spPr>
          <a:xfrm>
            <a:off x="228601" y="1075653"/>
            <a:ext cx="8168054" cy="5108331"/>
          </a:xfrm>
          <a:prstGeom prst="rect">
            <a:avLst/>
          </a:prstGeom>
        </p:spPr>
      </p:pic>
    </p:spTree>
    <p:extLst>
      <p:ext uri="{BB962C8B-B14F-4D97-AF65-F5344CB8AC3E}">
        <p14:creationId xmlns:p14="http://schemas.microsoft.com/office/powerpoint/2010/main" val="1092104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cap="all" dirty="0"/>
              <a:t>literature survey</a:t>
            </a:r>
            <a:endParaRPr lang="en-IN" sz="3600" cap="all" dirty="0"/>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8</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2500" t="10888" r="3750" b="4947"/>
          <a:stretch/>
        </p:blipFill>
        <p:spPr>
          <a:xfrm>
            <a:off x="228600" y="1415561"/>
            <a:ext cx="8572500" cy="2989385"/>
          </a:xfrm>
          <a:prstGeom prst="rect">
            <a:avLst/>
          </a:prstGeom>
        </p:spPr>
      </p:pic>
    </p:spTree>
    <p:extLst>
      <p:ext uri="{BB962C8B-B14F-4D97-AF65-F5344CB8AC3E}">
        <p14:creationId xmlns:p14="http://schemas.microsoft.com/office/powerpoint/2010/main" val="14292787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smtClean="0"/>
              <a:t>EXISTING </a:t>
            </a:r>
            <a:r>
              <a:rPr lang="en-US" sz="3600" dirty="0"/>
              <a:t>SYSTEM</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r>
              <a:rPr lang="en-IN" sz="2400" dirty="0">
                <a:solidFill>
                  <a:schemeClr val="bg1"/>
                </a:solidFill>
                <a:latin typeface="Times New Roman" panose="02020603050405020304" pitchFamily="18" charset="0"/>
                <a:cs typeface="Times New Roman" panose="02020603050405020304" pitchFamily="18" charset="0"/>
              </a:rPr>
              <a:t>Rule-Based Systems:</a:t>
            </a:r>
          </a:p>
          <a:p>
            <a:pPr lvl="0" algn="just"/>
            <a:r>
              <a:rPr lang="en-IN" sz="1800" dirty="0">
                <a:solidFill>
                  <a:schemeClr val="bg1"/>
                </a:solidFill>
                <a:latin typeface="Times New Roman" panose="02020603050405020304" pitchFamily="18" charset="0"/>
                <a:cs typeface="Times New Roman" panose="02020603050405020304" pitchFamily="18" charset="0"/>
              </a:rPr>
              <a:t>Description: </a:t>
            </a:r>
            <a:r>
              <a:rPr lang="en-IN" sz="1800" b="0" dirty="0">
                <a:solidFill>
                  <a:schemeClr val="bg1"/>
                </a:solidFill>
                <a:latin typeface="Times New Roman" panose="02020603050405020304" pitchFamily="18" charset="0"/>
                <a:cs typeface="Times New Roman" panose="02020603050405020304" pitchFamily="18" charset="0"/>
              </a:rPr>
              <a:t>These systems use predefined rules and thresholds based on domain expertise to flag customers as potential churn risks. For example, a rule might be set to label a customer as likely to churn if they haven’t used the service for a certain number of days.</a:t>
            </a:r>
          </a:p>
          <a:p>
            <a:pPr lvl="0" algn="just"/>
            <a:r>
              <a:rPr lang="en-IN" sz="1800" dirty="0">
                <a:solidFill>
                  <a:schemeClr val="bg1"/>
                </a:solidFill>
                <a:latin typeface="Times New Roman" panose="02020603050405020304" pitchFamily="18" charset="0"/>
                <a:cs typeface="Times New Roman" panose="02020603050405020304" pitchFamily="18" charset="0"/>
              </a:rPr>
              <a:t>Disadvantages:</a:t>
            </a:r>
          </a:p>
          <a:p>
            <a:pPr marL="742950" lvl="1" indent="-285750" algn="just">
              <a:buFont typeface="Courier New" panose="02070309020205020404" pitchFamily="49" charset="0"/>
              <a:buChar char="o"/>
            </a:pPr>
            <a:r>
              <a:rPr lang="en-IN" sz="1800" dirty="0">
                <a:solidFill>
                  <a:schemeClr val="bg1"/>
                </a:solidFill>
                <a:latin typeface="Times New Roman" panose="02020603050405020304" pitchFamily="18" charset="0"/>
                <a:cs typeface="Times New Roman" panose="02020603050405020304" pitchFamily="18" charset="0"/>
              </a:rPr>
              <a:t>Static and Inflexible: Rules are fixed and may not adapt well to changing customer </a:t>
            </a:r>
            <a:r>
              <a:rPr lang="en-IN" sz="1800" dirty="0" err="1">
                <a:solidFill>
                  <a:schemeClr val="bg1"/>
                </a:solidFill>
                <a:latin typeface="Times New Roman" panose="02020603050405020304" pitchFamily="18" charset="0"/>
                <a:cs typeface="Times New Roman" panose="02020603050405020304" pitchFamily="18" charset="0"/>
              </a:rPr>
              <a:t>behaviors</a:t>
            </a:r>
            <a:r>
              <a:rPr lang="en-IN" sz="1800" dirty="0">
                <a:solidFill>
                  <a:schemeClr val="bg1"/>
                </a:solidFill>
                <a:latin typeface="Times New Roman" panose="02020603050405020304" pitchFamily="18" charset="0"/>
                <a:cs typeface="Times New Roman" panose="02020603050405020304" pitchFamily="18" charset="0"/>
              </a:rPr>
              <a:t> or market conditions.</a:t>
            </a:r>
          </a:p>
          <a:p>
            <a:pPr marL="742950" lvl="1" indent="-285750" algn="just">
              <a:buFont typeface="Courier New" panose="02070309020205020404" pitchFamily="49" charset="0"/>
              <a:buChar char="o"/>
            </a:pPr>
            <a:r>
              <a:rPr lang="en-IN" sz="1800" dirty="0">
                <a:solidFill>
                  <a:schemeClr val="bg1"/>
                </a:solidFill>
                <a:latin typeface="Times New Roman" panose="02020603050405020304" pitchFamily="18" charset="0"/>
                <a:cs typeface="Times New Roman" panose="02020603050405020304" pitchFamily="18" charset="0"/>
              </a:rPr>
              <a:t>Limited Complexity: They fail to capture the complex, non-linear relationships in the data that often influence churn.</a:t>
            </a:r>
          </a:p>
          <a:p>
            <a:pPr marL="742950" lvl="1" indent="-285750" algn="just">
              <a:buFont typeface="Courier New" panose="02070309020205020404" pitchFamily="49" charset="0"/>
              <a:buChar char="o"/>
            </a:pPr>
            <a:r>
              <a:rPr lang="en-IN" sz="1800" dirty="0">
                <a:solidFill>
                  <a:schemeClr val="bg1"/>
                </a:solidFill>
                <a:latin typeface="Times New Roman" panose="02020603050405020304" pitchFamily="18" charset="0"/>
                <a:cs typeface="Times New Roman" panose="02020603050405020304" pitchFamily="18" charset="0"/>
              </a:rPr>
              <a:t>High Maintenance: Regular updates and revisions by experts are required to keep the rules relevant and effective</a:t>
            </a:r>
            <a:r>
              <a:rPr lang="en-IN" sz="1800" dirty="0" smtClean="0">
                <a:solidFill>
                  <a:schemeClr val="bg1"/>
                </a:solidFill>
                <a:latin typeface="Times New Roman" panose="02020603050405020304" pitchFamily="18" charset="0"/>
                <a:cs typeface="Times New Roman" panose="02020603050405020304" pitchFamily="18" charset="0"/>
              </a:rPr>
              <a:t>.</a:t>
            </a:r>
            <a:endParaRPr lang="en-IN" sz="1800" dirty="0">
              <a:solidFill>
                <a:schemeClr val="bg1"/>
              </a:solidFill>
              <a:latin typeface="Times New Roman" panose="02020603050405020304" pitchFamily="18" charset="0"/>
              <a:cs typeface="Times New Roman" panose="02020603050405020304" pitchFamily="18" charset="0"/>
            </a:endParaRPr>
          </a:p>
          <a:p>
            <a:pPr marL="742950" lvl="1" indent="-285750" algn="just">
              <a:buFont typeface="Courier New" panose="02070309020205020404" pitchFamily="49" charset="0"/>
              <a:buChar char="o"/>
            </a:pPr>
            <a:endParaRPr lang="en-IN" sz="160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9</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0561814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smtClean="0"/>
              <a:t>EXISTING </a:t>
            </a:r>
            <a:r>
              <a:rPr lang="en-US" sz="3600" dirty="0"/>
              <a:t>SYSTEM</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r>
              <a:rPr lang="en-IN" sz="2400" dirty="0">
                <a:solidFill>
                  <a:schemeClr val="bg1"/>
                </a:solidFill>
                <a:latin typeface="Times New Roman" panose="02020603050405020304" pitchFamily="18" charset="0"/>
                <a:cs typeface="Times New Roman" panose="02020603050405020304" pitchFamily="18" charset="0"/>
              </a:rPr>
              <a:t>Statistical Methods:</a:t>
            </a:r>
          </a:p>
          <a:p>
            <a:pPr lvl="0" algn="just"/>
            <a:r>
              <a:rPr lang="en-IN" sz="1800" dirty="0">
                <a:solidFill>
                  <a:schemeClr val="bg1"/>
                </a:solidFill>
                <a:latin typeface="Times New Roman" panose="02020603050405020304" pitchFamily="18" charset="0"/>
                <a:cs typeface="Times New Roman" panose="02020603050405020304" pitchFamily="18" charset="0"/>
              </a:rPr>
              <a:t>Description: </a:t>
            </a:r>
            <a:r>
              <a:rPr lang="en-IN" sz="1800" b="0" dirty="0">
                <a:solidFill>
                  <a:schemeClr val="bg1"/>
                </a:solidFill>
                <a:latin typeface="Times New Roman" panose="02020603050405020304" pitchFamily="18" charset="0"/>
                <a:cs typeface="Times New Roman" panose="02020603050405020304" pitchFamily="18" charset="0"/>
              </a:rPr>
              <a:t>Techniques such as logistic regression and survival analysis are commonly used to model the probability of churn based on historical data. These methods rely on statistical theories to establish relationships between churn and various customer attributes.</a:t>
            </a:r>
          </a:p>
          <a:p>
            <a:pPr lvl="0" algn="just"/>
            <a:r>
              <a:rPr lang="en-IN" sz="1800" dirty="0">
                <a:solidFill>
                  <a:schemeClr val="bg1"/>
                </a:solidFill>
                <a:latin typeface="Times New Roman" panose="02020603050405020304" pitchFamily="18" charset="0"/>
                <a:cs typeface="Times New Roman" panose="02020603050405020304" pitchFamily="18" charset="0"/>
              </a:rPr>
              <a:t>Disadvantages:</a:t>
            </a:r>
          </a:p>
          <a:p>
            <a:pPr marL="742950" lvl="1" indent="-285750" algn="just">
              <a:buFont typeface="Courier New" panose="02070309020205020404" pitchFamily="49" charset="0"/>
              <a:buChar char="o"/>
            </a:pPr>
            <a:r>
              <a:rPr lang="en-IN" sz="1800" dirty="0">
                <a:solidFill>
                  <a:schemeClr val="bg1"/>
                </a:solidFill>
                <a:latin typeface="Times New Roman" panose="02020603050405020304" pitchFamily="18" charset="0"/>
                <a:cs typeface="Times New Roman" panose="02020603050405020304" pitchFamily="18" charset="0"/>
              </a:rPr>
              <a:t>Assumptions and Simplifications: Many statistical models assume linear relationships and may oversimplify the data.</a:t>
            </a:r>
          </a:p>
          <a:p>
            <a:pPr marL="742950" lvl="1" indent="-285750" algn="just">
              <a:buFont typeface="Courier New" panose="02070309020205020404" pitchFamily="49" charset="0"/>
              <a:buChar char="o"/>
            </a:pPr>
            <a:r>
              <a:rPr lang="en-IN" sz="1800" dirty="0">
                <a:solidFill>
                  <a:schemeClr val="bg1"/>
                </a:solidFill>
                <a:latin typeface="Times New Roman" panose="02020603050405020304" pitchFamily="18" charset="0"/>
                <a:cs typeface="Times New Roman" panose="02020603050405020304" pitchFamily="18" charset="0"/>
              </a:rPr>
              <a:t>Scalability Issues: They may not perform well with large and high-dimensional datasets typical in telecom.</a:t>
            </a:r>
          </a:p>
          <a:p>
            <a:pPr marL="742950" lvl="1" indent="-285750" algn="just">
              <a:buFont typeface="Courier New" panose="02070309020205020404" pitchFamily="49" charset="0"/>
              <a:buChar char="o"/>
            </a:pPr>
            <a:r>
              <a:rPr lang="en-IN" sz="1800" dirty="0">
                <a:solidFill>
                  <a:schemeClr val="bg1"/>
                </a:solidFill>
                <a:latin typeface="Times New Roman" panose="02020603050405020304" pitchFamily="18" charset="0"/>
                <a:cs typeface="Times New Roman" panose="02020603050405020304" pitchFamily="18" charset="0"/>
              </a:rPr>
              <a:t>Less Accurate with Complex Patterns: They struggle to capture intricate patterns and interactions in customer </a:t>
            </a:r>
            <a:r>
              <a:rPr lang="en-IN" sz="1800" dirty="0" smtClean="0">
                <a:solidFill>
                  <a:schemeClr val="bg1"/>
                </a:solidFill>
                <a:latin typeface="Times New Roman" panose="02020603050405020304" pitchFamily="18" charset="0"/>
                <a:cs typeface="Times New Roman" panose="02020603050405020304" pitchFamily="18" charset="0"/>
              </a:rPr>
              <a:t>behaviour.</a:t>
            </a:r>
            <a:endParaRPr lang="en-IN" sz="180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10</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3168002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599" y="152400"/>
            <a:ext cx="8194431" cy="609600"/>
          </a:xfrm>
        </p:spPr>
        <p:txBody>
          <a:bodyPr/>
          <a:lstStyle/>
          <a:p>
            <a:r>
              <a:rPr lang="en-US" sz="3200" dirty="0">
                <a:solidFill>
                  <a:schemeClr val="accent2">
                    <a:lumMod val="60000"/>
                    <a:lumOff val="40000"/>
                  </a:schemeClr>
                </a:solidFill>
                <a:latin typeface="Times New Roman" panose="02020603050405020304" pitchFamily="18" charset="0"/>
                <a:cs typeface="Times New Roman" panose="02020603050405020304" pitchFamily="18" charset="0"/>
              </a:rPr>
              <a:t>DISADVANTAGES OF EXISTING </a:t>
            </a:r>
            <a:r>
              <a:rPr lang="en-US" sz="3200" dirty="0" smtClean="0">
                <a:solidFill>
                  <a:schemeClr val="accent2">
                    <a:lumMod val="60000"/>
                    <a:lumOff val="40000"/>
                  </a:schemeClr>
                </a:solidFill>
                <a:latin typeface="Times New Roman" panose="02020603050405020304" pitchFamily="18" charset="0"/>
                <a:cs typeface="Times New Roman" panose="02020603050405020304" pitchFamily="18" charset="0"/>
              </a:rPr>
              <a:t>SYSTEM</a:t>
            </a:r>
            <a:endParaRPr lang="en-US" sz="3200" dirty="0">
              <a:solidFill>
                <a:schemeClr val="accent2">
                  <a:lumMod val="60000"/>
                  <a:lumOff val="40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984739"/>
            <a:ext cx="8534400" cy="5568462"/>
          </a:xfrm>
        </p:spPr>
        <p:txBody>
          <a:bodyPr/>
          <a:lstStyle/>
          <a:p>
            <a:pPr marL="285750" indent="-285750" algn="just">
              <a:buFont typeface="Wingdings" panose="05000000000000000000" pitchFamily="2" charset="2"/>
              <a:buChar char="§"/>
            </a:pPr>
            <a:r>
              <a:rPr lang="en-US" sz="1800" dirty="0" smtClean="0">
                <a:solidFill>
                  <a:schemeClr val="bg1"/>
                </a:solidFill>
                <a:latin typeface="Times New Roman" panose="02020603050405020304" pitchFamily="18" charset="0"/>
                <a:cs typeface="Times New Roman" panose="02020603050405020304" pitchFamily="18" charset="0"/>
              </a:rPr>
              <a:t>Limited </a:t>
            </a:r>
            <a:r>
              <a:rPr lang="en-US" sz="1800" dirty="0">
                <a:solidFill>
                  <a:schemeClr val="bg1"/>
                </a:solidFill>
                <a:latin typeface="Times New Roman" panose="02020603050405020304" pitchFamily="18" charset="0"/>
                <a:cs typeface="Times New Roman" panose="02020603050405020304" pitchFamily="18" charset="0"/>
              </a:rPr>
              <a:t>Predictive Accuracy:</a:t>
            </a:r>
          </a:p>
          <a:p>
            <a:pPr algn="just"/>
            <a:r>
              <a:rPr lang="en-US" sz="1600" b="0" dirty="0" smtClean="0">
                <a:solidFill>
                  <a:schemeClr val="bg1"/>
                </a:solidFill>
                <a:latin typeface="Times New Roman" panose="02020603050405020304" pitchFamily="18" charset="0"/>
                <a:cs typeface="Times New Roman" panose="02020603050405020304" pitchFamily="18" charset="0"/>
              </a:rPr>
              <a:t>-Traditional </a:t>
            </a:r>
            <a:r>
              <a:rPr lang="en-US" sz="1600" b="0" dirty="0">
                <a:solidFill>
                  <a:schemeClr val="bg1"/>
                </a:solidFill>
                <a:latin typeface="Times New Roman" panose="02020603050405020304" pitchFamily="18" charset="0"/>
                <a:cs typeface="Times New Roman" panose="02020603050405020304" pitchFamily="18" charset="0"/>
              </a:rPr>
              <a:t>methods often struggle to accurately predict churn due to their inability to handle large volumes of data and complex relationships between variables. This can result in either missing potential churners or incorrectly flagging loyal customers as risks</a:t>
            </a:r>
            <a:r>
              <a:rPr lang="en-US" sz="1600" b="0" dirty="0" smtClean="0">
                <a:solidFill>
                  <a:schemeClr val="bg1"/>
                </a:solidFill>
                <a:latin typeface="Times New Roman" panose="02020603050405020304" pitchFamily="18" charset="0"/>
                <a:cs typeface="Times New Roman" panose="02020603050405020304" pitchFamily="18" charset="0"/>
              </a:rPr>
              <a:t>.</a:t>
            </a:r>
          </a:p>
          <a:p>
            <a:pPr algn="just"/>
            <a:endParaRPr lang="en-US" sz="1600" b="0"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bg1"/>
                </a:solidFill>
                <a:latin typeface="Times New Roman" panose="02020603050405020304" pitchFamily="18" charset="0"/>
                <a:cs typeface="Times New Roman" panose="02020603050405020304" pitchFamily="18" charset="0"/>
              </a:rPr>
              <a:t>Reactive </a:t>
            </a:r>
            <a:r>
              <a:rPr lang="en-US" sz="1800" dirty="0">
                <a:solidFill>
                  <a:schemeClr val="bg1"/>
                </a:solidFill>
                <a:latin typeface="Times New Roman" panose="02020603050405020304" pitchFamily="18" charset="0"/>
                <a:cs typeface="Times New Roman" panose="02020603050405020304" pitchFamily="18" charset="0"/>
              </a:rPr>
              <a:t>Rather Than Proactive:</a:t>
            </a:r>
          </a:p>
          <a:p>
            <a:pPr algn="just"/>
            <a:r>
              <a:rPr lang="en-US" sz="1600" b="0" dirty="0" smtClean="0">
                <a:solidFill>
                  <a:schemeClr val="bg1"/>
                </a:solidFill>
                <a:latin typeface="Times New Roman" panose="02020603050405020304" pitchFamily="18" charset="0"/>
                <a:cs typeface="Times New Roman" panose="02020603050405020304" pitchFamily="18" charset="0"/>
              </a:rPr>
              <a:t>-Many </a:t>
            </a:r>
            <a:r>
              <a:rPr lang="en-US" sz="1600" b="0" dirty="0">
                <a:solidFill>
                  <a:schemeClr val="bg1"/>
                </a:solidFill>
                <a:latin typeface="Times New Roman" panose="02020603050405020304" pitchFamily="18" charset="0"/>
                <a:cs typeface="Times New Roman" panose="02020603050405020304" pitchFamily="18" charset="0"/>
              </a:rPr>
              <a:t>existing systems are reactive, responding to churn indicators only after a customer shows clear signs of dissatisfaction or disengagement. This limits the opportunity to intervene early enough to prevent churn</a:t>
            </a:r>
            <a:r>
              <a:rPr lang="en-US" sz="1600" b="0" dirty="0" smtClean="0">
                <a:solidFill>
                  <a:schemeClr val="bg1"/>
                </a:solidFill>
                <a:latin typeface="Times New Roman" panose="02020603050405020304" pitchFamily="18" charset="0"/>
                <a:cs typeface="Times New Roman" panose="02020603050405020304" pitchFamily="18" charset="0"/>
              </a:rPr>
              <a:t>.</a:t>
            </a:r>
          </a:p>
          <a:p>
            <a:pPr algn="just"/>
            <a:endParaRPr lang="en-US" sz="1600" b="0"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bg1"/>
                </a:solidFill>
                <a:latin typeface="Times New Roman" panose="02020603050405020304" pitchFamily="18" charset="0"/>
                <a:cs typeface="Times New Roman" panose="02020603050405020304" pitchFamily="18" charset="0"/>
              </a:rPr>
              <a:t>High </a:t>
            </a:r>
            <a:r>
              <a:rPr lang="en-US" sz="1800" dirty="0">
                <a:solidFill>
                  <a:schemeClr val="bg1"/>
                </a:solidFill>
                <a:latin typeface="Times New Roman" panose="02020603050405020304" pitchFamily="18" charset="0"/>
                <a:cs typeface="Times New Roman" panose="02020603050405020304" pitchFamily="18" charset="0"/>
              </a:rPr>
              <a:t>False Positive and False Negative Rates:</a:t>
            </a:r>
          </a:p>
          <a:p>
            <a:pPr algn="just"/>
            <a:r>
              <a:rPr lang="en-US" sz="1600" b="0" dirty="0" smtClean="0">
                <a:solidFill>
                  <a:schemeClr val="bg1"/>
                </a:solidFill>
                <a:latin typeface="Times New Roman" panose="02020603050405020304" pitchFamily="18" charset="0"/>
                <a:cs typeface="Times New Roman" panose="02020603050405020304" pitchFamily="18" charset="0"/>
              </a:rPr>
              <a:t>-Rule-based </a:t>
            </a:r>
            <a:r>
              <a:rPr lang="en-US" sz="1600" b="0" dirty="0">
                <a:solidFill>
                  <a:schemeClr val="bg1"/>
                </a:solidFill>
                <a:latin typeface="Times New Roman" panose="02020603050405020304" pitchFamily="18" charset="0"/>
                <a:cs typeface="Times New Roman" panose="02020603050405020304" pitchFamily="18" charset="0"/>
              </a:rPr>
              <a:t>and simple statistical models can produce high rates of false positives (identifying non-churning customers as churn risks) and false negatives (failing to identify actual churn risks), leading to inefficient resource allocation in retention efforts</a:t>
            </a:r>
            <a:r>
              <a:rPr lang="en-US" sz="1600" b="0" dirty="0" smtClean="0">
                <a:solidFill>
                  <a:schemeClr val="bg1"/>
                </a:solidFill>
                <a:latin typeface="Times New Roman" panose="02020603050405020304" pitchFamily="18" charset="0"/>
                <a:cs typeface="Times New Roman" panose="02020603050405020304" pitchFamily="18" charset="0"/>
              </a:rPr>
              <a:t>.</a:t>
            </a:r>
          </a:p>
          <a:p>
            <a:pPr algn="just"/>
            <a:endParaRPr lang="en-US" sz="1600" b="0"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bg1"/>
                </a:solidFill>
                <a:latin typeface="Times New Roman" panose="02020603050405020304" pitchFamily="18" charset="0"/>
                <a:cs typeface="Times New Roman" panose="02020603050405020304" pitchFamily="18" charset="0"/>
              </a:rPr>
              <a:t>Poor Adaptability:</a:t>
            </a:r>
          </a:p>
          <a:p>
            <a:pPr algn="just"/>
            <a:r>
              <a:rPr lang="en-US" sz="1600" b="0" dirty="0">
                <a:solidFill>
                  <a:schemeClr val="bg1"/>
                </a:solidFill>
              </a:rPr>
              <a:t>-</a:t>
            </a:r>
            <a:r>
              <a:rPr lang="en-US" sz="1600" b="0" dirty="0" smtClean="0">
                <a:solidFill>
                  <a:schemeClr val="bg1"/>
                </a:solidFill>
                <a:latin typeface="Times New Roman" panose="02020603050405020304" pitchFamily="18" charset="0"/>
                <a:cs typeface="Times New Roman" panose="02020603050405020304" pitchFamily="18" charset="0"/>
              </a:rPr>
              <a:t>Existing systems may not adapt well to rapid changes in customer behavior, market dynamics, or new product offerings, making them less effective over time</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11</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13103059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69984"/>
            <a:ext cx="7620000" cy="609600"/>
          </a:xfrm>
        </p:spPr>
        <p:txBody>
          <a:bodyPr/>
          <a:lstStyle/>
          <a:p>
            <a:r>
              <a:rPr lang="en-US" sz="3600" dirty="0" smtClean="0">
                <a:solidFill>
                  <a:schemeClr val="accent2">
                    <a:lumMod val="60000"/>
                    <a:lumOff val="40000"/>
                  </a:schemeClr>
                </a:solidFill>
              </a:rPr>
              <a:t>PROPOSED SYSTEM</a:t>
            </a:r>
            <a:r>
              <a:rPr lang="en-US" sz="3600" dirty="0" smtClean="0">
                <a:solidFill>
                  <a:schemeClr val="accent2">
                    <a:lumMod val="60000"/>
                    <a:lumOff val="40000"/>
                  </a:schemeClr>
                </a:solidFill>
                <a:latin typeface="Times New Roman" panose="02020603050405020304" pitchFamily="18" charset="0"/>
                <a:cs typeface="Times New Roman" panose="02020603050405020304" pitchFamily="18" charset="0"/>
              </a:rPr>
              <a:t> </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The proposed system leverages machine learning algorithms to predict customer churn by analyzing comprehensive customer data, including usage patterns, service interactions, and demographic factors. It employs advanced techniques such as ensemble learning and deep learning to enhance predictive accuracy and adaptability to changing customer behaviors. </a:t>
            </a:r>
            <a:r>
              <a:rPr lang="en-US" sz="1600" b="0" dirty="0">
                <a:solidFill>
                  <a:schemeClr val="bg1"/>
                </a:solidFill>
                <a:latin typeface="Times New Roman" panose="02020603050405020304" pitchFamily="18" charset="0"/>
                <a:cs typeface="Times New Roman" panose="02020603050405020304" pitchFamily="18" charset="0"/>
              </a:rPr>
              <a:t>By integrating continuous learning capabilities, the system dynamically updates its predictions and models to stay current with evolving data trends. This proactive approach allows telecom companies to implement personalized retention strategies, improving customer satisfaction and reducing churn rates. The system aims to be scalable and robust, capable of handling large datasets typical in the telecom industry.</a:t>
            </a:r>
            <a:r>
              <a:rPr lang="en-US" sz="1600" b="0" dirty="0" smtClean="0">
                <a:solidFill>
                  <a:schemeClr val="bg1"/>
                </a:solidFill>
                <a:latin typeface="Times New Roman" panose="02020603050405020304" pitchFamily="18" charset="0"/>
                <a:cs typeface="Times New Roman" panose="02020603050405020304" pitchFamily="18" charset="0"/>
              </a:rPr>
              <a:t> </a:t>
            </a: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12</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5900139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smtClean="0">
                <a:solidFill>
                  <a:schemeClr val="accent2">
                    <a:lumMod val="60000"/>
                    <a:lumOff val="40000"/>
                  </a:schemeClr>
                </a:solidFill>
              </a:rPr>
              <a:t>ADVANTAGES OF PROPOSED SYSTEM</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marL="285750" indent="-285750" algn="just">
              <a:lnSpc>
                <a:spcPct val="150000"/>
              </a:lnSpc>
              <a:buFont typeface="Wingdings" panose="05000000000000000000" pitchFamily="2" charset="2"/>
              <a:buChar char="§"/>
              <a:defRPr/>
            </a:pPr>
            <a:r>
              <a:rPr lang="en-US" sz="1600" dirty="0" smtClean="0">
                <a:solidFill>
                  <a:schemeClr val="bg1"/>
                </a:solidFill>
                <a:latin typeface="Times New Roman" panose="02020603050405020304" pitchFamily="18" charset="0"/>
                <a:cs typeface="Times New Roman" panose="02020603050405020304" pitchFamily="18" charset="0"/>
              </a:rPr>
              <a:t>Dynamic </a:t>
            </a:r>
            <a:r>
              <a:rPr lang="en-US" sz="1600" dirty="0">
                <a:solidFill>
                  <a:schemeClr val="bg1"/>
                </a:solidFill>
                <a:latin typeface="Times New Roman" panose="02020603050405020304" pitchFamily="18" charset="0"/>
                <a:cs typeface="Times New Roman" panose="02020603050405020304" pitchFamily="18" charset="0"/>
              </a:rPr>
              <a:t>Model Updates: </a:t>
            </a:r>
            <a:r>
              <a:rPr lang="en-US" sz="1600" b="0" dirty="0">
                <a:solidFill>
                  <a:schemeClr val="bg1"/>
                </a:solidFill>
                <a:latin typeface="Times New Roman" panose="02020603050405020304" pitchFamily="18" charset="0"/>
                <a:cs typeface="Times New Roman" panose="02020603050405020304" pitchFamily="18" charset="0"/>
              </a:rPr>
              <a:t>The system continuously learns from new data, adapting its predictions to reflect the latest customer behaviors and market trends, maintaining its accuracy and relevance over time</a:t>
            </a:r>
            <a:r>
              <a:rPr lang="en-US" sz="1600" b="0" dirty="0" smtClean="0">
                <a:solidFill>
                  <a:schemeClr val="bg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
              <a:defRPr/>
            </a:pPr>
            <a:r>
              <a:rPr lang="en-US" sz="1600" dirty="0" smtClean="0">
                <a:solidFill>
                  <a:schemeClr val="bg1"/>
                </a:solidFill>
                <a:latin typeface="Times New Roman" panose="02020603050405020304" pitchFamily="18" charset="0"/>
                <a:cs typeface="Times New Roman" panose="02020603050405020304" pitchFamily="18" charset="0"/>
              </a:rPr>
              <a:t>Real-Time </a:t>
            </a:r>
            <a:r>
              <a:rPr lang="en-US" sz="1600" dirty="0">
                <a:solidFill>
                  <a:schemeClr val="bg1"/>
                </a:solidFill>
                <a:latin typeface="Times New Roman" panose="02020603050405020304" pitchFamily="18" charset="0"/>
                <a:cs typeface="Times New Roman" panose="02020603050405020304" pitchFamily="18" charset="0"/>
              </a:rPr>
              <a:t>Insights: </a:t>
            </a:r>
            <a:r>
              <a:rPr lang="en-US" sz="1600" b="0" dirty="0">
                <a:solidFill>
                  <a:schemeClr val="bg1"/>
                </a:solidFill>
                <a:latin typeface="Times New Roman" panose="02020603050405020304" pitchFamily="18" charset="0"/>
                <a:cs typeface="Times New Roman" panose="02020603050405020304" pitchFamily="18" charset="0"/>
              </a:rPr>
              <a:t>It can provide real-time churn predictions, enabling timely and proactive customer engagement strategies</a:t>
            </a:r>
            <a:r>
              <a:rPr lang="en-US" sz="1600" b="0" dirty="0" smtClean="0">
                <a:solidFill>
                  <a:schemeClr val="bg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
              <a:defRPr/>
            </a:pPr>
            <a:r>
              <a:rPr lang="en-US" sz="1600" dirty="0" smtClean="0">
                <a:solidFill>
                  <a:schemeClr val="bg1"/>
                </a:solidFill>
                <a:latin typeface="Times New Roman" panose="02020603050405020304" pitchFamily="18" charset="0"/>
                <a:cs typeface="Times New Roman" panose="02020603050405020304" pitchFamily="18" charset="0"/>
              </a:rPr>
              <a:t>Enhanced </a:t>
            </a:r>
            <a:r>
              <a:rPr lang="en-US" sz="1600" dirty="0">
                <a:solidFill>
                  <a:schemeClr val="bg1"/>
                </a:solidFill>
                <a:latin typeface="Times New Roman" panose="02020603050405020304" pitchFamily="18" charset="0"/>
                <a:cs typeface="Times New Roman" panose="02020603050405020304" pitchFamily="18" charset="0"/>
              </a:rPr>
              <a:t>Customer Experience: </a:t>
            </a:r>
            <a:r>
              <a:rPr lang="en-US" sz="1600" b="0" dirty="0">
                <a:solidFill>
                  <a:schemeClr val="bg1"/>
                </a:solidFill>
                <a:latin typeface="Times New Roman" panose="02020603050405020304" pitchFamily="18" charset="0"/>
                <a:cs typeface="Times New Roman" panose="02020603050405020304" pitchFamily="18" charset="0"/>
              </a:rPr>
              <a:t>Personalized interventions improve customer satisfaction and loyalty by addressing specific needs and concerns, reducing the likelihood of churn. </a:t>
            </a:r>
            <a:endParaRPr lang="en-US" sz="1600" b="0" dirty="0" smtClean="0">
              <a:solidFill>
                <a:schemeClr val="bg1"/>
              </a:solidFill>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
              <a:defRPr/>
            </a:pPr>
            <a:r>
              <a:rPr lang="en-US" sz="1600" dirty="0" smtClean="0">
                <a:solidFill>
                  <a:schemeClr val="bg1"/>
                </a:solidFill>
                <a:latin typeface="Times New Roman" panose="02020603050405020304" pitchFamily="18" charset="0"/>
                <a:cs typeface="Times New Roman" panose="02020603050405020304" pitchFamily="18" charset="0"/>
              </a:rPr>
              <a:t>Reduced </a:t>
            </a:r>
            <a:r>
              <a:rPr lang="en-US" sz="1600" dirty="0">
                <a:solidFill>
                  <a:schemeClr val="bg1"/>
                </a:solidFill>
                <a:latin typeface="Times New Roman" panose="02020603050405020304" pitchFamily="18" charset="0"/>
                <a:cs typeface="Times New Roman" panose="02020603050405020304" pitchFamily="18" charset="0"/>
              </a:rPr>
              <a:t>Customer Acquisition Costs: </a:t>
            </a:r>
            <a:r>
              <a:rPr lang="en-US" sz="1600" b="0" dirty="0">
                <a:solidFill>
                  <a:schemeClr val="bg1"/>
                </a:solidFill>
                <a:latin typeface="Times New Roman" panose="02020603050405020304" pitchFamily="18" charset="0"/>
                <a:cs typeface="Times New Roman" panose="02020603050405020304" pitchFamily="18" charset="0"/>
              </a:rPr>
              <a:t>By lowering churn rates, the system helps reduce the need for expensive customer acquisition efforts</a:t>
            </a:r>
            <a:r>
              <a:rPr lang="en-US" sz="1600" b="0" dirty="0" smtClean="0">
                <a:solidFill>
                  <a:schemeClr val="bg1"/>
                </a:solidFill>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
              <a:defRPr/>
            </a:pPr>
            <a:r>
              <a:rPr lang="en-US" sz="1600" dirty="0" smtClean="0">
                <a:solidFill>
                  <a:schemeClr val="bg1"/>
                </a:solidFill>
                <a:latin typeface="Times New Roman" panose="02020603050405020304" pitchFamily="18" charset="0"/>
                <a:cs typeface="Times New Roman" panose="02020603050405020304" pitchFamily="18" charset="0"/>
              </a:rPr>
              <a:t>Optimized </a:t>
            </a:r>
            <a:r>
              <a:rPr lang="en-US" sz="1600" dirty="0">
                <a:solidFill>
                  <a:schemeClr val="bg1"/>
                </a:solidFill>
                <a:latin typeface="Times New Roman" panose="02020603050405020304" pitchFamily="18" charset="0"/>
                <a:cs typeface="Times New Roman" panose="02020603050405020304" pitchFamily="18" charset="0"/>
              </a:rPr>
              <a:t>Resource Allocation: </a:t>
            </a:r>
            <a:r>
              <a:rPr lang="en-US" sz="1600" b="0" dirty="0">
                <a:solidFill>
                  <a:schemeClr val="bg1"/>
                </a:solidFill>
                <a:latin typeface="Times New Roman" panose="02020603050405020304" pitchFamily="18" charset="0"/>
                <a:cs typeface="Times New Roman" panose="02020603050405020304" pitchFamily="18" charset="0"/>
              </a:rPr>
              <a:t>Better prediction accuracy and customer segmentation allow for more efficient use of resources in retention campaigns, minimizing waste and maximizing ROI.</a:t>
            </a: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13</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28530897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967" y="149291"/>
            <a:ext cx="8346233" cy="643811"/>
          </a:xfrm>
        </p:spPr>
        <p:txBody>
          <a:bodyPr/>
          <a:lstStyle/>
          <a:p>
            <a:r>
              <a:rPr lang="en-IN" dirty="0" smtClean="0"/>
              <a:t>WORKFLOW</a:t>
            </a:r>
            <a:endParaRPr lang="en-IN" dirty="0"/>
          </a:p>
        </p:txBody>
      </p:sp>
      <p:sp>
        <p:nvSpPr>
          <p:cNvPr id="4" name="Slide Number Placeholder 3"/>
          <p:cNvSpPr>
            <a:spLocks noGrp="1"/>
          </p:cNvSpPr>
          <p:nvPr>
            <p:ph type="sldNum" sz="quarter" idx="12"/>
          </p:nvPr>
        </p:nvSpPr>
        <p:spPr/>
        <p:txBody>
          <a:bodyPr/>
          <a:lstStyle/>
          <a:p>
            <a:fld id="{7E3D8A1A-F310-4C9F-9F39-DEED8B092108}" type="slidenum">
              <a:rPr lang="en-US" smtClean="0"/>
              <a:pPr/>
              <a:t>14</a:t>
            </a:fld>
            <a:endParaRPr lang="en-US"/>
          </a:p>
        </p:txBody>
      </p:sp>
      <p:pic>
        <p:nvPicPr>
          <p:cNvPr id="12" name="Picture 11"/>
          <p:cNvPicPr>
            <a:picLocks noChangeAspect="1"/>
          </p:cNvPicPr>
          <p:nvPr/>
        </p:nvPicPr>
        <p:blipFill>
          <a:blip r:embed="rId2"/>
          <a:stretch>
            <a:fillRect/>
          </a:stretch>
        </p:blipFill>
        <p:spPr>
          <a:xfrm>
            <a:off x="1493520" y="1183900"/>
            <a:ext cx="5364945" cy="4846740"/>
          </a:xfrm>
          <a:prstGeom prst="rect">
            <a:avLst/>
          </a:prstGeom>
        </p:spPr>
      </p:pic>
    </p:spTree>
    <p:extLst>
      <p:ext uri="{BB962C8B-B14F-4D97-AF65-F5344CB8AC3E}">
        <p14:creationId xmlns:p14="http://schemas.microsoft.com/office/powerpoint/2010/main" val="675453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smtClean="0">
                <a:solidFill>
                  <a:schemeClr val="accent2">
                    <a:lumMod val="60000"/>
                    <a:lumOff val="40000"/>
                  </a:schemeClr>
                </a:solidFill>
              </a:rPr>
              <a:t>SYSTEM DESIGN</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DATA </a:t>
            </a:r>
            <a:r>
              <a:rPr lang="en-US" sz="1600" dirty="0">
                <a:solidFill>
                  <a:schemeClr val="bg1"/>
                </a:solidFill>
                <a:latin typeface="Times New Roman" panose="02020603050405020304" pitchFamily="18" charset="0"/>
                <a:cs typeface="Times New Roman" panose="02020603050405020304" pitchFamily="18" charset="0"/>
              </a:rPr>
              <a:t>COLLECTION: </a:t>
            </a:r>
            <a:endParaRPr lang="en-US" sz="160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IN </a:t>
            </a:r>
            <a:r>
              <a:rPr lang="en-US" sz="1600" b="0" dirty="0">
                <a:solidFill>
                  <a:schemeClr val="bg1"/>
                </a:solidFill>
                <a:latin typeface="Times New Roman" panose="02020603050405020304" pitchFamily="18" charset="0"/>
                <a:cs typeface="Times New Roman" panose="02020603050405020304" pitchFamily="18" charset="0"/>
              </a:rPr>
              <a:t>this project we use telecom customer dataset collected from </a:t>
            </a:r>
            <a:r>
              <a:rPr lang="en-US" sz="1600" b="0" dirty="0" err="1">
                <a:solidFill>
                  <a:schemeClr val="bg1"/>
                </a:solidFill>
                <a:latin typeface="Times New Roman" panose="02020603050405020304" pitchFamily="18" charset="0"/>
                <a:cs typeface="Times New Roman" panose="02020603050405020304" pitchFamily="18" charset="0"/>
              </a:rPr>
              <a:t>Kaggle</a:t>
            </a:r>
            <a:r>
              <a:rPr lang="en-US" sz="1600" b="0" dirty="0">
                <a:solidFill>
                  <a:schemeClr val="bg1"/>
                </a:solidFill>
                <a:latin typeface="Times New Roman" panose="02020603050405020304" pitchFamily="18" charset="0"/>
                <a:cs typeface="Times New Roman" panose="02020603050405020304" pitchFamily="18" charset="0"/>
              </a:rPr>
              <a:t> which has few features related to connections and taken services features which are collected from churn prediction and 0 and 1 as </a:t>
            </a:r>
            <a:r>
              <a:rPr lang="en-US" sz="1600" b="0" dirty="0" smtClean="0">
                <a:solidFill>
                  <a:schemeClr val="bg1"/>
                </a:solidFill>
                <a:latin typeface="Times New Roman" panose="02020603050405020304" pitchFamily="18" charset="0"/>
                <a:cs typeface="Times New Roman" panose="02020603050405020304" pitchFamily="18" charset="0"/>
              </a:rPr>
              <a:t>labels.</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PRE-PROCESSING</a:t>
            </a:r>
            <a:r>
              <a:rPr lang="en-US" sz="1600" dirty="0">
                <a:solidFill>
                  <a:schemeClr val="bg1"/>
                </a:solidFill>
                <a:latin typeface="Times New Roman" panose="02020603050405020304" pitchFamily="18" charset="0"/>
                <a:cs typeface="Times New Roman" panose="02020603050405020304" pitchFamily="18" charset="0"/>
              </a:rPr>
              <a:t>: </a:t>
            </a:r>
            <a:endParaRPr lang="en-US" sz="160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our </a:t>
            </a:r>
            <a:r>
              <a:rPr lang="en-US" sz="1600" b="0" dirty="0">
                <a:solidFill>
                  <a:schemeClr val="bg1"/>
                </a:solidFill>
                <a:latin typeface="Times New Roman" panose="02020603050405020304" pitchFamily="18" charset="0"/>
                <a:cs typeface="Times New Roman" panose="02020603050405020304" pitchFamily="18" charset="0"/>
              </a:rPr>
              <a:t>dataset consists of 30 features and even the evaluation of those lowest effective dose in the dataset. This method searches key features and selects all 30 features for training the machine using Machine learning </a:t>
            </a:r>
            <a:r>
              <a:rPr lang="en-US" sz="1600" b="0" dirty="0" err="1">
                <a:solidFill>
                  <a:schemeClr val="bg1"/>
                </a:solidFill>
                <a:latin typeface="Times New Roman" panose="02020603050405020304" pitchFamily="18" charset="0"/>
                <a:cs typeface="Times New Roman" panose="02020603050405020304" pitchFamily="18" charset="0"/>
              </a:rPr>
              <a:t>models.Then</a:t>
            </a:r>
            <a:r>
              <a:rPr lang="en-US" sz="1600" b="0" dirty="0">
                <a:solidFill>
                  <a:schemeClr val="bg1"/>
                </a:solidFill>
                <a:latin typeface="Times New Roman" panose="02020603050405020304" pitchFamily="18" charset="0"/>
                <a:cs typeface="Times New Roman" panose="02020603050405020304" pitchFamily="18" charset="0"/>
              </a:rPr>
              <a:t> split the data into test and </a:t>
            </a:r>
            <a:r>
              <a:rPr lang="en-US" sz="1600" b="0" dirty="0" err="1">
                <a:solidFill>
                  <a:schemeClr val="bg1"/>
                </a:solidFill>
                <a:latin typeface="Times New Roman" panose="02020603050405020304" pitchFamily="18" charset="0"/>
                <a:cs typeface="Times New Roman" panose="02020603050405020304" pitchFamily="18" charset="0"/>
              </a:rPr>
              <a:t>train.Train</a:t>
            </a:r>
            <a:r>
              <a:rPr lang="en-US" sz="1600" b="0" dirty="0">
                <a:solidFill>
                  <a:schemeClr val="bg1"/>
                </a:solidFill>
                <a:latin typeface="Times New Roman" panose="02020603050405020304" pitchFamily="18" charset="0"/>
                <a:cs typeface="Times New Roman" panose="02020603050405020304" pitchFamily="18" charset="0"/>
              </a:rPr>
              <a:t> the machine with 80% training data .This training data contains feature and </a:t>
            </a:r>
            <a:r>
              <a:rPr lang="en-US" sz="1600" b="0" dirty="0" err="1">
                <a:solidFill>
                  <a:schemeClr val="bg1"/>
                </a:solidFill>
                <a:latin typeface="Times New Roman" panose="02020603050405020304" pitchFamily="18" charset="0"/>
                <a:cs typeface="Times New Roman" panose="02020603050405020304" pitchFamily="18" charset="0"/>
              </a:rPr>
              <a:t>label.Remain</a:t>
            </a:r>
            <a:r>
              <a:rPr lang="en-US" sz="1600" b="0" dirty="0">
                <a:solidFill>
                  <a:schemeClr val="bg1"/>
                </a:solidFill>
                <a:latin typeface="Times New Roman" panose="02020603050405020304" pitchFamily="18" charset="0"/>
                <a:cs typeface="Times New Roman" panose="02020603050405020304" pitchFamily="18" charset="0"/>
              </a:rPr>
              <a:t> 20% split-up was used to test the machine </a:t>
            </a:r>
            <a:r>
              <a:rPr lang="en-US" sz="1600" dirty="0"/>
              <a:t>learning model.</a:t>
            </a: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15</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7628107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smtClean="0">
                <a:solidFill>
                  <a:schemeClr val="accent2">
                    <a:lumMod val="60000"/>
                    <a:lumOff val="40000"/>
                  </a:schemeClr>
                </a:solidFill>
              </a:rPr>
              <a:t>SYSTEM </a:t>
            </a:r>
            <a:r>
              <a:rPr lang="en-US" sz="3600" dirty="0">
                <a:solidFill>
                  <a:schemeClr val="accent2">
                    <a:lumMod val="60000"/>
                    <a:lumOff val="40000"/>
                  </a:schemeClr>
                </a:solidFill>
              </a:rPr>
              <a:t>DESIGN</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167054" y="984739"/>
            <a:ext cx="8595946" cy="5568462"/>
          </a:xfrm>
        </p:spPr>
        <p:txBody>
          <a:bodyPr/>
          <a:lstStyle/>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TRAIN-TEST </a:t>
            </a:r>
            <a:r>
              <a:rPr lang="en-US" sz="1600" dirty="0">
                <a:solidFill>
                  <a:schemeClr val="bg1"/>
                </a:solidFill>
                <a:latin typeface="Times New Roman" panose="02020603050405020304" pitchFamily="18" charset="0"/>
                <a:cs typeface="Times New Roman" panose="02020603050405020304" pitchFamily="18" charset="0"/>
              </a:rPr>
              <a:t>SPLIT AND MODEL FITTING: </a:t>
            </a:r>
            <a:endParaRPr lang="en-US" sz="160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Now</a:t>
            </a:r>
            <a:r>
              <a:rPr lang="en-US" sz="1600" b="0" dirty="0">
                <a:solidFill>
                  <a:schemeClr val="bg1"/>
                </a:solidFill>
                <a:latin typeface="Times New Roman" panose="02020603050405020304" pitchFamily="18" charset="0"/>
                <a:cs typeface="Times New Roman" panose="02020603050405020304" pitchFamily="18" charset="0"/>
              </a:rPr>
              <a:t>, we divide our dataset into training and testing data. Our objective for doing this split is to assess the performance of our model on unseen data and to determine how well our model has generalized on training data. This is followed by a model fitting which is an essential step in the model building process.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Model </a:t>
            </a:r>
            <a:r>
              <a:rPr lang="en-US" sz="1600" dirty="0">
                <a:solidFill>
                  <a:schemeClr val="bg1"/>
                </a:solidFill>
                <a:latin typeface="Times New Roman" panose="02020603050405020304" pitchFamily="18" charset="0"/>
                <a:cs typeface="Times New Roman" panose="02020603050405020304" pitchFamily="18" charset="0"/>
              </a:rPr>
              <a:t>Evaluation and Predictions: </a:t>
            </a:r>
            <a:endParaRPr lang="en-US" sz="160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This </a:t>
            </a:r>
            <a:r>
              <a:rPr lang="en-US" sz="1600" b="0" dirty="0">
                <a:solidFill>
                  <a:schemeClr val="bg1"/>
                </a:solidFill>
                <a:latin typeface="Times New Roman" panose="02020603050405020304" pitchFamily="18" charset="0"/>
                <a:cs typeface="Times New Roman" panose="02020603050405020304" pitchFamily="18" charset="0"/>
              </a:rPr>
              <a:t>is the final step, in which we assess how well our model has performed on testing data using certain scoring metrics, I have used 'accuracy score' to evaluate my model. First, we create a model instance, this is followed by fitting the training data on the model using a fit method and then we will use the predict method to make predictions on </a:t>
            </a:r>
            <a:r>
              <a:rPr lang="en-US" sz="1600" b="0" dirty="0" err="1">
                <a:solidFill>
                  <a:schemeClr val="bg1"/>
                </a:solidFill>
                <a:latin typeface="Times New Roman" panose="02020603050405020304" pitchFamily="18" charset="0"/>
                <a:cs typeface="Times New Roman" panose="02020603050405020304" pitchFamily="18" charset="0"/>
              </a:rPr>
              <a:t>x_test</a:t>
            </a:r>
            <a:r>
              <a:rPr lang="en-US" sz="1600" b="0" dirty="0">
                <a:solidFill>
                  <a:schemeClr val="bg1"/>
                </a:solidFill>
                <a:latin typeface="Times New Roman" panose="02020603050405020304" pitchFamily="18" charset="0"/>
                <a:cs typeface="Times New Roman" panose="02020603050405020304" pitchFamily="18" charset="0"/>
              </a:rPr>
              <a:t> or the testing data, these predictions will be stored in a variable called </a:t>
            </a:r>
            <a:r>
              <a:rPr lang="en-US" sz="1600" b="0" dirty="0" err="1">
                <a:solidFill>
                  <a:schemeClr val="bg1"/>
                </a:solidFill>
                <a:latin typeface="Times New Roman" panose="02020603050405020304" pitchFamily="18" charset="0"/>
                <a:cs typeface="Times New Roman" panose="02020603050405020304" pitchFamily="18" charset="0"/>
              </a:rPr>
              <a:t>y_test_hat</a:t>
            </a:r>
            <a:r>
              <a:rPr lang="en-US" sz="1600" b="0" dirty="0">
                <a:solidFill>
                  <a:schemeClr val="bg1"/>
                </a:solidFill>
                <a:latin typeface="Times New Roman" panose="02020603050405020304" pitchFamily="18" charset="0"/>
                <a:cs typeface="Times New Roman" panose="02020603050405020304" pitchFamily="18" charset="0"/>
              </a:rPr>
              <a:t>. For model evaluation, we will feed the </a:t>
            </a:r>
            <a:r>
              <a:rPr lang="en-US" sz="1600" b="0" dirty="0" err="1">
                <a:solidFill>
                  <a:schemeClr val="bg1"/>
                </a:solidFill>
                <a:latin typeface="Times New Roman" panose="02020603050405020304" pitchFamily="18" charset="0"/>
                <a:cs typeface="Times New Roman" panose="02020603050405020304" pitchFamily="18" charset="0"/>
              </a:rPr>
              <a:t>y_test</a:t>
            </a:r>
            <a:r>
              <a:rPr lang="en-US" sz="1600" b="0" dirty="0">
                <a:solidFill>
                  <a:schemeClr val="bg1"/>
                </a:solidFill>
                <a:latin typeface="Times New Roman" panose="02020603050405020304" pitchFamily="18" charset="0"/>
                <a:cs typeface="Times New Roman" panose="02020603050405020304" pitchFamily="18" charset="0"/>
              </a:rPr>
              <a:t> and </a:t>
            </a:r>
            <a:r>
              <a:rPr lang="en-US" sz="1600" b="0" dirty="0" err="1">
                <a:solidFill>
                  <a:schemeClr val="bg1"/>
                </a:solidFill>
                <a:latin typeface="Times New Roman" panose="02020603050405020304" pitchFamily="18" charset="0"/>
                <a:cs typeface="Times New Roman" panose="02020603050405020304" pitchFamily="18" charset="0"/>
              </a:rPr>
              <a:t>y_test_hat</a:t>
            </a:r>
            <a:r>
              <a:rPr lang="en-US" sz="1600" b="0" dirty="0">
                <a:solidFill>
                  <a:schemeClr val="bg1"/>
                </a:solidFill>
                <a:latin typeface="Times New Roman" panose="02020603050405020304" pitchFamily="18" charset="0"/>
                <a:cs typeface="Times New Roman" panose="02020603050405020304" pitchFamily="18" charset="0"/>
              </a:rPr>
              <a:t> into the </a:t>
            </a:r>
            <a:r>
              <a:rPr lang="en-US" sz="1600" b="0" dirty="0" err="1">
                <a:solidFill>
                  <a:schemeClr val="bg1"/>
                </a:solidFill>
                <a:latin typeface="Times New Roman" panose="02020603050405020304" pitchFamily="18" charset="0"/>
                <a:cs typeface="Times New Roman" panose="02020603050405020304" pitchFamily="18" charset="0"/>
              </a:rPr>
              <a:t>accuracy_score</a:t>
            </a:r>
            <a:r>
              <a:rPr lang="en-US" sz="1600" b="0" dirty="0">
                <a:solidFill>
                  <a:schemeClr val="bg1"/>
                </a:solidFill>
                <a:latin typeface="Times New Roman" panose="02020603050405020304" pitchFamily="18" charset="0"/>
                <a:cs typeface="Times New Roman" panose="02020603050405020304" pitchFamily="18" charset="0"/>
              </a:rPr>
              <a:t> function and store it in a variable called </a:t>
            </a:r>
            <a:r>
              <a:rPr lang="en-US" sz="1600" b="0" dirty="0" err="1">
                <a:solidFill>
                  <a:schemeClr val="bg1"/>
                </a:solidFill>
                <a:latin typeface="Times New Roman" panose="02020603050405020304" pitchFamily="18" charset="0"/>
                <a:cs typeface="Times New Roman" panose="02020603050405020304" pitchFamily="18" charset="0"/>
              </a:rPr>
              <a:t>test_accuracy</a:t>
            </a:r>
            <a:r>
              <a:rPr lang="en-US" sz="1600" b="0" dirty="0">
                <a:solidFill>
                  <a:schemeClr val="bg1"/>
                </a:solidFill>
                <a:latin typeface="Times New Roman" panose="02020603050405020304" pitchFamily="18" charset="0"/>
                <a:cs typeface="Times New Roman" panose="02020603050405020304" pitchFamily="18" charset="0"/>
              </a:rPr>
              <a:t>, a variable that will hold the testing accuracy of our model. We followed these steps for a variety of classification algorithm models and obtained corresponding test accuracy scores. </a:t>
            </a: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16</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42685212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IN" sz="3600" dirty="0" smtClean="0">
                <a:solidFill>
                  <a:schemeClr val="accent2">
                    <a:lumMod val="60000"/>
                    <a:lumOff val="40000"/>
                  </a:schemeClr>
                </a:solidFill>
              </a:rPr>
              <a:t>ALGORITHMS</a:t>
            </a: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US" sz="2000" dirty="0" smtClean="0">
                <a:solidFill>
                  <a:schemeClr val="bg1"/>
                </a:solidFill>
                <a:latin typeface="Times New Roman" panose="02020603050405020304" pitchFamily="18" charset="0"/>
                <a:cs typeface="Times New Roman" panose="02020603050405020304" pitchFamily="18" charset="0"/>
              </a:rPr>
              <a:t>Logistic </a:t>
            </a:r>
            <a:r>
              <a:rPr lang="en-US" sz="2000" dirty="0">
                <a:solidFill>
                  <a:schemeClr val="bg1"/>
                </a:solidFill>
                <a:latin typeface="Times New Roman" panose="02020603050405020304" pitchFamily="18" charset="0"/>
                <a:cs typeface="Times New Roman" panose="02020603050405020304" pitchFamily="18" charset="0"/>
              </a:rPr>
              <a:t>regression </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What </a:t>
            </a:r>
            <a:r>
              <a:rPr lang="en-US" sz="1600" dirty="0">
                <a:solidFill>
                  <a:schemeClr val="bg1"/>
                </a:solidFill>
                <a:latin typeface="Times New Roman" panose="02020603050405020304" pitchFamily="18" charset="0"/>
                <a:cs typeface="Times New Roman" panose="02020603050405020304" pitchFamily="18" charset="0"/>
              </a:rPr>
              <a:t>it does: </a:t>
            </a:r>
            <a:r>
              <a:rPr lang="en-US" sz="1600" b="0" dirty="0">
                <a:solidFill>
                  <a:schemeClr val="bg1"/>
                </a:solidFill>
                <a:latin typeface="Times New Roman" panose="02020603050405020304" pitchFamily="18" charset="0"/>
                <a:cs typeface="Times New Roman" panose="02020603050405020304" pitchFamily="18" charset="0"/>
              </a:rPr>
              <a:t>Logistic regression is a statistical method used for binary classification. It predicts the probability of a binary outcome (e.g., churn vs. non-churn) based on one or more predictor variables (e.g., customer demographics, usage patterns, and service data). The model uses a logistic function (sigmoid) to output probabilities between 0 and 1.</a:t>
            </a:r>
          </a:p>
          <a:p>
            <a:pPr algn="just">
              <a:lnSpc>
                <a:spcPct val="150000"/>
              </a:lnSpc>
              <a:defRPr/>
            </a:pPr>
            <a:r>
              <a:rPr lang="en-US" sz="1600" dirty="0" smtClean="0">
                <a:solidFill>
                  <a:schemeClr val="bg1"/>
                </a:solidFill>
              </a:rPr>
              <a:t>Why </a:t>
            </a:r>
            <a:r>
              <a:rPr lang="en-US" sz="1600" dirty="0">
                <a:solidFill>
                  <a:schemeClr val="bg1"/>
                </a:solidFill>
              </a:rPr>
              <a:t>we are using it</a:t>
            </a:r>
            <a:r>
              <a:rPr lang="en-US" sz="1600" dirty="0" smtClean="0">
                <a:solidFill>
                  <a:schemeClr val="bg1"/>
                </a:solidFill>
              </a:rPr>
              <a:t>:</a:t>
            </a:r>
            <a:endParaRPr lang="en-US" sz="16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smtClean="0">
                <a:solidFill>
                  <a:schemeClr val="bg1"/>
                </a:solidFill>
              </a:rPr>
              <a:t>Simplicity &amp; Interpretability:</a:t>
            </a:r>
            <a:r>
              <a:rPr lang="en-US" sz="1600" b="0" dirty="0" smtClean="0">
                <a:solidFill>
                  <a:schemeClr val="bg1"/>
                </a:solidFill>
              </a:rPr>
              <a:t> </a:t>
            </a:r>
            <a:r>
              <a:rPr lang="en-US" sz="1600" b="0" dirty="0" smtClean="0">
                <a:solidFill>
                  <a:schemeClr val="bg1"/>
                </a:solidFill>
                <a:latin typeface="Times New Roman" panose="02020603050405020304" pitchFamily="18" charset="0"/>
                <a:cs typeface="Times New Roman" panose="02020603050405020304" pitchFamily="18" charset="0"/>
              </a:rPr>
              <a:t>Logistic regression is easy to implement and understand. It's effective for problems where the relationship between the features and the target variable is approximately linear.</a:t>
            </a:r>
          </a:p>
          <a:p>
            <a:pPr algn="just">
              <a:lnSpc>
                <a:spcPct val="150000"/>
              </a:lnSpc>
              <a:defRPr/>
            </a:pPr>
            <a:r>
              <a:rPr lang="en-US" sz="1600" dirty="0" smtClean="0">
                <a:solidFill>
                  <a:schemeClr val="bg1"/>
                </a:solidFill>
              </a:rPr>
              <a:t>Baseline </a:t>
            </a:r>
            <a:r>
              <a:rPr lang="en-US" sz="1600" dirty="0">
                <a:solidFill>
                  <a:schemeClr val="bg1"/>
                </a:solidFill>
              </a:rPr>
              <a:t>Model: </a:t>
            </a:r>
            <a:r>
              <a:rPr lang="en-US" sz="1600" b="0" dirty="0">
                <a:solidFill>
                  <a:schemeClr val="bg1"/>
                </a:solidFill>
                <a:latin typeface="Times New Roman" panose="02020603050405020304" pitchFamily="18" charset="0"/>
                <a:cs typeface="Times New Roman" panose="02020603050405020304" pitchFamily="18" charset="0"/>
              </a:rPr>
              <a:t>It serves as a good baseline model. If logistic regression performs well, more complex models may not be necessary.</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Probability </a:t>
            </a:r>
            <a:r>
              <a:rPr lang="en-US" sz="1600" dirty="0">
                <a:solidFill>
                  <a:schemeClr val="bg1"/>
                </a:solidFill>
                <a:latin typeface="Times New Roman" panose="02020603050405020304" pitchFamily="18" charset="0"/>
                <a:cs typeface="Times New Roman" panose="02020603050405020304" pitchFamily="18" charset="0"/>
              </a:rPr>
              <a:t>Outputs: </a:t>
            </a:r>
            <a:r>
              <a:rPr lang="en-US" sz="1600" b="0" dirty="0">
                <a:solidFill>
                  <a:schemeClr val="bg1"/>
                </a:solidFill>
                <a:latin typeface="Times New Roman" panose="02020603050405020304" pitchFamily="18" charset="0"/>
                <a:cs typeface="Times New Roman" panose="02020603050405020304" pitchFamily="18" charset="0"/>
              </a:rPr>
              <a:t>Logistic regression provides probability scores, which are valuable in customer churn prediction to estimate the likelihood of churn and take proactive actions.</a:t>
            </a: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dirty="0" smtClean="0">
              <a:solidFill>
                <a:schemeClr val="bg1"/>
              </a:solidFill>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r>
              <a:rPr lang="en-US" sz="1600" b="0" dirty="0" smtClean="0">
                <a:solidFill>
                  <a:schemeClr val="bg1"/>
                </a:solidFill>
              </a:rPr>
              <a:t/>
            </a:r>
            <a:br>
              <a:rPr lang="en-US" sz="1600" b="0" dirty="0" smtClean="0">
                <a:solidFill>
                  <a:schemeClr val="bg1"/>
                </a:solidFill>
              </a:rPr>
            </a:br>
            <a:endParaRPr lang="en-US" sz="1600" b="0" dirty="0" smtClean="0">
              <a:solidFill>
                <a:schemeClr val="bg1"/>
              </a:solidFill>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17</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14128460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IN" sz="3600" dirty="0">
                <a:solidFill>
                  <a:schemeClr val="accent2">
                    <a:lumMod val="60000"/>
                    <a:lumOff val="40000"/>
                  </a:schemeClr>
                </a:solidFill>
              </a:rPr>
              <a:t>ALGORITHMS</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IN" sz="2000" dirty="0" err="1" smtClean="0">
                <a:solidFill>
                  <a:schemeClr val="bg1"/>
                </a:solidFill>
                <a:latin typeface="Times New Roman" panose="02020603050405020304" pitchFamily="18" charset="0"/>
                <a:cs typeface="Times New Roman" panose="02020603050405020304" pitchFamily="18" charset="0"/>
              </a:rPr>
              <a:t>XGBoost</a:t>
            </a:r>
            <a:r>
              <a:rPr lang="en-IN" sz="2000" dirty="0" smtClean="0">
                <a:solidFill>
                  <a:schemeClr val="bg1"/>
                </a:solidFill>
                <a:latin typeface="Times New Roman" panose="02020603050405020304" pitchFamily="18" charset="0"/>
                <a:cs typeface="Times New Roman" panose="02020603050405020304" pitchFamily="18" charset="0"/>
              </a:rPr>
              <a:t> </a:t>
            </a:r>
            <a:r>
              <a:rPr lang="en-IN" sz="2000" dirty="0">
                <a:solidFill>
                  <a:schemeClr val="bg1"/>
                </a:solidFill>
                <a:latin typeface="Times New Roman" panose="02020603050405020304" pitchFamily="18" charset="0"/>
                <a:cs typeface="Times New Roman" panose="02020603050405020304" pitchFamily="18" charset="0"/>
              </a:rPr>
              <a:t>(Extreme Gradient Boosting)</a:t>
            </a:r>
            <a:endParaRPr lang="en-US" sz="20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What it does: </a:t>
            </a:r>
            <a:r>
              <a:rPr lang="en-US" sz="1600" b="0" dirty="0" err="1" smtClean="0">
                <a:solidFill>
                  <a:schemeClr val="bg1"/>
                </a:solidFill>
                <a:latin typeface="Times New Roman" panose="02020603050405020304" pitchFamily="18" charset="0"/>
                <a:cs typeface="Times New Roman" panose="02020603050405020304" pitchFamily="18" charset="0"/>
              </a:rPr>
              <a:t>XGBoost</a:t>
            </a:r>
            <a:r>
              <a:rPr lang="en-US" sz="1600" b="0" dirty="0" smtClean="0">
                <a:solidFill>
                  <a:schemeClr val="bg1"/>
                </a:solidFill>
                <a:latin typeface="Times New Roman" panose="02020603050405020304" pitchFamily="18" charset="0"/>
                <a:cs typeface="Times New Roman" panose="02020603050405020304" pitchFamily="18" charset="0"/>
              </a:rPr>
              <a:t> </a:t>
            </a:r>
            <a:r>
              <a:rPr lang="en-US" sz="1600" b="0" dirty="0">
                <a:solidFill>
                  <a:schemeClr val="bg1"/>
                </a:solidFill>
                <a:latin typeface="Times New Roman" panose="02020603050405020304" pitchFamily="18" charset="0"/>
                <a:cs typeface="Times New Roman" panose="02020603050405020304" pitchFamily="18" charset="0"/>
              </a:rPr>
              <a:t>is an advanced machine learning algorithm that belongs to the family of gradient boosting methods. It builds an ensemble of decision trees in a sequential manner, where each tree corrects the errors of the previous tree. </a:t>
            </a:r>
            <a:r>
              <a:rPr lang="en-US" sz="1600" b="0" dirty="0" err="1">
                <a:solidFill>
                  <a:schemeClr val="bg1"/>
                </a:solidFill>
                <a:latin typeface="Times New Roman" panose="02020603050405020304" pitchFamily="18" charset="0"/>
                <a:cs typeface="Times New Roman" panose="02020603050405020304" pitchFamily="18" charset="0"/>
              </a:rPr>
              <a:t>XGBoost</a:t>
            </a:r>
            <a:r>
              <a:rPr lang="en-US" sz="1600" b="0" dirty="0">
                <a:solidFill>
                  <a:schemeClr val="bg1"/>
                </a:solidFill>
                <a:latin typeface="Times New Roman" panose="02020603050405020304" pitchFamily="18" charset="0"/>
                <a:cs typeface="Times New Roman" panose="02020603050405020304" pitchFamily="18" charset="0"/>
              </a:rPr>
              <a:t> uses gradient descent to minimize errors, making it highly efficient.</a:t>
            </a:r>
          </a:p>
          <a:p>
            <a:pPr algn="just">
              <a:lnSpc>
                <a:spcPct val="150000"/>
              </a:lnSpc>
              <a:defRPr/>
            </a:pPr>
            <a:r>
              <a:rPr lang="en-US" sz="1600" dirty="0">
                <a:solidFill>
                  <a:schemeClr val="bg1"/>
                </a:solidFill>
              </a:rPr>
              <a:t>Why we are using it</a:t>
            </a:r>
            <a:r>
              <a:rPr lang="en-US" sz="1600" dirty="0" smtClean="0">
                <a:solidFill>
                  <a:schemeClr val="bg1"/>
                </a:solidFill>
              </a:rPr>
              <a:t>:</a:t>
            </a:r>
            <a:endParaRPr lang="en-US" sz="16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Accuracy</a:t>
            </a:r>
            <a:r>
              <a:rPr lang="en-US" sz="1600" dirty="0">
                <a:solidFill>
                  <a:schemeClr val="bg1"/>
                </a:solidFill>
                <a:latin typeface="Times New Roman" panose="02020603050405020304" pitchFamily="18" charset="0"/>
                <a:cs typeface="Times New Roman" panose="02020603050405020304" pitchFamily="18" charset="0"/>
              </a:rPr>
              <a:t>: </a:t>
            </a:r>
            <a:r>
              <a:rPr lang="en-US" sz="1600" b="0" dirty="0" err="1">
                <a:solidFill>
                  <a:schemeClr val="bg1"/>
                </a:solidFill>
                <a:latin typeface="Times New Roman" panose="02020603050405020304" pitchFamily="18" charset="0"/>
                <a:cs typeface="Times New Roman" panose="02020603050405020304" pitchFamily="18" charset="0"/>
              </a:rPr>
              <a:t>XGBoost</a:t>
            </a:r>
            <a:r>
              <a:rPr lang="en-US" sz="1600" b="0" dirty="0">
                <a:solidFill>
                  <a:schemeClr val="bg1"/>
                </a:solidFill>
                <a:latin typeface="Times New Roman" panose="02020603050405020304" pitchFamily="18" charset="0"/>
                <a:cs typeface="Times New Roman" panose="02020603050405020304" pitchFamily="18" charset="0"/>
              </a:rPr>
              <a:t> often provides top-tier performance in many machine learning tasks, especially with large and complex datasets.</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Handling </a:t>
            </a:r>
            <a:r>
              <a:rPr lang="en-US" sz="1600" dirty="0">
                <a:solidFill>
                  <a:schemeClr val="bg1"/>
                </a:solidFill>
                <a:latin typeface="Times New Roman" panose="02020603050405020304" pitchFamily="18" charset="0"/>
                <a:cs typeface="Times New Roman" panose="02020603050405020304" pitchFamily="18" charset="0"/>
              </a:rPr>
              <a:t>Overfitting: </a:t>
            </a:r>
            <a:r>
              <a:rPr lang="en-US" sz="1600" b="0" dirty="0">
                <a:solidFill>
                  <a:schemeClr val="bg1"/>
                </a:solidFill>
                <a:latin typeface="Times New Roman" panose="02020603050405020304" pitchFamily="18" charset="0"/>
                <a:cs typeface="Times New Roman" panose="02020603050405020304" pitchFamily="18" charset="0"/>
              </a:rPr>
              <a:t>Through regularization, </a:t>
            </a:r>
            <a:r>
              <a:rPr lang="en-US" sz="1600" b="0" dirty="0" err="1">
                <a:solidFill>
                  <a:schemeClr val="bg1"/>
                </a:solidFill>
                <a:latin typeface="Times New Roman" panose="02020603050405020304" pitchFamily="18" charset="0"/>
                <a:cs typeface="Times New Roman" panose="02020603050405020304" pitchFamily="18" charset="0"/>
              </a:rPr>
              <a:t>XGBoost</a:t>
            </a:r>
            <a:r>
              <a:rPr lang="en-US" sz="1600" b="0" dirty="0">
                <a:solidFill>
                  <a:schemeClr val="bg1"/>
                </a:solidFill>
                <a:latin typeface="Times New Roman" panose="02020603050405020304" pitchFamily="18" charset="0"/>
                <a:cs typeface="Times New Roman" panose="02020603050405020304" pitchFamily="18" charset="0"/>
              </a:rPr>
              <a:t> reduces the risk of overfitting, making it ideal for noisy telecom data</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Handling </a:t>
            </a:r>
            <a:r>
              <a:rPr lang="en-US" sz="1600" dirty="0">
                <a:solidFill>
                  <a:schemeClr val="bg1"/>
                </a:solidFill>
                <a:latin typeface="Times New Roman" panose="02020603050405020304" pitchFamily="18" charset="0"/>
                <a:cs typeface="Times New Roman" panose="02020603050405020304" pitchFamily="18" charset="0"/>
              </a:rPr>
              <a:t>Missing Data: </a:t>
            </a:r>
            <a:r>
              <a:rPr lang="en-US" sz="1600" b="0" dirty="0">
                <a:solidFill>
                  <a:schemeClr val="bg1"/>
                </a:solidFill>
                <a:latin typeface="Times New Roman" panose="02020603050405020304" pitchFamily="18" charset="0"/>
                <a:cs typeface="Times New Roman" panose="02020603050405020304" pitchFamily="18" charset="0"/>
              </a:rPr>
              <a:t>It can handle missing values internally, which is useful if there is missing information in customer records.</a:t>
            </a: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18</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15909027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IN" sz="3600" dirty="0">
                <a:solidFill>
                  <a:schemeClr val="accent2">
                    <a:lumMod val="60000"/>
                    <a:lumOff val="40000"/>
                  </a:schemeClr>
                </a:solidFill>
              </a:rPr>
              <a:t>ALGORITHMS</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IN" sz="2000" dirty="0" smtClean="0">
                <a:solidFill>
                  <a:schemeClr val="bg1"/>
                </a:solidFill>
                <a:latin typeface="Times New Roman" panose="02020603050405020304" pitchFamily="18" charset="0"/>
                <a:cs typeface="Times New Roman" panose="02020603050405020304" pitchFamily="18" charset="0"/>
              </a:rPr>
              <a:t>Gradient-Boosted </a:t>
            </a:r>
            <a:r>
              <a:rPr lang="en-IN" sz="2000" dirty="0">
                <a:solidFill>
                  <a:schemeClr val="bg1"/>
                </a:solidFill>
                <a:latin typeface="Times New Roman" panose="02020603050405020304" pitchFamily="18" charset="0"/>
                <a:cs typeface="Times New Roman" panose="02020603050405020304" pitchFamily="18" charset="0"/>
              </a:rPr>
              <a:t>Machine (GBM) Trees</a:t>
            </a:r>
            <a:endParaRPr lang="en-US" sz="20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What it does</a:t>
            </a:r>
            <a:r>
              <a:rPr lang="en-US" sz="1600" dirty="0" smtClean="0">
                <a:solidFill>
                  <a:schemeClr val="bg1"/>
                </a:solidFill>
                <a:latin typeface="Times New Roman" panose="02020603050405020304" pitchFamily="18" charset="0"/>
                <a:cs typeface="Times New Roman" panose="02020603050405020304" pitchFamily="18" charset="0"/>
              </a:rPr>
              <a:t>: </a:t>
            </a:r>
            <a:r>
              <a:rPr lang="en-US" sz="1600" b="0" dirty="0" smtClean="0">
                <a:solidFill>
                  <a:schemeClr val="bg1"/>
                </a:solidFill>
                <a:latin typeface="Times New Roman" panose="02020603050405020304" pitchFamily="18" charset="0"/>
                <a:cs typeface="Times New Roman" panose="02020603050405020304" pitchFamily="18" charset="0"/>
              </a:rPr>
              <a:t>GBM </a:t>
            </a:r>
            <a:r>
              <a:rPr lang="en-US" sz="1600" b="0" dirty="0">
                <a:solidFill>
                  <a:schemeClr val="bg1"/>
                </a:solidFill>
                <a:latin typeface="Times New Roman" panose="02020603050405020304" pitchFamily="18" charset="0"/>
                <a:cs typeface="Times New Roman" panose="02020603050405020304" pitchFamily="18" charset="0"/>
              </a:rPr>
              <a:t>builds an ensemble of weak learners (usually decision trees), where each tree learns to correct the errors made by the previous one. The "gradient" refers to the algorithm’s optimization process, where the gradient of the loss function is used to minimize prediction errors.</a:t>
            </a:r>
          </a:p>
          <a:p>
            <a:pPr algn="just">
              <a:lnSpc>
                <a:spcPct val="150000"/>
              </a:lnSpc>
              <a:defRPr/>
            </a:pPr>
            <a:r>
              <a:rPr lang="en-US" sz="1600" dirty="0">
                <a:solidFill>
                  <a:schemeClr val="bg1"/>
                </a:solidFill>
              </a:rPr>
              <a:t>Why we are using it</a:t>
            </a:r>
            <a:r>
              <a:rPr lang="en-US" sz="1600" dirty="0" smtClean="0">
                <a:solidFill>
                  <a:schemeClr val="bg1"/>
                </a:solidFill>
              </a:rPr>
              <a:t>:</a:t>
            </a:r>
            <a:endParaRPr lang="en-US" sz="16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High </a:t>
            </a:r>
            <a:r>
              <a:rPr lang="en-US" sz="1600" dirty="0">
                <a:solidFill>
                  <a:schemeClr val="bg1"/>
                </a:solidFill>
                <a:latin typeface="Times New Roman" panose="02020603050405020304" pitchFamily="18" charset="0"/>
                <a:cs typeface="Times New Roman" panose="02020603050405020304" pitchFamily="18" charset="0"/>
              </a:rPr>
              <a:t>Accuracy: </a:t>
            </a:r>
            <a:r>
              <a:rPr lang="en-US" sz="1600" b="0" dirty="0">
                <a:solidFill>
                  <a:schemeClr val="bg1"/>
                </a:solidFill>
                <a:latin typeface="Times New Roman" panose="02020603050405020304" pitchFamily="18" charset="0"/>
                <a:cs typeface="Times New Roman" panose="02020603050405020304" pitchFamily="18" charset="0"/>
              </a:rPr>
              <a:t>GBMs are known for their accuracy, especially when dealing with large, high-dimensional data like telecom customer records.</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Flexibility</a:t>
            </a:r>
            <a:r>
              <a:rPr lang="en-US" sz="1600" dirty="0">
                <a:solidFill>
                  <a:schemeClr val="bg1"/>
                </a:solidFill>
                <a:latin typeface="Times New Roman" panose="02020603050405020304" pitchFamily="18" charset="0"/>
                <a:cs typeface="Times New Roman" panose="02020603050405020304" pitchFamily="18" charset="0"/>
              </a:rPr>
              <a:t>: </a:t>
            </a:r>
            <a:r>
              <a:rPr lang="en-US" sz="1600" b="0" dirty="0">
                <a:solidFill>
                  <a:schemeClr val="bg1"/>
                </a:solidFill>
                <a:latin typeface="Times New Roman" panose="02020603050405020304" pitchFamily="18" charset="0"/>
                <a:cs typeface="Times New Roman" panose="02020603050405020304" pitchFamily="18" charset="0"/>
              </a:rPr>
              <a:t>They can be used for both regression and classification tasks. In churn prediction, they help determine the likelihood of a customer leaving.</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Improved </a:t>
            </a:r>
            <a:r>
              <a:rPr lang="en-US" sz="1600" dirty="0">
                <a:solidFill>
                  <a:schemeClr val="bg1"/>
                </a:solidFill>
                <a:latin typeface="Times New Roman" panose="02020603050405020304" pitchFamily="18" charset="0"/>
                <a:cs typeface="Times New Roman" panose="02020603050405020304" pitchFamily="18" charset="0"/>
              </a:rPr>
              <a:t>Performance: </a:t>
            </a:r>
            <a:r>
              <a:rPr lang="en-US" sz="1600" b="0" dirty="0">
                <a:solidFill>
                  <a:schemeClr val="bg1"/>
                </a:solidFill>
                <a:latin typeface="Times New Roman" panose="02020603050405020304" pitchFamily="18" charset="0"/>
                <a:cs typeface="Times New Roman" panose="02020603050405020304" pitchFamily="18" charset="0"/>
              </a:rPr>
              <a:t>GBMs reduce errors effectively by focusing on hard-to-predict examples, improving the overall performance of the model.</a:t>
            </a: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19</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14129322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IN" sz="3600" dirty="0">
                <a:solidFill>
                  <a:schemeClr val="accent2">
                    <a:lumMod val="60000"/>
                    <a:lumOff val="40000"/>
                  </a:schemeClr>
                </a:solidFill>
              </a:rPr>
              <a:t>ALGORITHMS</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IN" sz="2000" dirty="0" smtClean="0">
                <a:solidFill>
                  <a:schemeClr val="bg1"/>
                </a:solidFill>
                <a:latin typeface="Times New Roman" panose="02020603050405020304" pitchFamily="18" charset="0"/>
                <a:cs typeface="Times New Roman" panose="02020603050405020304" pitchFamily="18" charset="0"/>
              </a:rPr>
              <a:t>Random </a:t>
            </a:r>
            <a:r>
              <a:rPr lang="en-IN" sz="2000" dirty="0">
                <a:solidFill>
                  <a:schemeClr val="bg1"/>
                </a:solidFill>
                <a:latin typeface="Times New Roman" panose="02020603050405020304" pitchFamily="18" charset="0"/>
                <a:cs typeface="Times New Roman" panose="02020603050405020304" pitchFamily="18" charset="0"/>
              </a:rPr>
              <a:t>Forests</a:t>
            </a:r>
            <a:endParaRPr lang="en-US" sz="20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What it does</a:t>
            </a:r>
            <a:r>
              <a:rPr lang="en-US" sz="1600" dirty="0" smtClean="0">
                <a:solidFill>
                  <a:schemeClr val="bg1"/>
                </a:solidFill>
                <a:latin typeface="Times New Roman" panose="02020603050405020304" pitchFamily="18" charset="0"/>
                <a:cs typeface="Times New Roman" panose="02020603050405020304" pitchFamily="18" charset="0"/>
              </a:rPr>
              <a:t>: </a:t>
            </a:r>
            <a:r>
              <a:rPr lang="en-US" sz="1600" b="0" dirty="0" smtClean="0">
                <a:solidFill>
                  <a:schemeClr val="bg1"/>
                </a:solidFill>
                <a:latin typeface="Times New Roman" panose="02020603050405020304" pitchFamily="18" charset="0"/>
                <a:cs typeface="Times New Roman" panose="02020603050405020304" pitchFamily="18" charset="0"/>
              </a:rPr>
              <a:t>Random </a:t>
            </a:r>
            <a:r>
              <a:rPr lang="en-US" sz="1600" b="0" dirty="0">
                <a:solidFill>
                  <a:schemeClr val="bg1"/>
                </a:solidFill>
                <a:latin typeface="Times New Roman" panose="02020603050405020304" pitchFamily="18" charset="0"/>
                <a:cs typeface="Times New Roman" panose="02020603050405020304" pitchFamily="18" charset="0"/>
              </a:rPr>
              <a:t>forests are an ensemble method that combines multiple decision trees. Each tree in the forest is trained on a random subset of the data, and the final prediction is made by averaging the results (for regression) or voting (for classification).</a:t>
            </a:r>
          </a:p>
          <a:p>
            <a:pPr algn="just">
              <a:lnSpc>
                <a:spcPct val="150000"/>
              </a:lnSpc>
              <a:defRPr/>
            </a:pPr>
            <a:r>
              <a:rPr lang="en-US" sz="1600" dirty="0">
                <a:solidFill>
                  <a:schemeClr val="bg1"/>
                </a:solidFill>
              </a:rPr>
              <a:t>Why we are using it</a:t>
            </a:r>
            <a:r>
              <a:rPr lang="en-US" sz="1600" dirty="0" smtClean="0">
                <a:solidFill>
                  <a:schemeClr val="bg1"/>
                </a:solidFill>
              </a:rPr>
              <a:t>:</a:t>
            </a:r>
            <a:endParaRPr lang="en-US" sz="16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Reduced </a:t>
            </a:r>
            <a:r>
              <a:rPr lang="en-US" sz="1600" dirty="0">
                <a:solidFill>
                  <a:schemeClr val="bg1"/>
                </a:solidFill>
                <a:latin typeface="Times New Roman" panose="02020603050405020304" pitchFamily="18" charset="0"/>
                <a:cs typeface="Times New Roman" panose="02020603050405020304" pitchFamily="18" charset="0"/>
              </a:rPr>
              <a:t>Overfitting: </a:t>
            </a:r>
            <a:r>
              <a:rPr lang="en-US" sz="1600" b="0" dirty="0">
                <a:solidFill>
                  <a:schemeClr val="bg1"/>
                </a:solidFill>
                <a:latin typeface="Times New Roman" panose="02020603050405020304" pitchFamily="18" charset="0"/>
                <a:cs typeface="Times New Roman" panose="02020603050405020304" pitchFamily="18" charset="0"/>
              </a:rPr>
              <a:t>By averaging multiple trees, random forests reduce overfitting, making the model more generalizable to unseen data.</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Robustness</a:t>
            </a:r>
            <a:r>
              <a:rPr lang="en-US" sz="1600" dirty="0">
                <a:solidFill>
                  <a:schemeClr val="bg1"/>
                </a:solidFill>
                <a:latin typeface="Times New Roman" panose="02020603050405020304" pitchFamily="18" charset="0"/>
                <a:cs typeface="Times New Roman" panose="02020603050405020304" pitchFamily="18" charset="0"/>
              </a:rPr>
              <a:t>: </a:t>
            </a:r>
            <a:r>
              <a:rPr lang="en-US" sz="1600" b="0" dirty="0">
                <a:solidFill>
                  <a:schemeClr val="bg1"/>
                </a:solidFill>
                <a:latin typeface="Times New Roman" panose="02020603050405020304" pitchFamily="18" charset="0"/>
                <a:cs typeface="Times New Roman" panose="02020603050405020304" pitchFamily="18" charset="0"/>
              </a:rPr>
              <a:t>Random forests are less sensitive to noisy data and can handle large datasets effectively.</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Feature </a:t>
            </a:r>
            <a:r>
              <a:rPr lang="en-US" sz="1600" dirty="0">
                <a:solidFill>
                  <a:schemeClr val="bg1"/>
                </a:solidFill>
                <a:latin typeface="Times New Roman" panose="02020603050405020304" pitchFamily="18" charset="0"/>
                <a:cs typeface="Times New Roman" panose="02020603050405020304" pitchFamily="18" charset="0"/>
              </a:rPr>
              <a:t>Importance</a:t>
            </a:r>
            <a:r>
              <a:rPr lang="en-US" sz="1600" b="0" dirty="0">
                <a:solidFill>
                  <a:schemeClr val="bg1"/>
                </a:solidFill>
                <a:latin typeface="Times New Roman" panose="02020603050405020304" pitchFamily="18" charset="0"/>
                <a:cs typeface="Times New Roman" panose="02020603050405020304" pitchFamily="18" charset="0"/>
              </a:rPr>
              <a:t>: Like </a:t>
            </a:r>
            <a:r>
              <a:rPr lang="en-US" sz="1600" b="0" dirty="0" err="1">
                <a:solidFill>
                  <a:schemeClr val="bg1"/>
                </a:solidFill>
                <a:latin typeface="Times New Roman" panose="02020603050405020304" pitchFamily="18" charset="0"/>
                <a:cs typeface="Times New Roman" panose="02020603050405020304" pitchFamily="18" charset="0"/>
              </a:rPr>
              <a:t>XGBoost</a:t>
            </a:r>
            <a:r>
              <a:rPr lang="en-US" sz="1600" b="0" dirty="0">
                <a:solidFill>
                  <a:schemeClr val="bg1"/>
                </a:solidFill>
                <a:latin typeface="Times New Roman" panose="02020603050405020304" pitchFamily="18" charset="0"/>
                <a:cs typeface="Times New Roman" panose="02020603050405020304" pitchFamily="18" charset="0"/>
              </a:rPr>
              <a:t>, random forests also provide insights into the importance of features, which can help telecom companies identify factors influencing churn</a:t>
            </a:r>
            <a:r>
              <a:rPr lang="en-US" sz="1600" b="0" dirty="0" smtClean="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Versatility</a:t>
            </a:r>
            <a:r>
              <a:rPr lang="en-US" sz="1600" dirty="0">
                <a:solidFill>
                  <a:schemeClr val="bg1"/>
                </a:solidFill>
                <a:latin typeface="Times New Roman" panose="02020603050405020304" pitchFamily="18" charset="0"/>
                <a:cs typeface="Times New Roman" panose="02020603050405020304" pitchFamily="18" charset="0"/>
              </a:rPr>
              <a:t>: </a:t>
            </a:r>
            <a:r>
              <a:rPr lang="en-US" sz="1600" b="0" dirty="0">
                <a:solidFill>
                  <a:schemeClr val="bg1"/>
                </a:solidFill>
                <a:latin typeface="Times New Roman" panose="02020603050405020304" pitchFamily="18" charset="0"/>
                <a:cs typeface="Times New Roman" panose="02020603050405020304" pitchFamily="18" charset="0"/>
              </a:rPr>
              <a:t>They work well for both categorical and numerical data, which is essential when dealing with diverse customer information.</a:t>
            </a: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20</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2861989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IN" sz="3600" dirty="0">
                <a:solidFill>
                  <a:schemeClr val="accent2">
                    <a:lumMod val="60000"/>
                    <a:lumOff val="40000"/>
                  </a:schemeClr>
                </a:solidFill>
              </a:rPr>
              <a:t>ALGORITHMS</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IN" sz="2000" dirty="0" smtClean="0">
                <a:solidFill>
                  <a:schemeClr val="bg1"/>
                </a:solidFill>
                <a:latin typeface="Times New Roman" panose="02020603050405020304" pitchFamily="18" charset="0"/>
                <a:cs typeface="Times New Roman" panose="02020603050405020304" pitchFamily="18" charset="0"/>
              </a:rPr>
              <a:t>Decision </a:t>
            </a:r>
            <a:r>
              <a:rPr lang="en-IN" sz="2000" dirty="0">
                <a:solidFill>
                  <a:schemeClr val="bg1"/>
                </a:solidFill>
                <a:latin typeface="Times New Roman" panose="02020603050405020304" pitchFamily="18" charset="0"/>
                <a:cs typeface="Times New Roman" panose="02020603050405020304" pitchFamily="18" charset="0"/>
              </a:rPr>
              <a:t>Trees</a:t>
            </a:r>
            <a:endParaRPr lang="en-US" sz="20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a:solidFill>
                  <a:schemeClr val="bg1"/>
                </a:solidFill>
                <a:latin typeface="Times New Roman" panose="02020603050405020304" pitchFamily="18" charset="0"/>
                <a:cs typeface="Times New Roman" panose="02020603050405020304" pitchFamily="18" charset="0"/>
              </a:rPr>
              <a:t>What it does</a:t>
            </a:r>
            <a:r>
              <a:rPr lang="en-US" sz="1600" dirty="0" smtClean="0">
                <a:solidFill>
                  <a:schemeClr val="bg1"/>
                </a:solidFill>
                <a:latin typeface="Times New Roman" panose="02020603050405020304" pitchFamily="18" charset="0"/>
                <a:cs typeface="Times New Roman" panose="02020603050405020304" pitchFamily="18" charset="0"/>
              </a:rPr>
              <a:t>: </a:t>
            </a:r>
            <a:r>
              <a:rPr lang="en-US" sz="1600" b="0" dirty="0" smtClean="0">
                <a:solidFill>
                  <a:schemeClr val="bg1"/>
                </a:solidFill>
                <a:latin typeface="Times New Roman" panose="02020603050405020304" pitchFamily="18" charset="0"/>
                <a:cs typeface="Times New Roman" panose="02020603050405020304" pitchFamily="18" charset="0"/>
              </a:rPr>
              <a:t>Decision </a:t>
            </a:r>
            <a:r>
              <a:rPr lang="en-US" sz="1600" b="0" dirty="0">
                <a:solidFill>
                  <a:schemeClr val="bg1"/>
                </a:solidFill>
                <a:latin typeface="Times New Roman" panose="02020603050405020304" pitchFamily="18" charset="0"/>
                <a:cs typeface="Times New Roman" panose="02020603050405020304" pitchFamily="18" charset="0"/>
              </a:rPr>
              <a:t>trees are a flowchart-like structure where each internal node represents a decision based on a feature, and each leaf node represents a predicted outcome. The tree is built by splitting the data at each node in such a way that it maximizes the "purity" of the outcomes at the leaves (e.g., most customers who are likely to churn are grouped together).</a:t>
            </a:r>
          </a:p>
          <a:p>
            <a:pPr algn="just">
              <a:lnSpc>
                <a:spcPct val="150000"/>
              </a:lnSpc>
              <a:defRPr/>
            </a:pPr>
            <a:r>
              <a:rPr lang="en-US" sz="1600" dirty="0">
                <a:solidFill>
                  <a:schemeClr val="bg1"/>
                </a:solidFill>
              </a:rPr>
              <a:t>Why we are using it</a:t>
            </a:r>
            <a:r>
              <a:rPr lang="en-US" sz="1600" dirty="0" smtClean="0">
                <a:solidFill>
                  <a:schemeClr val="bg1"/>
                </a:solidFill>
              </a:rPr>
              <a:t>:</a:t>
            </a:r>
            <a:endParaRPr lang="en-US" sz="160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Interpretability</a:t>
            </a:r>
            <a:r>
              <a:rPr lang="en-US" sz="1600" dirty="0">
                <a:solidFill>
                  <a:schemeClr val="bg1"/>
                </a:solidFill>
                <a:latin typeface="Times New Roman" panose="02020603050405020304" pitchFamily="18" charset="0"/>
                <a:cs typeface="Times New Roman" panose="02020603050405020304" pitchFamily="18" charset="0"/>
              </a:rPr>
              <a:t>: </a:t>
            </a:r>
            <a:r>
              <a:rPr lang="en-US" sz="1600" b="0" dirty="0">
                <a:solidFill>
                  <a:schemeClr val="bg1"/>
                </a:solidFill>
                <a:latin typeface="Times New Roman" panose="02020603050405020304" pitchFamily="18" charset="0"/>
                <a:cs typeface="Times New Roman" panose="02020603050405020304" pitchFamily="18" charset="0"/>
              </a:rPr>
              <a:t>Decision trees are easy to interpret and visualize. This makes them useful for understanding how specific features (e.g., customer tenure, usage patterns) affect churn.</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Efficiency</a:t>
            </a:r>
            <a:r>
              <a:rPr lang="en-US" sz="1600" dirty="0">
                <a:solidFill>
                  <a:schemeClr val="bg1"/>
                </a:solidFill>
                <a:latin typeface="Times New Roman" panose="02020603050405020304" pitchFamily="18" charset="0"/>
                <a:cs typeface="Times New Roman" panose="02020603050405020304" pitchFamily="18" charset="0"/>
              </a:rPr>
              <a:t>: </a:t>
            </a:r>
            <a:r>
              <a:rPr lang="en-US" sz="1600" b="0" dirty="0">
                <a:solidFill>
                  <a:schemeClr val="bg1"/>
                </a:solidFill>
                <a:latin typeface="Times New Roman" panose="02020603050405020304" pitchFamily="18" charset="0"/>
                <a:cs typeface="Times New Roman" panose="02020603050405020304" pitchFamily="18" charset="0"/>
              </a:rPr>
              <a:t>They are computationally inexpensive and can be trained relatively quickly compared to more complex models like </a:t>
            </a:r>
            <a:r>
              <a:rPr lang="en-US" sz="1600" b="0" dirty="0" err="1">
                <a:solidFill>
                  <a:schemeClr val="bg1"/>
                </a:solidFill>
                <a:latin typeface="Times New Roman" panose="02020603050405020304" pitchFamily="18" charset="0"/>
                <a:cs typeface="Times New Roman" panose="02020603050405020304" pitchFamily="18" charset="0"/>
              </a:rPr>
              <a:t>XGBoost</a:t>
            </a:r>
            <a:r>
              <a:rPr lang="en-US" sz="1600" b="0" dirty="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r>
              <a:rPr lang="en-US" sz="1600" dirty="0" smtClean="0">
                <a:solidFill>
                  <a:schemeClr val="bg1"/>
                </a:solidFill>
                <a:latin typeface="Times New Roman" panose="02020603050405020304" pitchFamily="18" charset="0"/>
                <a:cs typeface="Times New Roman" panose="02020603050405020304" pitchFamily="18" charset="0"/>
              </a:rPr>
              <a:t>Base </a:t>
            </a:r>
            <a:r>
              <a:rPr lang="en-US" sz="1600" dirty="0">
                <a:solidFill>
                  <a:schemeClr val="bg1"/>
                </a:solidFill>
                <a:latin typeface="Times New Roman" panose="02020603050405020304" pitchFamily="18" charset="0"/>
                <a:cs typeface="Times New Roman" panose="02020603050405020304" pitchFamily="18" charset="0"/>
              </a:rPr>
              <a:t>Model for Other Ensemble Methods: </a:t>
            </a:r>
            <a:r>
              <a:rPr lang="en-US" sz="1600" b="0" dirty="0">
                <a:solidFill>
                  <a:schemeClr val="bg1"/>
                </a:solidFill>
                <a:latin typeface="Times New Roman" panose="02020603050405020304" pitchFamily="18" charset="0"/>
                <a:cs typeface="Times New Roman" panose="02020603050405020304" pitchFamily="18" charset="0"/>
              </a:rPr>
              <a:t>Decision trees serve as the base learner in more advanced ensemble methods like random forests and gradient boosting.</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21</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1899758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IN" sz="3600" dirty="0" smtClean="0">
                <a:solidFill>
                  <a:schemeClr val="accent2">
                    <a:lumMod val="60000"/>
                    <a:lumOff val="40000"/>
                  </a:schemeClr>
                </a:solidFill>
              </a:rPr>
              <a:t>PSEUDO-CODE</a:t>
            </a: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START </a:t>
            </a:r>
          </a:p>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Step </a:t>
            </a:r>
            <a:r>
              <a:rPr lang="en-IN" sz="1600" b="0" dirty="0">
                <a:solidFill>
                  <a:schemeClr val="bg1"/>
                </a:solidFill>
                <a:latin typeface="Times New Roman" panose="02020603050405020304" pitchFamily="18" charset="0"/>
                <a:cs typeface="Times New Roman" panose="02020603050405020304" pitchFamily="18" charset="0"/>
              </a:rPr>
              <a:t>1: Data Preparation LOAD </a:t>
            </a:r>
            <a:r>
              <a:rPr lang="en-IN" sz="1600" b="0" dirty="0" err="1">
                <a:solidFill>
                  <a:schemeClr val="bg1"/>
                </a:solidFill>
                <a:latin typeface="Times New Roman" panose="02020603050405020304" pitchFamily="18" charset="0"/>
                <a:cs typeface="Times New Roman" panose="02020603050405020304" pitchFamily="18" charset="0"/>
              </a:rPr>
              <a:t>customer_data</a:t>
            </a:r>
            <a:r>
              <a:rPr lang="en-IN" sz="1600" b="0" dirty="0">
                <a:solidFill>
                  <a:schemeClr val="bg1"/>
                </a:solidFill>
                <a:latin typeface="Times New Roman" panose="02020603050405020304" pitchFamily="18" charset="0"/>
                <a:cs typeface="Times New Roman" panose="02020603050405020304" pitchFamily="18" charset="0"/>
              </a:rPr>
              <a:t> CLEAN data (handle missing values, normalize numerical features, encode categorical variables) SPLIT data into </a:t>
            </a:r>
            <a:r>
              <a:rPr lang="en-IN" sz="1600" b="0" dirty="0" err="1">
                <a:solidFill>
                  <a:schemeClr val="bg1"/>
                </a:solidFill>
                <a:latin typeface="Times New Roman" panose="02020603050405020304" pitchFamily="18" charset="0"/>
                <a:cs typeface="Times New Roman" panose="02020603050405020304" pitchFamily="18" charset="0"/>
              </a:rPr>
              <a:t>training_set</a:t>
            </a:r>
            <a:r>
              <a:rPr lang="en-IN" sz="1600" b="0" dirty="0">
                <a:solidFill>
                  <a:schemeClr val="bg1"/>
                </a:solidFill>
                <a:latin typeface="Times New Roman" panose="02020603050405020304" pitchFamily="18" charset="0"/>
                <a:cs typeface="Times New Roman" panose="02020603050405020304" pitchFamily="18" charset="0"/>
              </a:rPr>
              <a:t> and </a:t>
            </a:r>
            <a:r>
              <a:rPr lang="en-IN" sz="1600" b="0" dirty="0" err="1">
                <a:solidFill>
                  <a:schemeClr val="bg1"/>
                </a:solidFill>
                <a:latin typeface="Times New Roman" panose="02020603050405020304" pitchFamily="18" charset="0"/>
                <a:cs typeface="Times New Roman" panose="02020603050405020304" pitchFamily="18" charset="0"/>
              </a:rPr>
              <a:t>testing_set</a:t>
            </a:r>
            <a:r>
              <a:rPr lang="en-IN" sz="1600" b="0" dirty="0">
                <a:solidFill>
                  <a:schemeClr val="bg1"/>
                </a:solidFill>
                <a:latin typeface="Times New Roman" panose="02020603050405020304" pitchFamily="18" charset="0"/>
                <a:cs typeface="Times New Roman" panose="02020603050405020304" pitchFamily="18" charset="0"/>
              </a:rPr>
              <a:t> </a:t>
            </a:r>
            <a:endParaRPr lang="en-IN"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Step </a:t>
            </a:r>
            <a:r>
              <a:rPr lang="en-IN" sz="1600" b="0" dirty="0">
                <a:solidFill>
                  <a:schemeClr val="bg1"/>
                </a:solidFill>
                <a:latin typeface="Times New Roman" panose="02020603050405020304" pitchFamily="18" charset="0"/>
                <a:cs typeface="Times New Roman" panose="02020603050405020304" pitchFamily="18" charset="0"/>
              </a:rPr>
              <a:t>2: Exploratory Data Analysis (EDA) ANALYZE features for patterns related to churn IDENTIFY important features (e.g., tenure, service usage, billing issues) </a:t>
            </a:r>
            <a:endParaRPr lang="en-IN"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Step </a:t>
            </a:r>
            <a:r>
              <a:rPr lang="en-IN" sz="1600" b="0" dirty="0">
                <a:solidFill>
                  <a:schemeClr val="bg1"/>
                </a:solidFill>
                <a:latin typeface="Times New Roman" panose="02020603050405020304" pitchFamily="18" charset="0"/>
                <a:cs typeface="Times New Roman" panose="02020603050405020304" pitchFamily="18" charset="0"/>
              </a:rPr>
              <a:t>3: Model Selection and Training DEFINE models = [Logistic Regression, Decision Tree, Random Forest, GBM, </a:t>
            </a:r>
            <a:r>
              <a:rPr lang="en-IN" sz="1600" b="0" dirty="0" err="1">
                <a:solidFill>
                  <a:schemeClr val="bg1"/>
                </a:solidFill>
                <a:latin typeface="Times New Roman" panose="02020603050405020304" pitchFamily="18" charset="0"/>
                <a:cs typeface="Times New Roman" panose="02020603050405020304" pitchFamily="18" charset="0"/>
              </a:rPr>
              <a:t>XGBoost</a:t>
            </a:r>
            <a:r>
              <a:rPr lang="en-IN" sz="1600" b="0" dirty="0">
                <a:solidFill>
                  <a:schemeClr val="bg1"/>
                </a:solidFill>
                <a:latin typeface="Times New Roman" panose="02020603050405020304" pitchFamily="18" charset="0"/>
                <a:cs typeface="Times New Roman" panose="02020603050405020304" pitchFamily="18" charset="0"/>
              </a:rPr>
              <a:t>] </a:t>
            </a:r>
            <a:endParaRPr lang="en-IN"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FOR </a:t>
            </a:r>
            <a:r>
              <a:rPr lang="en-IN" sz="1600" b="0" dirty="0">
                <a:solidFill>
                  <a:schemeClr val="bg1"/>
                </a:solidFill>
                <a:latin typeface="Times New Roman" panose="02020603050405020304" pitchFamily="18" charset="0"/>
                <a:cs typeface="Times New Roman" panose="02020603050405020304" pitchFamily="18" charset="0"/>
              </a:rPr>
              <a:t>each model in models: </a:t>
            </a:r>
            <a:endParaRPr lang="en-IN"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	TRAIN </a:t>
            </a:r>
            <a:r>
              <a:rPr lang="en-IN" sz="1600" b="0" dirty="0">
                <a:solidFill>
                  <a:schemeClr val="bg1"/>
                </a:solidFill>
                <a:latin typeface="Times New Roman" panose="02020603050405020304" pitchFamily="18" charset="0"/>
                <a:cs typeface="Times New Roman" panose="02020603050405020304" pitchFamily="18" charset="0"/>
              </a:rPr>
              <a:t>model on </a:t>
            </a:r>
            <a:r>
              <a:rPr lang="en-IN" sz="1600" b="0" dirty="0" err="1">
                <a:solidFill>
                  <a:schemeClr val="bg1"/>
                </a:solidFill>
                <a:latin typeface="Times New Roman" panose="02020603050405020304" pitchFamily="18" charset="0"/>
                <a:cs typeface="Times New Roman" panose="02020603050405020304" pitchFamily="18" charset="0"/>
              </a:rPr>
              <a:t>training_set</a:t>
            </a:r>
            <a:r>
              <a:rPr lang="en-IN" sz="1600" b="0" dirty="0">
                <a:solidFill>
                  <a:schemeClr val="bg1"/>
                </a:solidFill>
                <a:latin typeface="Times New Roman" panose="02020603050405020304" pitchFamily="18" charset="0"/>
                <a:cs typeface="Times New Roman" panose="02020603050405020304" pitchFamily="18" charset="0"/>
              </a:rPr>
              <a:t> </a:t>
            </a:r>
            <a:endParaRPr lang="en-IN"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	PREDICT </a:t>
            </a:r>
            <a:r>
              <a:rPr lang="en-IN" sz="1600" b="0" dirty="0">
                <a:solidFill>
                  <a:schemeClr val="bg1"/>
                </a:solidFill>
                <a:latin typeface="Times New Roman" panose="02020603050405020304" pitchFamily="18" charset="0"/>
                <a:cs typeface="Times New Roman" panose="02020603050405020304" pitchFamily="18" charset="0"/>
              </a:rPr>
              <a:t>churn probabilities on </a:t>
            </a:r>
            <a:r>
              <a:rPr lang="en-IN" sz="1600" b="0" dirty="0" err="1">
                <a:solidFill>
                  <a:schemeClr val="bg1"/>
                </a:solidFill>
                <a:latin typeface="Times New Roman" panose="02020603050405020304" pitchFamily="18" charset="0"/>
                <a:cs typeface="Times New Roman" panose="02020603050405020304" pitchFamily="18" charset="0"/>
              </a:rPr>
              <a:t>testing_set</a:t>
            </a:r>
            <a:r>
              <a:rPr lang="en-IN" sz="1600" b="0" dirty="0">
                <a:solidFill>
                  <a:schemeClr val="bg1"/>
                </a:solidFill>
                <a:latin typeface="Times New Roman" panose="02020603050405020304" pitchFamily="18" charset="0"/>
                <a:cs typeface="Times New Roman" panose="02020603050405020304" pitchFamily="18" charset="0"/>
              </a:rPr>
              <a:t> </a:t>
            </a:r>
            <a:endParaRPr lang="en-IN"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	EVALUATE </a:t>
            </a:r>
            <a:r>
              <a:rPr lang="en-IN" sz="1600" b="0" dirty="0">
                <a:solidFill>
                  <a:schemeClr val="bg1"/>
                </a:solidFill>
                <a:latin typeface="Times New Roman" panose="02020603050405020304" pitchFamily="18" charset="0"/>
                <a:cs typeface="Times New Roman" panose="02020603050405020304" pitchFamily="18" charset="0"/>
              </a:rPr>
              <a:t>model using metrics (accuracy, precision, recall, F1-score, ROC-AUC) </a:t>
            </a:r>
            <a:endParaRPr lang="en-IN"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	STORE </a:t>
            </a:r>
            <a:r>
              <a:rPr lang="en-IN" sz="1600" b="0" dirty="0">
                <a:solidFill>
                  <a:schemeClr val="bg1"/>
                </a:solidFill>
                <a:latin typeface="Times New Roman" panose="02020603050405020304" pitchFamily="18" charset="0"/>
                <a:cs typeface="Times New Roman" panose="02020603050405020304" pitchFamily="18" charset="0"/>
              </a:rPr>
              <a:t>evaluation results</a:t>
            </a: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22</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1607520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IN" sz="3600" dirty="0">
                <a:solidFill>
                  <a:schemeClr val="accent2">
                    <a:lumMod val="60000"/>
                    <a:lumOff val="40000"/>
                  </a:schemeClr>
                </a:solidFill>
              </a:rPr>
              <a:t>PSEUDO-CODE</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Step </a:t>
            </a:r>
            <a:r>
              <a:rPr lang="en-US" sz="1600" b="0" dirty="0">
                <a:solidFill>
                  <a:schemeClr val="bg1"/>
                </a:solidFill>
                <a:latin typeface="Times New Roman" panose="02020603050405020304" pitchFamily="18" charset="0"/>
                <a:cs typeface="Times New Roman" panose="02020603050405020304" pitchFamily="18" charset="0"/>
              </a:rPr>
              <a:t>4: Select the Best Model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SELECT </a:t>
            </a:r>
            <a:r>
              <a:rPr lang="en-US" sz="1600" b="0" dirty="0" err="1">
                <a:solidFill>
                  <a:schemeClr val="bg1"/>
                </a:solidFill>
                <a:latin typeface="Times New Roman" panose="02020603050405020304" pitchFamily="18" charset="0"/>
                <a:cs typeface="Times New Roman" panose="02020603050405020304" pitchFamily="18" charset="0"/>
              </a:rPr>
              <a:t>best_model</a:t>
            </a:r>
            <a:r>
              <a:rPr lang="en-US" sz="1600" b="0" dirty="0">
                <a:solidFill>
                  <a:schemeClr val="bg1"/>
                </a:solidFill>
                <a:latin typeface="Times New Roman" panose="02020603050405020304" pitchFamily="18" charset="0"/>
                <a:cs typeface="Times New Roman" panose="02020603050405020304" pitchFamily="18" charset="0"/>
              </a:rPr>
              <a:t> based on evaluation results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IF </a:t>
            </a:r>
            <a:r>
              <a:rPr lang="en-US" sz="1600" b="0" dirty="0" err="1">
                <a:solidFill>
                  <a:schemeClr val="bg1"/>
                </a:solidFill>
                <a:latin typeface="Times New Roman" panose="02020603050405020304" pitchFamily="18" charset="0"/>
                <a:cs typeface="Times New Roman" panose="02020603050405020304" pitchFamily="18" charset="0"/>
              </a:rPr>
              <a:t>best_model</a:t>
            </a:r>
            <a:r>
              <a:rPr lang="en-US" sz="1600" b="0" dirty="0">
                <a:solidFill>
                  <a:schemeClr val="bg1"/>
                </a:solidFill>
                <a:latin typeface="Times New Roman" panose="02020603050405020304" pitchFamily="18" charset="0"/>
                <a:cs typeface="Times New Roman" panose="02020603050405020304" pitchFamily="18" charset="0"/>
              </a:rPr>
              <a:t> = Logistic Regression</a:t>
            </a:r>
            <a:r>
              <a:rPr lang="en-US" sz="1600" b="0" dirty="0" smtClean="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r>
              <a:rPr lang="en-US" sz="1600" b="0" dirty="0">
                <a:solidFill>
                  <a:schemeClr val="bg1"/>
                </a:solidFill>
                <a:latin typeface="Times New Roman" panose="02020603050405020304" pitchFamily="18" charset="0"/>
                <a:cs typeface="Times New Roman" panose="02020603050405020304" pitchFamily="18" charset="0"/>
              </a:rPr>
              <a:t>	</a:t>
            </a:r>
            <a:r>
              <a:rPr lang="en-US" sz="1600" b="0" dirty="0" smtClean="0">
                <a:solidFill>
                  <a:schemeClr val="bg1"/>
                </a:solidFill>
                <a:latin typeface="Times New Roman" panose="02020603050405020304" pitchFamily="18" charset="0"/>
                <a:cs typeface="Times New Roman" panose="02020603050405020304" pitchFamily="18" charset="0"/>
              </a:rPr>
              <a:t>PRINT </a:t>
            </a:r>
            <a:r>
              <a:rPr lang="en-US" sz="1600" b="0" dirty="0">
                <a:solidFill>
                  <a:schemeClr val="bg1"/>
                </a:solidFill>
                <a:latin typeface="Times New Roman" panose="02020603050405020304" pitchFamily="18" charset="0"/>
                <a:cs typeface="Times New Roman" panose="02020603050405020304" pitchFamily="18" charset="0"/>
              </a:rPr>
              <a:t>"Using Logistic Regression for churn prediction"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ELSE </a:t>
            </a:r>
            <a:r>
              <a:rPr lang="en-US" sz="1600" b="0" dirty="0">
                <a:solidFill>
                  <a:schemeClr val="bg1"/>
                </a:solidFill>
                <a:latin typeface="Times New Roman" panose="02020603050405020304" pitchFamily="18" charset="0"/>
                <a:cs typeface="Times New Roman" panose="02020603050405020304" pitchFamily="18" charset="0"/>
              </a:rPr>
              <a:t>IF </a:t>
            </a:r>
            <a:r>
              <a:rPr lang="en-US" sz="1600" b="0" dirty="0" err="1">
                <a:solidFill>
                  <a:schemeClr val="bg1"/>
                </a:solidFill>
                <a:latin typeface="Times New Roman" panose="02020603050405020304" pitchFamily="18" charset="0"/>
                <a:cs typeface="Times New Roman" panose="02020603050405020304" pitchFamily="18" charset="0"/>
              </a:rPr>
              <a:t>best_model</a:t>
            </a:r>
            <a:r>
              <a:rPr lang="en-US" sz="1600" b="0" dirty="0">
                <a:solidFill>
                  <a:schemeClr val="bg1"/>
                </a:solidFill>
                <a:latin typeface="Times New Roman" panose="02020603050405020304" pitchFamily="18" charset="0"/>
                <a:cs typeface="Times New Roman" panose="02020603050405020304" pitchFamily="18" charset="0"/>
              </a:rPr>
              <a:t> = Decision Tree: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a:solidFill>
                  <a:schemeClr val="bg1"/>
                </a:solidFill>
                <a:latin typeface="Times New Roman" panose="02020603050405020304" pitchFamily="18" charset="0"/>
                <a:cs typeface="Times New Roman" panose="02020603050405020304" pitchFamily="18" charset="0"/>
              </a:rPr>
              <a:t>	</a:t>
            </a:r>
            <a:r>
              <a:rPr lang="en-US" sz="1600" b="0" dirty="0" smtClean="0">
                <a:solidFill>
                  <a:schemeClr val="bg1"/>
                </a:solidFill>
                <a:latin typeface="Times New Roman" panose="02020603050405020304" pitchFamily="18" charset="0"/>
                <a:cs typeface="Times New Roman" panose="02020603050405020304" pitchFamily="18" charset="0"/>
              </a:rPr>
              <a:t>PRINT </a:t>
            </a:r>
            <a:r>
              <a:rPr lang="en-US" sz="1600" b="0" dirty="0">
                <a:solidFill>
                  <a:schemeClr val="bg1"/>
                </a:solidFill>
                <a:latin typeface="Times New Roman" panose="02020603050405020304" pitchFamily="18" charset="0"/>
                <a:cs typeface="Times New Roman" panose="02020603050405020304" pitchFamily="18" charset="0"/>
              </a:rPr>
              <a:t>"Using Decision Tree for churn prediction"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ELSE </a:t>
            </a:r>
            <a:r>
              <a:rPr lang="en-US" sz="1600" b="0" dirty="0">
                <a:solidFill>
                  <a:schemeClr val="bg1"/>
                </a:solidFill>
                <a:latin typeface="Times New Roman" panose="02020603050405020304" pitchFamily="18" charset="0"/>
                <a:cs typeface="Times New Roman" panose="02020603050405020304" pitchFamily="18" charset="0"/>
              </a:rPr>
              <a:t>IF </a:t>
            </a:r>
            <a:r>
              <a:rPr lang="en-US" sz="1600" b="0" dirty="0" err="1">
                <a:solidFill>
                  <a:schemeClr val="bg1"/>
                </a:solidFill>
                <a:latin typeface="Times New Roman" panose="02020603050405020304" pitchFamily="18" charset="0"/>
                <a:cs typeface="Times New Roman" panose="02020603050405020304" pitchFamily="18" charset="0"/>
              </a:rPr>
              <a:t>best_model</a:t>
            </a:r>
            <a:r>
              <a:rPr lang="en-US" sz="1600" b="0" dirty="0">
                <a:solidFill>
                  <a:schemeClr val="bg1"/>
                </a:solidFill>
                <a:latin typeface="Times New Roman" panose="02020603050405020304" pitchFamily="18" charset="0"/>
                <a:cs typeface="Times New Roman" panose="02020603050405020304" pitchFamily="18" charset="0"/>
              </a:rPr>
              <a:t> = Random Forest: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a:solidFill>
                  <a:schemeClr val="bg1"/>
                </a:solidFill>
                <a:latin typeface="Times New Roman" panose="02020603050405020304" pitchFamily="18" charset="0"/>
                <a:cs typeface="Times New Roman" panose="02020603050405020304" pitchFamily="18" charset="0"/>
              </a:rPr>
              <a:t>	</a:t>
            </a:r>
            <a:r>
              <a:rPr lang="en-US" sz="1600" b="0" dirty="0" smtClean="0">
                <a:solidFill>
                  <a:schemeClr val="bg1"/>
                </a:solidFill>
                <a:latin typeface="Times New Roman" panose="02020603050405020304" pitchFamily="18" charset="0"/>
                <a:cs typeface="Times New Roman" panose="02020603050405020304" pitchFamily="18" charset="0"/>
              </a:rPr>
              <a:t>PRINT </a:t>
            </a:r>
            <a:r>
              <a:rPr lang="en-US" sz="1600" b="0" dirty="0">
                <a:solidFill>
                  <a:schemeClr val="bg1"/>
                </a:solidFill>
                <a:latin typeface="Times New Roman" panose="02020603050405020304" pitchFamily="18" charset="0"/>
                <a:cs typeface="Times New Roman" panose="02020603050405020304" pitchFamily="18" charset="0"/>
              </a:rPr>
              <a:t>"Using Random Forest for churn prediction"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ELSE </a:t>
            </a:r>
            <a:r>
              <a:rPr lang="en-US" sz="1600" b="0" dirty="0">
                <a:solidFill>
                  <a:schemeClr val="bg1"/>
                </a:solidFill>
                <a:latin typeface="Times New Roman" panose="02020603050405020304" pitchFamily="18" charset="0"/>
                <a:cs typeface="Times New Roman" panose="02020603050405020304" pitchFamily="18" charset="0"/>
              </a:rPr>
              <a:t>IF </a:t>
            </a:r>
            <a:r>
              <a:rPr lang="en-US" sz="1600" b="0" dirty="0" err="1">
                <a:solidFill>
                  <a:schemeClr val="bg1"/>
                </a:solidFill>
                <a:latin typeface="Times New Roman" panose="02020603050405020304" pitchFamily="18" charset="0"/>
                <a:cs typeface="Times New Roman" panose="02020603050405020304" pitchFamily="18" charset="0"/>
              </a:rPr>
              <a:t>best_model</a:t>
            </a:r>
            <a:r>
              <a:rPr lang="en-US" sz="1600" b="0" dirty="0">
                <a:solidFill>
                  <a:schemeClr val="bg1"/>
                </a:solidFill>
                <a:latin typeface="Times New Roman" panose="02020603050405020304" pitchFamily="18" charset="0"/>
                <a:cs typeface="Times New Roman" panose="02020603050405020304" pitchFamily="18" charset="0"/>
              </a:rPr>
              <a:t> = GBM: </a:t>
            </a: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	PRINT </a:t>
            </a:r>
            <a:r>
              <a:rPr lang="en-US" sz="1600" b="0" dirty="0">
                <a:solidFill>
                  <a:schemeClr val="bg1"/>
                </a:solidFill>
                <a:latin typeface="Times New Roman" panose="02020603050405020304" pitchFamily="18" charset="0"/>
                <a:cs typeface="Times New Roman" panose="02020603050405020304" pitchFamily="18" charset="0"/>
              </a:rPr>
              <a:t>"Using GBM for churn prediction"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ELSE</a:t>
            </a:r>
            <a:r>
              <a:rPr lang="en-US" sz="1600" b="0" dirty="0">
                <a:solidFill>
                  <a:schemeClr val="bg1"/>
                </a:solidFill>
                <a:latin typeface="Times New Roman" panose="02020603050405020304" pitchFamily="18" charset="0"/>
                <a:cs typeface="Times New Roman" panose="02020603050405020304" pitchFamily="18" charset="0"/>
              </a:rPr>
              <a:t>: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PRINT </a:t>
            </a:r>
            <a:r>
              <a:rPr lang="en-US" sz="1600" b="0" dirty="0">
                <a:solidFill>
                  <a:schemeClr val="bg1"/>
                </a:solidFill>
                <a:latin typeface="Times New Roman" panose="02020603050405020304" pitchFamily="18" charset="0"/>
                <a:cs typeface="Times New Roman" panose="02020603050405020304" pitchFamily="18" charset="0"/>
              </a:rPr>
              <a:t>"Using </a:t>
            </a:r>
            <a:r>
              <a:rPr lang="en-US" sz="1600" b="0" dirty="0" err="1">
                <a:solidFill>
                  <a:schemeClr val="bg1"/>
                </a:solidFill>
                <a:latin typeface="Times New Roman" panose="02020603050405020304" pitchFamily="18" charset="0"/>
                <a:cs typeface="Times New Roman" panose="02020603050405020304" pitchFamily="18" charset="0"/>
              </a:rPr>
              <a:t>XGBoost</a:t>
            </a:r>
            <a:r>
              <a:rPr lang="en-US" sz="1600" b="0" dirty="0">
                <a:solidFill>
                  <a:schemeClr val="bg1"/>
                </a:solidFill>
                <a:latin typeface="Times New Roman" panose="02020603050405020304" pitchFamily="18" charset="0"/>
                <a:cs typeface="Times New Roman" panose="02020603050405020304" pitchFamily="18" charset="0"/>
              </a:rPr>
              <a:t> for churn prediction</a:t>
            </a:r>
            <a:r>
              <a:rPr lang="en-US" sz="1600" b="0" dirty="0" smtClean="0">
                <a:solidFill>
                  <a:schemeClr val="bg1"/>
                </a:solidFill>
                <a:latin typeface="Times New Roman" panose="02020603050405020304" pitchFamily="18" charset="0"/>
                <a:cs typeface="Times New Roman" panose="02020603050405020304" pitchFamily="18" charset="0"/>
              </a:rPr>
              <a:t>"</a:t>
            </a: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23</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5206858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IN" sz="3600" dirty="0">
                <a:solidFill>
                  <a:schemeClr val="accent2">
                    <a:lumMod val="60000"/>
                    <a:lumOff val="40000"/>
                  </a:schemeClr>
                </a:solidFill>
              </a:rPr>
              <a:t>PSEUDO-CODE</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Step </a:t>
            </a:r>
            <a:r>
              <a:rPr lang="en-US" sz="1600" b="0" dirty="0">
                <a:solidFill>
                  <a:schemeClr val="bg1"/>
                </a:solidFill>
                <a:latin typeface="Times New Roman" panose="02020603050405020304" pitchFamily="18" charset="0"/>
                <a:cs typeface="Times New Roman" panose="02020603050405020304" pitchFamily="18" charset="0"/>
              </a:rPr>
              <a:t>5: Predict Churn Probabilities and Segment Customers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err="1" smtClean="0">
                <a:solidFill>
                  <a:schemeClr val="bg1"/>
                </a:solidFill>
                <a:latin typeface="Times New Roman" panose="02020603050405020304" pitchFamily="18" charset="0"/>
                <a:cs typeface="Times New Roman" panose="02020603050405020304" pitchFamily="18" charset="0"/>
              </a:rPr>
              <a:t>best_model.PREDICT</a:t>
            </a:r>
            <a:r>
              <a:rPr lang="en-US" sz="1600" b="0" dirty="0" smtClean="0">
                <a:solidFill>
                  <a:schemeClr val="bg1"/>
                </a:solidFill>
                <a:latin typeface="Times New Roman" panose="02020603050405020304" pitchFamily="18" charset="0"/>
                <a:cs typeface="Times New Roman" panose="02020603050405020304" pitchFamily="18" charset="0"/>
              </a:rPr>
              <a:t> </a:t>
            </a:r>
            <a:r>
              <a:rPr lang="en-US" sz="1600" b="0" dirty="0" err="1">
                <a:solidFill>
                  <a:schemeClr val="bg1"/>
                </a:solidFill>
                <a:latin typeface="Times New Roman" panose="02020603050405020304" pitchFamily="18" charset="0"/>
                <a:cs typeface="Times New Roman" panose="02020603050405020304" pitchFamily="18" charset="0"/>
              </a:rPr>
              <a:t>churn_probabilities</a:t>
            </a:r>
            <a:r>
              <a:rPr lang="en-US" sz="1600" b="0" dirty="0">
                <a:solidFill>
                  <a:schemeClr val="bg1"/>
                </a:solidFill>
                <a:latin typeface="Times New Roman" panose="02020603050405020304" pitchFamily="18" charset="0"/>
                <a:cs typeface="Times New Roman" panose="02020603050405020304" pitchFamily="18" charset="0"/>
              </a:rPr>
              <a:t> for all customers in </a:t>
            </a:r>
            <a:r>
              <a:rPr lang="en-US" sz="1600" b="0" dirty="0" err="1">
                <a:solidFill>
                  <a:schemeClr val="bg1"/>
                </a:solidFill>
                <a:latin typeface="Times New Roman" panose="02020603050405020304" pitchFamily="18" charset="0"/>
                <a:cs typeface="Times New Roman" panose="02020603050405020304" pitchFamily="18" charset="0"/>
              </a:rPr>
              <a:t>customer_data</a:t>
            </a:r>
            <a:r>
              <a:rPr lang="en-US" sz="1600" b="0" dirty="0">
                <a:solidFill>
                  <a:schemeClr val="bg1"/>
                </a:solidFill>
                <a:latin typeface="Times New Roman" panose="02020603050405020304" pitchFamily="18" charset="0"/>
                <a:cs typeface="Times New Roman" panose="02020603050405020304" pitchFamily="18" charset="0"/>
              </a:rPr>
              <a:t>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SEGMENT </a:t>
            </a:r>
            <a:r>
              <a:rPr lang="en-US" sz="1600" b="0" dirty="0">
                <a:solidFill>
                  <a:schemeClr val="bg1"/>
                </a:solidFill>
                <a:latin typeface="Times New Roman" panose="02020603050405020304" pitchFamily="18" charset="0"/>
                <a:cs typeface="Times New Roman" panose="02020603050405020304" pitchFamily="18" charset="0"/>
              </a:rPr>
              <a:t>customers based on </a:t>
            </a:r>
            <a:r>
              <a:rPr lang="en-US" sz="1600" b="0" dirty="0" err="1">
                <a:solidFill>
                  <a:schemeClr val="bg1"/>
                </a:solidFill>
                <a:latin typeface="Times New Roman" panose="02020603050405020304" pitchFamily="18" charset="0"/>
                <a:cs typeface="Times New Roman" panose="02020603050405020304" pitchFamily="18" charset="0"/>
              </a:rPr>
              <a:t>churn_probabilities</a:t>
            </a:r>
            <a:r>
              <a:rPr lang="en-US" sz="1600" b="0" dirty="0">
                <a:solidFill>
                  <a:schemeClr val="bg1"/>
                </a:solidFill>
                <a:latin typeface="Times New Roman" panose="02020603050405020304" pitchFamily="18" charset="0"/>
                <a:cs typeface="Times New Roman" panose="02020603050405020304" pitchFamily="18" charset="0"/>
              </a:rPr>
              <a:t>: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IF </a:t>
            </a:r>
            <a:r>
              <a:rPr lang="en-US" sz="1600" b="0" dirty="0" err="1">
                <a:solidFill>
                  <a:schemeClr val="bg1"/>
                </a:solidFill>
                <a:latin typeface="Times New Roman" panose="02020603050405020304" pitchFamily="18" charset="0"/>
                <a:cs typeface="Times New Roman" panose="02020603050405020304" pitchFamily="18" charset="0"/>
              </a:rPr>
              <a:t>churn_probability</a:t>
            </a:r>
            <a:r>
              <a:rPr lang="en-US" sz="1600" b="0" dirty="0">
                <a:solidFill>
                  <a:schemeClr val="bg1"/>
                </a:solidFill>
                <a:latin typeface="Times New Roman" panose="02020603050405020304" pitchFamily="18" charset="0"/>
                <a:cs typeface="Times New Roman" panose="02020603050405020304" pitchFamily="18" charset="0"/>
              </a:rPr>
              <a:t> &gt; 70%: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a:solidFill>
                  <a:schemeClr val="bg1"/>
                </a:solidFill>
                <a:latin typeface="Times New Roman" panose="02020603050405020304" pitchFamily="18" charset="0"/>
                <a:cs typeface="Times New Roman" panose="02020603050405020304" pitchFamily="18" charset="0"/>
              </a:rPr>
              <a:t>	</a:t>
            </a:r>
            <a:r>
              <a:rPr lang="en-US" sz="1600" b="0" dirty="0" smtClean="0">
                <a:solidFill>
                  <a:schemeClr val="bg1"/>
                </a:solidFill>
                <a:latin typeface="Times New Roman" panose="02020603050405020304" pitchFamily="18" charset="0"/>
                <a:cs typeface="Times New Roman" panose="02020603050405020304" pitchFamily="18" charset="0"/>
              </a:rPr>
              <a:t>LABEL </a:t>
            </a:r>
            <a:r>
              <a:rPr lang="en-US" sz="1600" b="0" dirty="0">
                <a:solidFill>
                  <a:schemeClr val="bg1"/>
                </a:solidFill>
                <a:latin typeface="Times New Roman" panose="02020603050405020304" pitchFamily="18" charset="0"/>
                <a:cs typeface="Times New Roman" panose="02020603050405020304" pitchFamily="18" charset="0"/>
              </a:rPr>
              <a:t>customer as "High-Risk"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ELSE </a:t>
            </a:r>
            <a:r>
              <a:rPr lang="en-US" sz="1600" b="0" dirty="0">
                <a:solidFill>
                  <a:schemeClr val="bg1"/>
                </a:solidFill>
                <a:latin typeface="Times New Roman" panose="02020603050405020304" pitchFamily="18" charset="0"/>
                <a:cs typeface="Times New Roman" panose="02020603050405020304" pitchFamily="18" charset="0"/>
              </a:rPr>
              <a:t>IF </a:t>
            </a:r>
            <a:r>
              <a:rPr lang="en-US" sz="1600" b="0" dirty="0" err="1">
                <a:solidFill>
                  <a:schemeClr val="bg1"/>
                </a:solidFill>
                <a:latin typeface="Times New Roman" panose="02020603050405020304" pitchFamily="18" charset="0"/>
                <a:cs typeface="Times New Roman" panose="02020603050405020304" pitchFamily="18" charset="0"/>
              </a:rPr>
              <a:t>churn_probability</a:t>
            </a:r>
            <a:r>
              <a:rPr lang="en-US" sz="1600" b="0" dirty="0">
                <a:solidFill>
                  <a:schemeClr val="bg1"/>
                </a:solidFill>
                <a:latin typeface="Times New Roman" panose="02020603050405020304" pitchFamily="18" charset="0"/>
                <a:cs typeface="Times New Roman" panose="02020603050405020304" pitchFamily="18" charset="0"/>
              </a:rPr>
              <a:t> between 40% and 70%: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a:solidFill>
                  <a:schemeClr val="bg1"/>
                </a:solidFill>
                <a:latin typeface="Times New Roman" panose="02020603050405020304" pitchFamily="18" charset="0"/>
                <a:cs typeface="Times New Roman" panose="02020603050405020304" pitchFamily="18" charset="0"/>
              </a:rPr>
              <a:t>	</a:t>
            </a:r>
            <a:r>
              <a:rPr lang="en-US" sz="1600" b="0" dirty="0" smtClean="0">
                <a:solidFill>
                  <a:schemeClr val="bg1"/>
                </a:solidFill>
                <a:latin typeface="Times New Roman" panose="02020603050405020304" pitchFamily="18" charset="0"/>
                <a:cs typeface="Times New Roman" panose="02020603050405020304" pitchFamily="18" charset="0"/>
              </a:rPr>
              <a:t>LABEL </a:t>
            </a:r>
            <a:r>
              <a:rPr lang="en-US" sz="1600" b="0" dirty="0">
                <a:solidFill>
                  <a:schemeClr val="bg1"/>
                </a:solidFill>
                <a:latin typeface="Times New Roman" panose="02020603050405020304" pitchFamily="18" charset="0"/>
                <a:cs typeface="Times New Roman" panose="02020603050405020304" pitchFamily="18" charset="0"/>
              </a:rPr>
              <a:t>customer as "Medium-Risk"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ELSE</a:t>
            </a:r>
            <a:r>
              <a:rPr lang="en-US" sz="1600" b="0" dirty="0">
                <a:solidFill>
                  <a:schemeClr val="bg1"/>
                </a:solidFill>
                <a:latin typeface="Times New Roman" panose="02020603050405020304" pitchFamily="18" charset="0"/>
                <a:cs typeface="Times New Roman" panose="02020603050405020304" pitchFamily="18" charset="0"/>
              </a:rPr>
              <a:t>: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a:solidFill>
                  <a:schemeClr val="bg1"/>
                </a:solidFill>
                <a:latin typeface="Times New Roman" panose="02020603050405020304" pitchFamily="18" charset="0"/>
                <a:cs typeface="Times New Roman" panose="02020603050405020304" pitchFamily="18" charset="0"/>
              </a:rPr>
              <a:t>	</a:t>
            </a:r>
            <a:r>
              <a:rPr lang="en-US" sz="1600" b="0" dirty="0" smtClean="0">
                <a:solidFill>
                  <a:schemeClr val="bg1"/>
                </a:solidFill>
                <a:latin typeface="Times New Roman" panose="02020603050405020304" pitchFamily="18" charset="0"/>
                <a:cs typeface="Times New Roman" panose="02020603050405020304" pitchFamily="18" charset="0"/>
              </a:rPr>
              <a:t>LABEL </a:t>
            </a:r>
            <a:r>
              <a:rPr lang="en-US" sz="1600" b="0" dirty="0">
                <a:solidFill>
                  <a:schemeClr val="bg1"/>
                </a:solidFill>
                <a:latin typeface="Times New Roman" panose="02020603050405020304" pitchFamily="18" charset="0"/>
                <a:cs typeface="Times New Roman" panose="02020603050405020304" pitchFamily="18" charset="0"/>
              </a:rPr>
              <a:t>customer as "Low-Risk" </a:t>
            </a:r>
            <a:endParaRPr lang="en-US" sz="1600" b="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24</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26131008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IN" sz="3600" dirty="0">
                <a:solidFill>
                  <a:schemeClr val="accent2">
                    <a:lumMod val="60000"/>
                    <a:lumOff val="40000"/>
                  </a:schemeClr>
                </a:solidFill>
              </a:rPr>
              <a:t>PSEUDO-CODE</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Step </a:t>
            </a:r>
            <a:r>
              <a:rPr lang="en-IN" sz="1600" b="0" dirty="0">
                <a:solidFill>
                  <a:schemeClr val="bg1"/>
                </a:solidFill>
                <a:latin typeface="Times New Roman" panose="02020603050405020304" pitchFamily="18" charset="0"/>
                <a:cs typeface="Times New Roman" panose="02020603050405020304" pitchFamily="18" charset="0"/>
              </a:rPr>
              <a:t>6: Take Action Based on Segments </a:t>
            </a:r>
            <a:endParaRPr lang="en-IN"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FOR </a:t>
            </a:r>
            <a:r>
              <a:rPr lang="en-IN" sz="1600" b="0" dirty="0">
                <a:solidFill>
                  <a:schemeClr val="bg1"/>
                </a:solidFill>
                <a:latin typeface="Times New Roman" panose="02020603050405020304" pitchFamily="18" charset="0"/>
                <a:cs typeface="Times New Roman" panose="02020603050405020304" pitchFamily="18" charset="0"/>
              </a:rPr>
              <a:t>each customer in High-Risk Segment: </a:t>
            </a:r>
            <a:endParaRPr lang="en-IN"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IN" sz="1600" b="0" dirty="0">
                <a:solidFill>
                  <a:schemeClr val="bg1"/>
                </a:solidFill>
                <a:latin typeface="Times New Roman" panose="02020603050405020304" pitchFamily="18" charset="0"/>
                <a:cs typeface="Times New Roman" panose="02020603050405020304" pitchFamily="18" charset="0"/>
              </a:rPr>
              <a:t>	</a:t>
            </a:r>
            <a:r>
              <a:rPr lang="en-IN" sz="1600" b="0" dirty="0" smtClean="0">
                <a:solidFill>
                  <a:schemeClr val="bg1"/>
                </a:solidFill>
                <a:latin typeface="Times New Roman" panose="02020603050405020304" pitchFamily="18" charset="0"/>
                <a:cs typeface="Times New Roman" panose="02020603050405020304" pitchFamily="18" charset="0"/>
              </a:rPr>
              <a:t>OFFER </a:t>
            </a:r>
            <a:r>
              <a:rPr lang="en-IN" sz="1600" b="0" dirty="0">
                <a:solidFill>
                  <a:schemeClr val="bg1"/>
                </a:solidFill>
                <a:latin typeface="Times New Roman" panose="02020603050405020304" pitchFamily="18" charset="0"/>
                <a:cs typeface="Times New Roman" panose="02020603050405020304" pitchFamily="18" charset="0"/>
              </a:rPr>
              <a:t>retention strategies (e.g., discounts, personalized plans) </a:t>
            </a:r>
            <a:endParaRPr lang="en-IN"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FOR </a:t>
            </a:r>
            <a:r>
              <a:rPr lang="en-IN" sz="1600" b="0" dirty="0">
                <a:solidFill>
                  <a:schemeClr val="bg1"/>
                </a:solidFill>
                <a:latin typeface="Times New Roman" panose="02020603050405020304" pitchFamily="18" charset="0"/>
                <a:cs typeface="Times New Roman" panose="02020603050405020304" pitchFamily="18" charset="0"/>
              </a:rPr>
              <a:t>each customer in Medium-Risk Segment: </a:t>
            </a:r>
            <a:endParaRPr lang="en-IN"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IN" sz="1600" b="0" dirty="0">
                <a:solidFill>
                  <a:schemeClr val="bg1"/>
                </a:solidFill>
                <a:latin typeface="Times New Roman" panose="02020603050405020304" pitchFamily="18" charset="0"/>
                <a:cs typeface="Times New Roman" panose="02020603050405020304" pitchFamily="18" charset="0"/>
              </a:rPr>
              <a:t>	</a:t>
            </a:r>
            <a:r>
              <a:rPr lang="en-IN" sz="1600" b="0" dirty="0" smtClean="0">
                <a:solidFill>
                  <a:schemeClr val="bg1"/>
                </a:solidFill>
                <a:latin typeface="Times New Roman" panose="02020603050405020304" pitchFamily="18" charset="0"/>
                <a:cs typeface="Times New Roman" panose="02020603050405020304" pitchFamily="18" charset="0"/>
              </a:rPr>
              <a:t>ENGAGE </a:t>
            </a:r>
            <a:r>
              <a:rPr lang="en-IN" sz="1600" b="0" dirty="0">
                <a:solidFill>
                  <a:schemeClr val="bg1"/>
                </a:solidFill>
                <a:latin typeface="Times New Roman" panose="02020603050405020304" pitchFamily="18" charset="0"/>
                <a:cs typeface="Times New Roman" panose="02020603050405020304" pitchFamily="18" charset="0"/>
              </a:rPr>
              <a:t>proactively (e.g., check-ins, value-added services) </a:t>
            </a:r>
            <a:endParaRPr lang="en-IN"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FOR </a:t>
            </a:r>
            <a:r>
              <a:rPr lang="en-IN" sz="1600" b="0" dirty="0">
                <a:solidFill>
                  <a:schemeClr val="bg1"/>
                </a:solidFill>
                <a:latin typeface="Times New Roman" panose="02020603050405020304" pitchFamily="18" charset="0"/>
                <a:cs typeface="Times New Roman" panose="02020603050405020304" pitchFamily="18" charset="0"/>
              </a:rPr>
              <a:t>each customer in Low-Risk Segment: </a:t>
            </a:r>
            <a:endParaRPr lang="en-IN"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IN" sz="1600" b="0" dirty="0">
                <a:solidFill>
                  <a:schemeClr val="bg1"/>
                </a:solidFill>
                <a:latin typeface="Times New Roman" panose="02020603050405020304" pitchFamily="18" charset="0"/>
                <a:cs typeface="Times New Roman" panose="02020603050405020304" pitchFamily="18" charset="0"/>
              </a:rPr>
              <a:t>	</a:t>
            </a:r>
            <a:r>
              <a:rPr lang="en-IN" sz="1600" b="0" dirty="0" smtClean="0">
                <a:solidFill>
                  <a:schemeClr val="bg1"/>
                </a:solidFill>
                <a:latin typeface="Times New Roman" panose="02020603050405020304" pitchFamily="18" charset="0"/>
                <a:cs typeface="Times New Roman" panose="02020603050405020304" pitchFamily="18" charset="0"/>
              </a:rPr>
              <a:t>TARGET </a:t>
            </a:r>
            <a:r>
              <a:rPr lang="en-IN" sz="1600" b="0" dirty="0">
                <a:solidFill>
                  <a:schemeClr val="bg1"/>
                </a:solidFill>
                <a:latin typeface="Times New Roman" panose="02020603050405020304" pitchFamily="18" charset="0"/>
                <a:cs typeface="Times New Roman" panose="02020603050405020304" pitchFamily="18" charset="0"/>
              </a:rPr>
              <a:t>for upselling or cross-selling opportunities </a:t>
            </a:r>
          </a:p>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Step </a:t>
            </a:r>
            <a:r>
              <a:rPr lang="en-IN" sz="1600" b="0" dirty="0">
                <a:solidFill>
                  <a:schemeClr val="bg1"/>
                </a:solidFill>
                <a:latin typeface="Times New Roman" panose="02020603050405020304" pitchFamily="18" charset="0"/>
                <a:cs typeface="Times New Roman" panose="02020603050405020304" pitchFamily="18" charset="0"/>
              </a:rPr>
              <a:t>7: Continuous Improvement </a:t>
            </a:r>
            <a:endParaRPr lang="en-IN"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SCHEDULE </a:t>
            </a:r>
            <a:r>
              <a:rPr lang="en-IN" sz="1600" b="0" dirty="0">
                <a:solidFill>
                  <a:schemeClr val="bg1"/>
                </a:solidFill>
                <a:latin typeface="Times New Roman" panose="02020603050405020304" pitchFamily="18" charset="0"/>
                <a:cs typeface="Times New Roman" panose="02020603050405020304" pitchFamily="18" charset="0"/>
              </a:rPr>
              <a:t>periodic model retraining with updated </a:t>
            </a:r>
            <a:r>
              <a:rPr lang="en-IN" sz="1600" b="0" dirty="0" err="1">
                <a:solidFill>
                  <a:schemeClr val="bg1"/>
                </a:solidFill>
                <a:latin typeface="Times New Roman" panose="02020603050405020304" pitchFamily="18" charset="0"/>
                <a:cs typeface="Times New Roman" panose="02020603050405020304" pitchFamily="18" charset="0"/>
              </a:rPr>
              <a:t>customer_data</a:t>
            </a:r>
            <a:r>
              <a:rPr lang="en-IN" sz="1600" b="0" dirty="0">
                <a:solidFill>
                  <a:schemeClr val="bg1"/>
                </a:solidFill>
                <a:latin typeface="Times New Roman" panose="02020603050405020304" pitchFamily="18" charset="0"/>
                <a:cs typeface="Times New Roman" panose="02020603050405020304" pitchFamily="18" charset="0"/>
              </a:rPr>
              <a:t> MONITOR model performance over time </a:t>
            </a:r>
            <a:endParaRPr lang="en-IN"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END</a:t>
            </a: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25</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12288679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543696"/>
            <a:ext cx="7620000" cy="218303"/>
          </a:xfrm>
        </p:spPr>
        <p:txBody>
          <a:bodyPr/>
          <a:lstStyle/>
          <a:p>
            <a:r>
              <a:rPr lang="en-US" sz="3600" cap="all" dirty="0">
                <a:solidFill>
                  <a:schemeClr val="accent2">
                    <a:lumMod val="60000"/>
                    <a:lumOff val="40000"/>
                  </a:schemeClr>
                </a:solidFill>
              </a:rPr>
              <a:t>System implementation</a:t>
            </a:r>
            <a:r>
              <a:rPr lang="en-IN" cap="all" dirty="0"/>
              <a:t/>
            </a:r>
            <a:br>
              <a:rPr lang="en-IN" cap="all" dirty="0"/>
            </a:b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The </a:t>
            </a:r>
            <a:r>
              <a:rPr lang="en-US" sz="1600" b="0" dirty="0">
                <a:solidFill>
                  <a:schemeClr val="bg1"/>
                </a:solidFill>
                <a:latin typeface="Times New Roman" panose="02020603050405020304" pitchFamily="18" charset="0"/>
                <a:cs typeface="Times New Roman" panose="02020603050405020304" pitchFamily="18" charset="0"/>
              </a:rPr>
              <a:t>results focus on sophisticated churn prediction model that significantly improves telecom providers' ability to anticipate and address customer </a:t>
            </a:r>
            <a:r>
              <a:rPr lang="en-US" sz="1600" b="0" dirty="0" smtClean="0">
                <a:solidFill>
                  <a:schemeClr val="bg1"/>
                </a:solidFill>
                <a:latin typeface="Times New Roman" panose="02020603050405020304" pitchFamily="18" charset="0"/>
                <a:cs typeface="Times New Roman" panose="02020603050405020304" pitchFamily="18" charset="0"/>
              </a:rPr>
              <a:t>churn.</a:t>
            </a:r>
            <a:endParaRPr lang="en-US" dirty="0">
              <a:solidFill>
                <a:schemeClr val="bg1"/>
              </a:solidFill>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			</a:t>
            </a:r>
            <a:r>
              <a:rPr lang="en-IN" sz="1600" b="0" dirty="0" smtClean="0">
                <a:solidFill>
                  <a:schemeClr val="bg1"/>
                </a:solidFill>
                <a:latin typeface="Times New Roman" panose="02020603050405020304" pitchFamily="18" charset="0"/>
                <a:cs typeface="Times New Roman" panose="02020603050405020304" pitchFamily="18" charset="0"/>
              </a:rPr>
              <a:t>Fig .anaconda prompt</a:t>
            </a:r>
            <a:endParaRPr lang="en-US" sz="1600" b="0" dirty="0">
              <a:solidFill>
                <a:schemeClr val="bg1"/>
              </a:solidFill>
              <a:latin typeface="Times New Roman" panose="02020603050405020304" pitchFamily="18" charset="0"/>
              <a:cs typeface="Times New Roman" panose="02020603050405020304" pitchFamily="18" charset="0"/>
            </a:endParaRPr>
          </a:p>
          <a:p>
            <a:pPr algn="just"/>
            <a:r>
              <a:rPr lang="en-US" sz="1600" b="0" dirty="0" smtClean="0">
                <a:solidFill>
                  <a:schemeClr val="bg1"/>
                </a:solidFill>
                <a:latin typeface="Times New Roman" panose="02020603050405020304" pitchFamily="18" charset="0"/>
                <a:cs typeface="Times New Roman" panose="02020603050405020304" pitchFamily="18" charset="0"/>
              </a:rPr>
              <a:t> To </a:t>
            </a:r>
            <a:r>
              <a:rPr lang="en-US" sz="1600" b="0" dirty="0">
                <a:solidFill>
                  <a:schemeClr val="bg1"/>
                </a:solidFill>
                <a:latin typeface="Times New Roman" panose="02020603050405020304" pitchFamily="18" charset="0"/>
                <a:cs typeface="Times New Roman" panose="02020603050405020304" pitchFamily="18" charset="0"/>
              </a:rPr>
              <a:t>execute the project, please follow these steps: </a:t>
            </a:r>
            <a:endParaRPr lang="en-IN" sz="1600" b="0" dirty="0">
              <a:solidFill>
                <a:schemeClr val="bg1"/>
              </a:solidFill>
              <a:latin typeface="Times New Roman" panose="02020603050405020304" pitchFamily="18" charset="0"/>
              <a:cs typeface="Times New Roman" panose="02020603050405020304" pitchFamily="18" charset="0"/>
            </a:endParaRPr>
          </a:p>
          <a:p>
            <a:pPr algn="just"/>
            <a:r>
              <a:rPr lang="en-US" sz="1600" b="0" dirty="0">
                <a:solidFill>
                  <a:schemeClr val="bg1"/>
                </a:solidFill>
                <a:latin typeface="Times New Roman" panose="02020603050405020304" pitchFamily="18" charset="0"/>
                <a:cs typeface="Times New Roman" panose="02020603050405020304" pitchFamily="18" charset="0"/>
              </a:rPr>
              <a:t>Open anaconda navigator application, run the </a:t>
            </a:r>
            <a:r>
              <a:rPr lang="en-US" sz="1600" b="0" dirty="0" err="1">
                <a:solidFill>
                  <a:schemeClr val="bg1"/>
                </a:solidFill>
                <a:latin typeface="Times New Roman" panose="02020603050405020304" pitchFamily="18" charset="0"/>
                <a:cs typeface="Times New Roman" panose="02020603050405020304" pitchFamily="18" charset="0"/>
              </a:rPr>
              <a:t>flask_env</a:t>
            </a:r>
            <a:r>
              <a:rPr lang="en-US" sz="1600" b="0" dirty="0">
                <a:solidFill>
                  <a:schemeClr val="bg1"/>
                </a:solidFill>
                <a:latin typeface="Times New Roman" panose="02020603050405020304" pitchFamily="18" charset="0"/>
                <a:cs typeface="Times New Roman" panose="02020603050405020304" pitchFamily="18" charset="0"/>
              </a:rPr>
              <a:t> in environments </a:t>
            </a:r>
            <a:endParaRPr lang="en-IN" sz="1600" b="0" dirty="0">
              <a:solidFill>
                <a:schemeClr val="bg1"/>
              </a:solidFill>
              <a:latin typeface="Times New Roman" panose="02020603050405020304" pitchFamily="18" charset="0"/>
              <a:cs typeface="Times New Roman" panose="02020603050405020304" pitchFamily="18" charset="0"/>
            </a:endParaRPr>
          </a:p>
          <a:p>
            <a:pPr algn="just"/>
            <a:r>
              <a:rPr lang="en-US" sz="1600" b="0" dirty="0">
                <a:solidFill>
                  <a:schemeClr val="bg1"/>
                </a:solidFill>
                <a:latin typeface="Times New Roman" panose="02020603050405020304" pitchFamily="18" charset="0"/>
                <a:cs typeface="Times New Roman" panose="02020603050405020304" pitchFamily="18" charset="0"/>
              </a:rPr>
              <a:t>Open the terminal, Copy the contents from the "customer churn telecom" file. </a:t>
            </a:r>
            <a:endParaRPr lang="en-IN" sz="1600" b="0" dirty="0">
              <a:solidFill>
                <a:schemeClr val="bg1"/>
              </a:solidFill>
              <a:latin typeface="Times New Roman" panose="02020603050405020304" pitchFamily="18" charset="0"/>
              <a:cs typeface="Times New Roman" panose="02020603050405020304" pitchFamily="18" charset="0"/>
            </a:endParaRPr>
          </a:p>
          <a:p>
            <a:pPr algn="just"/>
            <a:r>
              <a:rPr lang="en-US" sz="1600" b="0" dirty="0">
                <a:solidFill>
                  <a:schemeClr val="bg1"/>
                </a:solidFill>
                <a:latin typeface="Times New Roman" panose="02020603050405020304" pitchFamily="18" charset="0"/>
                <a:cs typeface="Times New Roman" panose="02020603050405020304" pitchFamily="18" charset="0"/>
              </a:rPr>
              <a:t>Type python app.py in Command prompt.  </a:t>
            </a:r>
            <a:endParaRPr lang="en-IN" sz="1600" b="0" dirty="0">
              <a:solidFill>
                <a:schemeClr val="bg1"/>
              </a:solidFill>
              <a:latin typeface="Times New Roman" panose="02020603050405020304" pitchFamily="18" charset="0"/>
              <a:cs typeface="Times New Roman" panose="02020603050405020304" pitchFamily="18" charset="0"/>
            </a:endParaRPr>
          </a:p>
          <a:p>
            <a:pPr algn="just"/>
            <a:r>
              <a:rPr lang="en-US" sz="1600" b="0" dirty="0">
                <a:solidFill>
                  <a:schemeClr val="bg1"/>
                </a:solidFill>
                <a:latin typeface="Times New Roman" panose="02020603050405020304" pitchFamily="18" charset="0"/>
                <a:cs typeface="Times New Roman" panose="02020603050405020304" pitchFamily="18" charset="0"/>
              </a:rPr>
              <a:t>Upon successful execution, access the webpage below: [Please insert the webpage URL or description here.] </a:t>
            </a:r>
            <a:endParaRPr lang="en-IN"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IN"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26</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pic>
        <p:nvPicPr>
          <p:cNvPr id="7" name="Picture 6"/>
          <p:cNvPicPr/>
          <p:nvPr/>
        </p:nvPicPr>
        <p:blipFill>
          <a:blip r:embed="rId3">
            <a:extLst>
              <a:ext uri="{28A0092B-C50C-407E-A947-70E740481C1C}">
                <a14:useLocalDpi xmlns:a14="http://schemas.microsoft.com/office/drawing/2010/main" val="0"/>
              </a:ext>
            </a:extLst>
          </a:blip>
          <a:stretch>
            <a:fillRect/>
          </a:stretch>
        </p:blipFill>
        <p:spPr>
          <a:xfrm>
            <a:off x="1600200" y="1866901"/>
            <a:ext cx="5702643" cy="2519748"/>
          </a:xfrm>
          <a:prstGeom prst="rect">
            <a:avLst/>
          </a:prstGeom>
        </p:spPr>
      </p:pic>
    </p:spTree>
    <p:extLst>
      <p:ext uri="{BB962C8B-B14F-4D97-AF65-F5344CB8AC3E}">
        <p14:creationId xmlns:p14="http://schemas.microsoft.com/office/powerpoint/2010/main" val="200464472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543696"/>
            <a:ext cx="7620000" cy="218303"/>
          </a:xfrm>
        </p:spPr>
        <p:txBody>
          <a:bodyPr/>
          <a:lstStyle/>
          <a:p>
            <a:r>
              <a:rPr lang="en-US" sz="3600" cap="all" dirty="0">
                <a:solidFill>
                  <a:schemeClr val="accent2">
                    <a:lumMod val="60000"/>
                    <a:lumOff val="40000"/>
                  </a:schemeClr>
                </a:solidFill>
              </a:rPr>
              <a:t>System implementation</a:t>
            </a:r>
            <a:r>
              <a:rPr lang="en-IN" cap="all" dirty="0"/>
              <a:t/>
            </a:r>
            <a:br>
              <a:rPr lang="en-IN" cap="all" dirty="0"/>
            </a:b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			</a:t>
            </a: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			Fig. </a:t>
            </a:r>
            <a:r>
              <a:rPr lang="en-US" sz="1600" b="0" dirty="0">
                <a:solidFill>
                  <a:schemeClr val="bg1"/>
                </a:solidFill>
                <a:latin typeface="Times New Roman" panose="02020603050405020304" pitchFamily="18" charset="0"/>
                <a:cs typeface="Times New Roman" panose="02020603050405020304" pitchFamily="18" charset="0"/>
              </a:rPr>
              <a:t>Registration Page</a:t>
            </a: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A </a:t>
            </a:r>
            <a:r>
              <a:rPr lang="en-US" sz="1600" b="0" dirty="0">
                <a:solidFill>
                  <a:schemeClr val="bg1"/>
                </a:solidFill>
                <a:latin typeface="Times New Roman" panose="02020603050405020304" pitchFamily="18" charset="0"/>
                <a:cs typeface="Times New Roman" panose="02020603050405020304" pitchFamily="18" charset="0"/>
              </a:rPr>
              <a:t>registration page for a customer churn prediction system requires several key components. First, input fields are used to collect essential information like username, email, and password, which form the basis for user authentication. Proper form validation is crucial to ensure the data is accurate and secure—validating email formats and enforcing strong password requirements helps maintain the integrity of user input.</a:t>
            </a:r>
            <a:endParaRPr lang="en-IN"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27</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pic>
        <p:nvPicPr>
          <p:cNvPr id="6" name="Picture 5" descr="C:\Users\home\Pictures\Screenshots\Screenshot 2024-11-04 182420.png"/>
          <p:cNvPicPr/>
          <p:nvPr/>
        </p:nvPicPr>
        <p:blipFill rotWithShape="1">
          <a:blip r:embed="rId3" cstate="print">
            <a:extLst>
              <a:ext uri="{28A0092B-C50C-407E-A947-70E740481C1C}">
                <a14:useLocalDpi xmlns:a14="http://schemas.microsoft.com/office/drawing/2010/main" val="0"/>
              </a:ext>
            </a:extLst>
          </a:blip>
          <a:srcRect t="5078" r="9836" b="22295"/>
          <a:stretch/>
        </p:blipFill>
        <p:spPr bwMode="auto">
          <a:xfrm>
            <a:off x="1585784" y="1135517"/>
            <a:ext cx="5622323" cy="274450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1712645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cap="all" dirty="0" smtClean="0">
                <a:solidFill>
                  <a:schemeClr val="accent2">
                    <a:lumMod val="60000"/>
                    <a:lumOff val="40000"/>
                  </a:schemeClr>
                </a:solidFill>
              </a:rPr>
              <a:t>System </a:t>
            </a:r>
            <a:r>
              <a:rPr lang="en-US" sz="3600" cap="all" dirty="0">
                <a:solidFill>
                  <a:schemeClr val="accent2">
                    <a:lumMod val="60000"/>
                    <a:lumOff val="40000"/>
                  </a:schemeClr>
                </a:solidFill>
              </a:rPr>
              <a:t>implementation</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			      Fig. </a:t>
            </a:r>
            <a:r>
              <a:rPr lang="en-US" sz="1600" b="0" dirty="0">
                <a:solidFill>
                  <a:schemeClr val="bg1"/>
                </a:solidFill>
                <a:latin typeface="Times New Roman" panose="02020603050405020304" pitchFamily="18" charset="0"/>
                <a:cs typeface="Times New Roman" panose="02020603050405020304" pitchFamily="18" charset="0"/>
              </a:rPr>
              <a:t>Login </a:t>
            </a:r>
            <a:r>
              <a:rPr lang="en-US" sz="1600" b="0" dirty="0" smtClean="0">
                <a:solidFill>
                  <a:schemeClr val="bg1"/>
                </a:solidFill>
                <a:latin typeface="Times New Roman" panose="02020603050405020304" pitchFamily="18" charset="0"/>
                <a:cs typeface="Times New Roman" panose="02020603050405020304" pitchFamily="18" charset="0"/>
              </a:rPr>
              <a:t>Page</a:t>
            </a: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A </a:t>
            </a:r>
            <a:r>
              <a:rPr lang="en-US" sz="1600" b="0" dirty="0">
                <a:solidFill>
                  <a:schemeClr val="bg1"/>
                </a:solidFill>
                <a:latin typeface="Times New Roman" panose="02020603050405020304" pitchFamily="18" charset="0"/>
                <a:cs typeface="Times New Roman" panose="02020603050405020304" pitchFamily="18" charset="0"/>
              </a:rPr>
              <a:t>login page for a customer churn prediction system serves as the gateway for users to access the application. It typically includes input fields for the username or email and password, enabling users to authenticate their credentials. Form validation is essential to ensure users enter correct and complete information, such as validating that fields are not left empty and that the email format is correct when applicable</a:t>
            </a:r>
            <a:r>
              <a:rPr lang="en-US" sz="1600" b="0" dirty="0" smtClean="0">
                <a:solidFill>
                  <a:schemeClr val="bg1"/>
                </a:solidFill>
                <a:latin typeface="Times New Roman" panose="02020603050405020304" pitchFamily="18" charset="0"/>
                <a:cs typeface="Times New Roman" panose="02020603050405020304" pitchFamily="18" charset="0"/>
              </a:rPr>
              <a:t>.</a:t>
            </a:r>
            <a:r>
              <a:rPr lang="en-US" sz="1600" b="0" dirty="0">
                <a:solidFill>
                  <a:schemeClr val="bg1"/>
                </a:solidFill>
                <a:latin typeface="Times New Roman" panose="02020603050405020304" pitchFamily="18" charset="0"/>
                <a:cs typeface="Times New Roman" panose="02020603050405020304" pitchFamily="18" charset="0"/>
              </a:rPr>
              <a:t> </a:t>
            </a: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28</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pic>
        <p:nvPicPr>
          <p:cNvPr id="6" name="Picture 5" descr="C:\Users\home\Pictures\Screenshots\Screenshot 2024-11-04 182722.png"/>
          <p:cNvPicPr/>
          <p:nvPr/>
        </p:nvPicPr>
        <p:blipFill rotWithShape="1">
          <a:blip r:embed="rId3" cstate="print">
            <a:extLst>
              <a:ext uri="{28A0092B-C50C-407E-A947-70E740481C1C}">
                <a14:useLocalDpi xmlns:a14="http://schemas.microsoft.com/office/drawing/2010/main" val="0"/>
              </a:ext>
            </a:extLst>
          </a:blip>
          <a:srcRect t="4964" r="7692" b="10893"/>
          <a:stretch/>
        </p:blipFill>
        <p:spPr bwMode="auto">
          <a:xfrm>
            <a:off x="1692875" y="1134074"/>
            <a:ext cx="6067167" cy="2881872"/>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935887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smtClean="0">
                <a:solidFill>
                  <a:schemeClr val="accent2">
                    <a:lumMod val="60000"/>
                    <a:lumOff val="40000"/>
                  </a:schemeClr>
                </a:solidFill>
              </a:rPr>
              <a:t>RESULT</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0" y="838201"/>
            <a:ext cx="8763000" cy="5715000"/>
          </a:xfrm>
        </p:spPr>
        <p:txBody>
          <a:bodyPr/>
          <a:lstStyle/>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A </a:t>
            </a:r>
            <a:r>
              <a:rPr lang="en-US" sz="1600" b="0" dirty="0">
                <a:solidFill>
                  <a:schemeClr val="bg1"/>
                </a:solidFill>
                <a:latin typeface="Times New Roman" panose="02020603050405020304" pitchFamily="18" charset="0"/>
                <a:cs typeface="Times New Roman" panose="02020603050405020304" pitchFamily="18" charset="0"/>
              </a:rPr>
              <a:t>customer churn checking page for a customer churn prediction system serves as the interface where users can input customer data to assess the likelihood of churn. This page typically includes input fields to enter customer attributes such as demographic details, transaction history, and usage patterns</a:t>
            </a:r>
            <a:r>
              <a:rPr lang="en-US" sz="1600" b="0" dirty="0" smtClean="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IN" sz="1600" b="0" dirty="0" smtClean="0">
                <a:solidFill>
                  <a:schemeClr val="bg1"/>
                </a:solidFill>
                <a:latin typeface="Times New Roman" panose="02020603050405020304" pitchFamily="18" charset="0"/>
                <a:cs typeface="Times New Roman" panose="02020603050405020304" pitchFamily="18" charset="0"/>
              </a:rPr>
              <a:t>			Fig.5.1.3 </a:t>
            </a:r>
            <a:r>
              <a:rPr lang="en-IN" sz="1600" b="0" dirty="0">
                <a:solidFill>
                  <a:schemeClr val="bg1"/>
                </a:solidFill>
                <a:latin typeface="Times New Roman" panose="02020603050405020304" pitchFamily="18" charset="0"/>
                <a:cs typeface="Times New Roman" panose="02020603050405020304" pitchFamily="18" charset="0"/>
              </a:rPr>
              <a:t>Prediction Page </a:t>
            </a:r>
            <a:endParaRPr lang="en-IN"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 </a:t>
            </a:r>
            <a:r>
              <a:rPr lang="en-US" sz="1600" b="0" dirty="0">
                <a:solidFill>
                  <a:schemeClr val="bg1"/>
                </a:solidFill>
                <a:latin typeface="Times New Roman" panose="02020603050405020304" pitchFamily="18" charset="0"/>
                <a:cs typeface="Times New Roman" panose="02020603050405020304" pitchFamily="18" charset="0"/>
              </a:rPr>
              <a:t>The page integrates with a backend machine learning model trained to predict churn based on these inputs. After the data is submitted, the model analyzes the inputs and returns a prediction indicating the likelihood of the customer leaving. The results are usually displayed in an easy-to-understand format, such as a probability score, risk category (e.g., high, medium, low), or a visual indicator like a color-coded status.</a:t>
            </a:r>
            <a:endParaRPr lang="en-IN"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IN"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29</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pic>
        <p:nvPicPr>
          <p:cNvPr id="6" name="Picture 5"/>
          <p:cNvPicPr/>
          <p:nvPr/>
        </p:nvPicPr>
        <p:blipFill rotWithShape="1">
          <a:blip r:embed="rId3" cstate="print">
            <a:extLst>
              <a:ext uri="{28A0092B-C50C-407E-A947-70E740481C1C}">
                <a14:useLocalDpi xmlns:a14="http://schemas.microsoft.com/office/drawing/2010/main" val="0"/>
              </a:ext>
            </a:extLst>
          </a:blip>
          <a:srcRect t="3765" r="5168" b="4762"/>
          <a:stretch/>
        </p:blipFill>
        <p:spPr bwMode="auto">
          <a:xfrm>
            <a:off x="1569309" y="2051222"/>
            <a:ext cx="5696464" cy="243428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7621268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smtClean="0">
                <a:solidFill>
                  <a:schemeClr val="accent2">
                    <a:lumMod val="60000"/>
                    <a:lumOff val="40000"/>
                  </a:schemeClr>
                </a:solidFill>
              </a:rPr>
              <a:t>RESULT</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				Fig. Result </a:t>
            </a:r>
            <a:r>
              <a:rPr lang="en-US" sz="1600" b="0" dirty="0">
                <a:solidFill>
                  <a:schemeClr val="bg1"/>
                </a:solidFill>
                <a:latin typeface="Times New Roman" panose="02020603050405020304" pitchFamily="18" charset="0"/>
                <a:cs typeface="Times New Roman" panose="02020603050405020304" pitchFamily="18" charset="0"/>
              </a:rPr>
              <a:t>page</a:t>
            </a:r>
          </a:p>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A </a:t>
            </a:r>
            <a:r>
              <a:rPr lang="en-US" sz="1600" b="0" dirty="0">
                <a:solidFill>
                  <a:schemeClr val="bg1"/>
                </a:solidFill>
                <a:latin typeface="Times New Roman" panose="02020603050405020304" pitchFamily="18" charset="0"/>
                <a:cs typeface="Times New Roman" panose="02020603050405020304" pitchFamily="18" charset="0"/>
              </a:rPr>
              <a:t>Churn Prediction Result Page for a customer churn prediction system provides users with insights into the likelihood of customer churn based on their input data. This page typically displays the prediction results, including whether a customer is likely to churn or not, along with key metrics and factors influencing the prediction</a:t>
            </a:r>
            <a:r>
              <a:rPr lang="en-US" sz="1600" b="0" dirty="0" smtClean="0">
                <a:solidFill>
                  <a:schemeClr val="bg1"/>
                </a:solidFill>
                <a:latin typeface="Times New Roman" panose="02020603050405020304" pitchFamily="18" charset="0"/>
                <a:cs typeface="Times New Roman" panose="02020603050405020304" pitchFamily="18" charset="0"/>
              </a:rPr>
              <a:t>. </a:t>
            </a:r>
            <a:endParaRPr lang="en-US"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smtClean="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30</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pic>
        <p:nvPicPr>
          <p:cNvPr id="6" name="Picture 5"/>
          <p:cNvPicPr/>
          <p:nvPr/>
        </p:nvPicPr>
        <p:blipFill rotWithShape="1">
          <a:blip r:embed="rId3" cstate="print">
            <a:extLst>
              <a:ext uri="{28A0092B-C50C-407E-A947-70E740481C1C}">
                <a14:useLocalDpi xmlns:a14="http://schemas.microsoft.com/office/drawing/2010/main" val="0"/>
              </a:ext>
            </a:extLst>
          </a:blip>
          <a:srcRect l="3483" t="12983" r="7416" b="14714"/>
          <a:stretch/>
        </p:blipFill>
        <p:spPr bwMode="auto">
          <a:xfrm>
            <a:off x="1878226" y="1031343"/>
            <a:ext cx="5375189" cy="275844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2686722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a:solidFill>
                  <a:schemeClr val="accent2">
                    <a:lumMod val="60000"/>
                    <a:lumOff val="40000"/>
                  </a:schemeClr>
                </a:solidFill>
              </a:rPr>
              <a:t>RESULT</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Key </a:t>
            </a:r>
            <a:r>
              <a:rPr lang="en-US" sz="1600" b="0" dirty="0">
                <a:solidFill>
                  <a:schemeClr val="bg1"/>
                </a:solidFill>
                <a:latin typeface="Times New Roman" panose="02020603050405020304" pitchFamily="18" charset="0"/>
                <a:cs typeface="Times New Roman" panose="02020603050405020304" pitchFamily="18" charset="0"/>
              </a:rPr>
              <a:t>Components of the Churn Prediction Result Page:</a:t>
            </a:r>
          </a:p>
          <a:p>
            <a:pPr algn="just"/>
            <a:r>
              <a:rPr lang="en-US" sz="1600" b="0" dirty="0">
                <a:solidFill>
                  <a:schemeClr val="bg1"/>
                </a:solidFill>
                <a:latin typeface="Times New Roman" panose="02020603050405020304" pitchFamily="18" charset="0"/>
                <a:cs typeface="Times New Roman" panose="02020603050405020304" pitchFamily="18" charset="0"/>
              </a:rPr>
              <a:t>1. Prediction Outcome: Clearly displays the prediction result, such as "Likely to Churn" or "Not Likely to Churn," giving a quick overview of the customer’s status. </a:t>
            </a:r>
          </a:p>
          <a:p>
            <a:pPr algn="just"/>
            <a:r>
              <a:rPr lang="en-US" sz="1600" b="0" dirty="0">
                <a:solidFill>
                  <a:schemeClr val="bg1"/>
                </a:solidFill>
                <a:latin typeface="Times New Roman" panose="02020603050405020304" pitchFamily="18" charset="0"/>
                <a:cs typeface="Times New Roman" panose="02020603050405020304" pitchFamily="18" charset="0"/>
              </a:rPr>
              <a:t>2. Probability Score: Shows the probability or confidence level of the prediction, such as “Churn Probability: 93.37%,” helping users understand the certainty of the result </a:t>
            </a: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31</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228914527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sz="3600" dirty="0" smtClean="0">
                <a:solidFill>
                  <a:schemeClr val="accent2">
                    <a:lumMod val="60000"/>
                    <a:lumOff val="40000"/>
                  </a:schemeClr>
                </a:solidFill>
              </a:rPr>
              <a:t>CONCLUSION</a:t>
            </a:r>
            <a:endParaRPr lang="en-IN" sz="3600" dirty="0" smtClean="0">
              <a:solidFill>
                <a:schemeClr val="accent2">
                  <a:lumMod val="60000"/>
                  <a:lumOff val="40000"/>
                </a:schemeClr>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026367"/>
            <a:ext cx="8534400" cy="5526833"/>
          </a:xfrm>
        </p:spPr>
        <p:txBody>
          <a:bodyPr/>
          <a:lstStyle/>
          <a:p>
            <a:pPr algn="just">
              <a:lnSpc>
                <a:spcPct val="150000"/>
              </a:lnSpc>
              <a:defRPr/>
            </a:pPr>
            <a:r>
              <a:rPr lang="en-US" sz="1600" b="0" dirty="0" smtClean="0">
                <a:solidFill>
                  <a:schemeClr val="bg1"/>
                </a:solidFill>
                <a:latin typeface="Times New Roman" panose="02020603050405020304" pitchFamily="18" charset="0"/>
                <a:cs typeface="Times New Roman" panose="02020603050405020304" pitchFamily="18" charset="0"/>
              </a:rPr>
              <a:t>The </a:t>
            </a:r>
            <a:r>
              <a:rPr lang="en-US" sz="1600" b="0" dirty="0">
                <a:solidFill>
                  <a:schemeClr val="bg1"/>
                </a:solidFill>
                <a:latin typeface="Times New Roman" panose="02020603050405020304" pitchFamily="18" charset="0"/>
                <a:cs typeface="Times New Roman" panose="02020603050405020304" pitchFamily="18" charset="0"/>
              </a:rPr>
              <a:t>purpose of this kind of study in the telecom industry is to aid businesses in increasing their profits. It is well known that one of the most significant revenue streams for telecom firms is churn prediction. The purpose of this study was to create a system that anticipates client attrition to be successful, prediction models must have high AUC values. The sampling data is split into 80% for training and 20% for validation in order to test or train the model. We picked to carry out for hyper - parameters adjustment and validation. To prepare the characteristics for machine learning algorithms, we used feature engineering, effective feature transformations, and selection methods.  We also ran across the issue that the data was not balanced. Only 5% of the entries are customer turnover. This issue was resolved by under sampling or by </a:t>
            </a:r>
            <a:r>
              <a:rPr lang="en-US" sz="1600" b="0" dirty="0" err="1">
                <a:solidFill>
                  <a:schemeClr val="bg1"/>
                </a:solidFill>
                <a:latin typeface="Times New Roman" panose="02020603050405020304" pitchFamily="18" charset="0"/>
                <a:cs typeface="Times New Roman" panose="02020603050405020304" pitchFamily="18" charset="0"/>
              </a:rPr>
              <a:t>utilising</a:t>
            </a:r>
            <a:r>
              <a:rPr lang="en-US" sz="1600" b="0" dirty="0">
                <a:solidFill>
                  <a:schemeClr val="bg1"/>
                </a:solidFill>
                <a:latin typeface="Times New Roman" panose="02020603050405020304" pitchFamily="18" charset="0"/>
                <a:cs typeface="Times New Roman" panose="02020603050405020304" pitchFamily="18" charset="0"/>
              </a:rPr>
              <a:t> methods for trees that were not impacted by the issue. Due to their variety and suitability for this kind of predictions, four tree-based techniques were chosen. </a:t>
            </a:r>
            <a:r>
              <a:rPr lang="en-US" sz="1600" b="0" dirty="0" smtClean="0">
                <a:solidFill>
                  <a:schemeClr val="bg1"/>
                </a:solidFill>
                <a:latin typeface="Times New Roman" panose="02020603050405020304" pitchFamily="18" charset="0"/>
                <a:cs typeface="Times New Roman" panose="02020603050405020304" pitchFamily="18" charset="0"/>
              </a:rPr>
              <a:t>It includes </a:t>
            </a:r>
            <a:r>
              <a:rPr lang="en-US" sz="1600" b="0" dirty="0">
                <a:solidFill>
                  <a:schemeClr val="bg1"/>
                </a:solidFill>
                <a:latin typeface="Times New Roman" panose="02020603050405020304" pitchFamily="18" charset="0"/>
                <a:cs typeface="Times New Roman" panose="02020603050405020304" pitchFamily="18" charset="0"/>
              </a:rPr>
              <a:t>the algorithms Decision Tree, Random Forest, and GBM tree.</a:t>
            </a:r>
            <a:endParaRPr lang="en-IN" sz="1600" b="0" dirty="0">
              <a:solidFill>
                <a:schemeClr val="bg1"/>
              </a:solidFill>
              <a:latin typeface="Times New Roman" panose="02020603050405020304" pitchFamily="18" charset="0"/>
              <a:cs typeface="Times New Roman" panose="02020603050405020304" pitchFamily="18" charset="0"/>
            </a:endParaRPr>
          </a:p>
          <a:p>
            <a:pPr algn="just">
              <a:lnSpc>
                <a:spcPct val="150000"/>
              </a:lnSpc>
              <a:defRPr/>
            </a:pPr>
            <a:endParaRPr lang="en-US" sz="1600" b="0"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32</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269584927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14400"/>
          </a:xfrm>
          <a:prstGeom prst="rect">
            <a:avLst/>
          </a:prstGeom>
          <a:solidFill>
            <a:srgbClr val="2F71A2"/>
          </a:solidFill>
          <a:ln w="25400" cap="flat" cmpd="sng" algn="ctr">
            <a:noFill/>
            <a:prstDash val="solid"/>
          </a:ln>
          <a:effectLst/>
        </p:spPr>
        <p:txBody>
          <a:bodyPr anchor="ctr"/>
          <a:lstStyle/>
          <a:p>
            <a:pPr algn="ctr" fontAlgn="auto">
              <a:spcBef>
                <a:spcPts val="0"/>
              </a:spcBef>
              <a:spcAft>
                <a:spcPts val="0"/>
              </a:spcAft>
              <a:defRPr/>
            </a:pPr>
            <a:endParaRPr lang="en-US" kern="0">
              <a:solidFill>
                <a:sysClr val="window" lastClr="FFFFFF"/>
              </a:solidFill>
              <a:latin typeface="Calibri"/>
              <a:cs typeface="+mn-cs"/>
            </a:endParaRPr>
          </a:p>
        </p:txBody>
      </p:sp>
      <p:pic>
        <p:nvPicPr>
          <p:cNvPr id="154627" name="Picture 4" descr="http://www.hiltonheadislandbuilder.com/wp-content/uploads/2012/12/thank-you-card.jpg"/>
          <p:cNvPicPr>
            <a:picLocks noChangeAspect="1" noChangeArrowheads="1"/>
          </p:cNvPicPr>
          <p:nvPr/>
        </p:nvPicPr>
        <p:blipFill>
          <a:blip r:embed="rId2" cstate="print"/>
          <a:srcRect/>
          <a:stretch>
            <a:fillRect/>
          </a:stretch>
        </p:blipFill>
        <p:spPr bwMode="auto">
          <a:xfrm>
            <a:off x="0" y="914400"/>
            <a:ext cx="9144000" cy="594360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19FA1906-51BE-4B49-A728-D60CC9E44BA8}" type="slidenum">
              <a:rPr lang="en-US" smtClean="0"/>
              <a:pPr>
                <a:defRPr/>
              </a:pPr>
              <a:t>33</a:t>
            </a:fld>
            <a:endParaRPr lang="en-US"/>
          </a:p>
        </p:txBody>
      </p:sp>
      <p:pic>
        <p:nvPicPr>
          <p:cNvPr id="7" name="Picture 5"/>
          <p:cNvPicPr>
            <a:picLocks noChangeAspect="1"/>
          </p:cNvPicPr>
          <p:nvPr/>
        </p:nvPicPr>
        <p:blipFill>
          <a:blip r:embed="rId3"/>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4678074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1513</TotalTime>
  <Words>2929</Words>
  <Application>Microsoft Office PowerPoint</Application>
  <PresentationFormat>On-screen Show (4:3)</PresentationFormat>
  <Paragraphs>257</Paragraphs>
  <Slides>33</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33</vt:i4>
      </vt:variant>
    </vt:vector>
  </HeadingPairs>
  <TitlesOfParts>
    <vt:vector size="44" baseType="lpstr">
      <vt:lpstr>Arial</vt:lpstr>
      <vt:lpstr>Berlin Sans FB</vt:lpstr>
      <vt:lpstr>Brush Script MT</vt:lpstr>
      <vt:lpstr>Calibri</vt:lpstr>
      <vt:lpstr>Courier New</vt:lpstr>
      <vt:lpstr>Franklin Gothic Book</vt:lpstr>
      <vt:lpstr>Times New Roman</vt:lpstr>
      <vt:lpstr>Wingdings</vt:lpstr>
      <vt:lpstr>Wingdings 2</vt:lpstr>
      <vt:lpstr>Technic</vt:lpstr>
      <vt:lpstr>Custom Design</vt:lpstr>
      <vt:lpstr>PowerPoint Presentation</vt:lpstr>
      <vt:lpstr>ABSTRACT</vt:lpstr>
      <vt:lpstr>PROBLEM STATEMENT</vt:lpstr>
      <vt:lpstr>OBJECTIVE</vt:lpstr>
      <vt:lpstr>INTRODUCTION </vt:lpstr>
      <vt:lpstr>literature survey</vt:lpstr>
      <vt:lpstr>literature survey</vt:lpstr>
      <vt:lpstr>literature survey</vt:lpstr>
      <vt:lpstr>EXISTING SYSTEM</vt:lpstr>
      <vt:lpstr>EXISTING SYSTEM</vt:lpstr>
      <vt:lpstr>DISADVANTAGES OF EXISTING SYSTEM</vt:lpstr>
      <vt:lpstr>PROPOSED SYSTEM </vt:lpstr>
      <vt:lpstr>ADVANTAGES OF PROPOSED SYSTEM</vt:lpstr>
      <vt:lpstr>WORKFLOW</vt:lpstr>
      <vt:lpstr>SYSTEM DESIGN</vt:lpstr>
      <vt:lpstr>SYSTEM DESIGN</vt:lpstr>
      <vt:lpstr>ALGORITHMS</vt:lpstr>
      <vt:lpstr>ALGORITHMS</vt:lpstr>
      <vt:lpstr>ALGORITHMS</vt:lpstr>
      <vt:lpstr>ALGORITHMS</vt:lpstr>
      <vt:lpstr>ALGORITHMS</vt:lpstr>
      <vt:lpstr>PSEUDO-CODE</vt:lpstr>
      <vt:lpstr>PSEUDO-CODE</vt:lpstr>
      <vt:lpstr>PSEUDO-CODE</vt:lpstr>
      <vt:lpstr>PSEUDO-CODE</vt:lpstr>
      <vt:lpstr>System implementation </vt:lpstr>
      <vt:lpstr>System implementation </vt:lpstr>
      <vt:lpstr>System implementation</vt:lpstr>
      <vt:lpstr>RESULT</vt:lpstr>
      <vt:lpstr>RESULT</vt:lpstr>
      <vt:lpstr>RESULT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NH</dc:creator>
  <cp:lastModifiedBy>home</cp:lastModifiedBy>
  <cp:revision>103</cp:revision>
  <dcterms:modified xsi:type="dcterms:W3CDTF">2025-05-01T14:21:49Z</dcterms:modified>
</cp:coreProperties>
</file>