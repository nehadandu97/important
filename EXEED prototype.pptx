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32" r:id="rId1"/>
    <p:sldMasterId id="2147484296" r:id="rId2"/>
  </p:sldMasterIdLst>
  <p:notesMasterIdLst>
    <p:notesMasterId r:id="rId20"/>
  </p:notesMasterIdLst>
  <p:handoutMasterIdLst>
    <p:handoutMasterId r:id="rId21"/>
  </p:handoutMasterIdLst>
  <p:sldIdLst>
    <p:sldId id="1008" r:id="rId3"/>
    <p:sldId id="999" r:id="rId4"/>
    <p:sldId id="1000" r:id="rId5"/>
    <p:sldId id="1014" r:id="rId6"/>
    <p:sldId id="1007" r:id="rId7"/>
    <p:sldId id="1015" r:id="rId8"/>
    <p:sldId id="1016" r:id="rId9"/>
    <p:sldId id="1017" r:id="rId10"/>
    <p:sldId id="1001" r:id="rId11"/>
    <p:sldId id="1003" r:id="rId12"/>
    <p:sldId id="1005" r:id="rId13"/>
    <p:sldId id="1009" r:id="rId14"/>
    <p:sldId id="1010" r:id="rId15"/>
    <p:sldId id="1011" r:id="rId16"/>
    <p:sldId id="1012" r:id="rId17"/>
    <p:sldId id="1013" r:id="rId18"/>
    <p:sldId id="428" r:id="rId19"/>
  </p:sldIdLst>
  <p:sldSz cx="9144000" cy="6858000" type="screen4x3"/>
  <p:notesSz cx="7104063" cy="10234613"/>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224">
          <p15:clr>
            <a:srgbClr val="A4A3A4"/>
          </p15:clr>
        </p15:guide>
        <p15:guide id="4" pos="223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VN Prasad" initials="L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0FF"/>
    <a:srgbClr val="C1E0FF"/>
    <a:srgbClr val="FBF1B3"/>
    <a:srgbClr val="FFFFCC"/>
    <a:srgbClr val="EBF0F2"/>
    <a:srgbClr val="D5DFE4"/>
    <a:srgbClr val="009900"/>
    <a:srgbClr val="2F71A2"/>
    <a:srgbClr val="2F7184"/>
    <a:srgbClr val="5BB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171933-4619-4E11-9A3F-F7608DF75F8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8387" autoAdjust="0"/>
  </p:normalViewPr>
  <p:slideViewPr>
    <p:cSldViewPr>
      <p:cViewPr varScale="1">
        <p:scale>
          <a:sx n="82" d="100"/>
          <a:sy n="82" d="100"/>
        </p:scale>
        <p:origin x="1930"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322"/>
    </p:cViewPr>
  </p:sorterViewPr>
  <p:notesViewPr>
    <p:cSldViewPr>
      <p:cViewPr varScale="1">
        <p:scale>
          <a:sx n="52" d="100"/>
          <a:sy n="52" d="100"/>
        </p:scale>
        <p:origin x="-2832" y="-108"/>
      </p:cViewPr>
      <p:guideLst>
        <p:guide orient="horz" pos="2880"/>
        <p:guide pos="2160"/>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atin typeface="Arial" charset="0"/>
                <a:cs typeface="Arial" charset="0"/>
              </a:defRPr>
            </a:lvl1pPr>
          </a:lstStyle>
          <a:p>
            <a:pPr>
              <a:defRPr/>
            </a:pPr>
            <a:fld id="{4EB745A5-3952-4467-A039-FB9EA0AFC76E}" type="datetimeFigureOut">
              <a:rPr lang="en-US"/>
              <a:pPr>
                <a:defRPr/>
              </a:pPr>
              <a:t>3/9/2023</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atin typeface="Arial" charset="0"/>
                <a:cs typeface="Arial" charset="0"/>
              </a:defRPr>
            </a:lvl1pPr>
          </a:lstStyle>
          <a:p>
            <a:pPr>
              <a:defRPr/>
            </a:pPr>
            <a:fld id="{2BAE9AA9-BB6B-4AF6-9F4B-D9B5067D11BD}" type="slidenum">
              <a:rPr lang="en-US"/>
              <a:pPr>
                <a:defRPr/>
              </a:pPr>
              <a:t>‹#›</a:t>
            </a:fld>
            <a:endParaRPr lang="en-US"/>
          </a:p>
        </p:txBody>
      </p:sp>
    </p:spTree>
    <p:extLst>
      <p:ext uri="{BB962C8B-B14F-4D97-AF65-F5344CB8AC3E}">
        <p14:creationId xmlns:p14="http://schemas.microsoft.com/office/powerpoint/2010/main" val="2636810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fontAlgn="auto">
              <a:spcBef>
                <a:spcPts val="0"/>
              </a:spcBef>
              <a:spcAft>
                <a:spcPts val="0"/>
              </a:spcAft>
              <a:defRPr sz="1300">
                <a:latin typeface="+mn-lt"/>
                <a:cs typeface="+mn-cs"/>
              </a:defRPr>
            </a:lvl1pPr>
          </a:lstStyle>
          <a:p>
            <a:pPr>
              <a:defRPr/>
            </a:pPr>
            <a:fld id="{1948D6C1-579C-43E6-BA90-5DE48973DA98}" type="datetimeFigureOut">
              <a:rPr lang="en-US"/>
              <a:pPr>
                <a:defRPr/>
              </a:pPr>
              <a:t>3/9/2023</a:t>
            </a:fld>
            <a:endParaRPr lang="en-US"/>
          </a:p>
        </p:txBody>
      </p:sp>
      <p:sp>
        <p:nvSpPr>
          <p:cNvPr id="4"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fontAlgn="auto">
              <a:spcBef>
                <a:spcPts val="0"/>
              </a:spcBef>
              <a:spcAft>
                <a:spcPts val="0"/>
              </a:spcAft>
              <a:defRPr sz="1300">
                <a:latin typeface="+mn-lt"/>
                <a:cs typeface="+mn-cs"/>
              </a:defRPr>
            </a:lvl1pPr>
          </a:lstStyle>
          <a:p>
            <a:pPr>
              <a:defRPr/>
            </a:pPr>
            <a:fld id="{E7A35FBF-25E3-40BE-9E2D-5992AD91964A}" type="slidenum">
              <a:rPr lang="en-US"/>
              <a:pPr>
                <a:defRPr/>
              </a:pPr>
              <a:t>‹#›</a:t>
            </a:fld>
            <a:endParaRPr lang="en-US"/>
          </a:p>
        </p:txBody>
      </p:sp>
    </p:spTree>
    <p:extLst>
      <p:ext uri="{BB962C8B-B14F-4D97-AF65-F5344CB8AC3E}">
        <p14:creationId xmlns:p14="http://schemas.microsoft.com/office/powerpoint/2010/main" val="18959251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E7A35FBF-25E3-40BE-9E2D-5992AD91964A}" type="slidenum">
              <a:rPr lang="en-US" smtClean="0"/>
              <a:pPr>
                <a:defRPr/>
              </a:pPr>
              <a:t>12</a:t>
            </a:fld>
            <a:endParaRPr lang="en-US"/>
          </a:p>
        </p:txBody>
      </p:sp>
    </p:spTree>
    <p:extLst>
      <p:ext uri="{BB962C8B-B14F-4D97-AF65-F5344CB8AC3E}">
        <p14:creationId xmlns:p14="http://schemas.microsoft.com/office/powerpoint/2010/main" val="3361210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E7A35FBF-25E3-40BE-9E2D-5992AD91964A}" type="slidenum">
              <a:rPr lang="en-US" smtClean="0"/>
              <a:pPr>
                <a:defRPr/>
              </a:pPr>
              <a:t>13</a:t>
            </a:fld>
            <a:endParaRPr lang="en-US"/>
          </a:p>
        </p:txBody>
      </p:sp>
    </p:spTree>
    <p:extLst>
      <p:ext uri="{BB962C8B-B14F-4D97-AF65-F5344CB8AC3E}">
        <p14:creationId xmlns:p14="http://schemas.microsoft.com/office/powerpoint/2010/main" val="115156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9"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DB7E87BE-ECB9-4915-A9FB-AC5A32E7C64D}" type="datetime4">
              <a:rPr lang="en-US"/>
              <a:pPr>
                <a:defRPr/>
              </a:pPr>
              <a:t>March 9, 2023</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b="1">
                <a:solidFill>
                  <a:schemeClr val="tx1"/>
                </a:solidFill>
              </a:defRPr>
            </a:lvl1pPr>
          </a:lstStyle>
          <a:p>
            <a:pPr>
              <a:defRPr/>
            </a:pPr>
            <a:fld id="{7B992530-92A3-44B4-96DF-B2605C41FE7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696200" cy="99060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BCA20BF4-46A4-4C62-9717-542F3E07C11D}" type="datetime4">
              <a:rPr lang="en-US"/>
              <a:pPr>
                <a:defRPr/>
              </a:pPr>
              <a:t>March 9,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pPr>
              <a:defRPr/>
            </a:pPr>
            <a:fld id="{FAB6ED7B-5CA3-4472-B01C-99CB7689D1EA}"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AD5B4E8-8B51-4882-8119-31F6314D291B}" type="datetime4">
              <a:rPr lang="en-US"/>
              <a:pPr>
                <a:defRPr/>
              </a:pPr>
              <a:t>March 9, 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pPr>
              <a:defRPr/>
            </a:pPr>
            <a:fld id="{A1B217A7-E8DB-44FD-ABFD-9152337CD6C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B4147ACC-92FB-429D-8ACA-A583ECABA249}" type="datetime4">
              <a:rPr lang="en-US"/>
              <a:pPr>
                <a:defRPr/>
              </a:pPr>
              <a:t>March 9, 2023</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pPr>
              <a:defRPr/>
            </a:pPr>
            <a:fld id="{BACC7008-F5ED-4269-A898-E084C9C899C3}"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4"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272CADEB-BF3F-40FE-A6E1-8FB498EBFF75}" type="datetime4">
              <a:rPr lang="en-US"/>
              <a:pPr>
                <a:defRPr/>
              </a:pPr>
              <a:t>March 9, 2023</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pPr>
              <a:defRPr/>
            </a:pPr>
            <a:fld id="{A246BB36-18C6-4FE9-B805-A8C3DE15B00B}"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3A8CC13-011D-4FF1-A91B-6F32563F3107}" type="datetime4">
              <a:rPr lang="en-US"/>
              <a:pPr>
                <a:defRPr/>
              </a:pPr>
              <a:t>March 9, 2023</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pPr>
              <a:defRPr/>
            </a:pPr>
            <a:fld id="{408C28FB-DE10-4C5E-A921-43ECF992E87A}"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1994FAC-2DE5-41E9-9A24-8A1E7CF1B5A0}" type="datetime4">
              <a:rPr lang="en-US"/>
              <a:pPr>
                <a:defRPr/>
              </a:pPr>
              <a:t>March 9, 2023</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pPr>
              <a:defRPr/>
            </a:pPr>
            <a:fld id="{2AABB723-660E-4467-8A37-055799D186E4}"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BDFC0E5-92B9-4058-9E1A-1150FD45C641}" type="datetime4">
              <a:rPr lang="en-US"/>
              <a:pPr>
                <a:defRPr/>
              </a:pPr>
              <a:t>March 9, 2023</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pPr>
              <a:defRPr/>
            </a:pPr>
            <a:fld id="{10998E90-0A32-499E-B1BB-FF45A4E227C1}"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2FF0269C-98B0-431C-9C3C-6AD045396D3C}" type="datetime4">
              <a:rPr lang="en-US"/>
              <a:pPr>
                <a:defRPr/>
              </a:pPr>
              <a:t>March 9, 2023</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pPr>
              <a:defRPr/>
            </a:pPr>
            <a:fld id="{E766B00E-CF0F-496B-9F75-F8C31B645E5F}"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6E299F9-016B-44F3-9982-C9355A2155B3}" type="datetime4">
              <a:rPr lang="en-US"/>
              <a:pPr>
                <a:defRPr/>
              </a:pPr>
              <a:t>March 9, 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3026275E-019F-4DBF-9570-2B2CFE581BE3}"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235DA6DD-3B24-4DF3-9704-5628DCCB3A4F}" type="datetime4">
              <a:rPr lang="en-US"/>
              <a:pPr>
                <a:defRPr/>
              </a:pPr>
              <a:t>March 9, 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614E3C3C-488C-4C21-8865-BBB9440A05BB}"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24EE324-7AFF-46B2-A17A-120FCC0BF172}" type="datetime4">
              <a:rPr lang="en-US"/>
              <a:pPr>
                <a:defRPr/>
              </a:pPr>
              <a:t>March 9,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9E0CA6-51E5-4909-A9E7-74F83F1586A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8C130FB4-5FD8-4ECD-81D1-81B7DB878539}" type="datetime4">
              <a:rPr lang="en-US"/>
              <a:pPr>
                <a:defRPr/>
              </a:pPr>
              <a:t>March 9, 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pPr>
              <a:defRPr/>
            </a:pPr>
            <a:fld id="{F0EEE149-5D86-4BF5-BCC2-4D8A9996A715}"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184150" cy="36671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184150" cy="36671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0FA5C5-ACDE-4CE5-8F88-EAA3BB3D0149}"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4E0BCCF-7462-48E6-B778-D24CBF182DD8}"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F63486-94B2-4EE8-9445-CF739CCABEE9}"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8E7AD3D-6781-49D5-B9AF-0B5C050C74F7}"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F3B8F54-97EB-4261-A859-2D2793E404F2}"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3E302A0-BDA2-4490-9595-ECCF8300A389}"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372D3E8-0EA2-4A17-AD95-4D1BE7040DA3}"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DB134A9-DB4D-4F45-B954-56FE8F94127B}"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73F91C-DDBF-4D87-9E17-D4F5866A4479}"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7A30F9E-5D22-4A54-B0B3-CAAB85DAD958}"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E1900FD-6772-40C7-929B-48B8C155F95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099"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4100"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509370FD-357F-4AB4-A167-B810DFE2EDE9}" type="datetime4">
              <a:rPr lang="en-US"/>
              <a:pPr>
                <a:defRPr/>
              </a:pPr>
              <a:t>March 9, 2023</a:t>
            </a:fld>
            <a:endParaRPr lang="en-US"/>
          </a:p>
        </p:txBody>
      </p:sp>
      <p:sp>
        <p:nvSpPr>
          <p:cNvPr id="22"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8" name="Slide Number Placeholder 17"/>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000" b="1">
                <a:solidFill>
                  <a:schemeClr val="tx1"/>
                </a:solidFill>
                <a:latin typeface="+mn-lt"/>
                <a:cs typeface="+mn-cs"/>
              </a:defRPr>
            </a:lvl1pPr>
          </a:lstStyle>
          <a:p>
            <a:pPr>
              <a:defRPr/>
            </a:pPr>
            <a:fld id="{7F2A4EA7-F13F-43F3-A75F-8AA8F92E94B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5174" r:id="rId1"/>
    <p:sldLayoutId id="2147485175" r:id="rId2"/>
    <p:sldLayoutId id="2147485176" r:id="rId3"/>
    <p:sldLayoutId id="2147485177" r:id="rId4"/>
    <p:sldLayoutId id="2147485178" r:id="rId5"/>
    <p:sldLayoutId id="2147485158" r:id="rId6"/>
    <p:sldLayoutId id="2147485159" r:id="rId7"/>
    <p:sldLayoutId id="2147485179" r:id="rId8"/>
    <p:sldLayoutId id="2147485160" r:id="rId9"/>
    <p:sldLayoutId id="2147485161" r:id="rId10"/>
    <p:sldLayoutId id="2147485162" r:id="rId11"/>
    <p:sldLayoutId id="2147485180" r:id="rId12"/>
    <p:sldLayoutId id="2147485181" r:id="rId13"/>
    <p:sldLayoutId id="2147485182" r:id="rId14"/>
  </p:sldLayoutIdLst>
  <p:transition/>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3/9/2023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cs typeface="Arial"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cs typeface="Arial" charset="0"/>
              </a:defRPr>
            </a:lvl1pPr>
          </a:lstStyle>
          <a:p>
            <a:pPr>
              <a:defRPr/>
            </a:pPr>
            <a:fld id="{EBEF9D66-6EF7-4BF9-A9BC-950B47BDAD7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163" r:id="rId1"/>
    <p:sldLayoutId id="2147485164" r:id="rId2"/>
    <p:sldLayoutId id="2147485165" r:id="rId3"/>
    <p:sldLayoutId id="2147485166" r:id="rId4"/>
    <p:sldLayoutId id="2147485167" r:id="rId5"/>
    <p:sldLayoutId id="2147485168" r:id="rId6"/>
    <p:sldLayoutId id="2147485169" r:id="rId7"/>
    <p:sldLayoutId id="2147485170" r:id="rId8"/>
    <p:sldLayoutId id="2147485171" r:id="rId9"/>
    <p:sldLayoutId id="2147485172" r:id="rId10"/>
    <p:sldLayoutId id="214748517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2F71A2"/>
          </a:solidFill>
          <a:ln w="25400" cap="flat" cmpd="sng" algn="ctr">
            <a:noFill/>
            <a:prstDash val="solid"/>
          </a:ln>
          <a:effectLst/>
        </p:spPr>
        <p:txBody>
          <a:bodyPr anchor="t"/>
          <a:lstStyle/>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a:spcBef>
                <a:spcPts val="0"/>
              </a:spcBef>
              <a:spcAft>
                <a:spcPts val="0"/>
              </a:spcAft>
              <a:defRPr/>
            </a:pPr>
            <a:r>
              <a:rPr lang="en-US" sz="3200" b="1" smtClean="0">
                <a:solidFill>
                  <a:srgbClr val="FFFF00"/>
                </a:solidFill>
                <a:latin typeface="Calibri" pitchFamily="34" charset="0"/>
                <a:ea typeface="Tahoma" pitchFamily="34" charset="0"/>
                <a:cs typeface="Calibri" pitchFamily="34" charset="0"/>
              </a:rPr>
              <a:t>CONSULT DR </a:t>
            </a:r>
            <a:endParaRPr lang="en-US" sz="3200" b="1" dirty="0">
              <a:solidFill>
                <a:srgbClr val="FFFF00"/>
              </a:solidFill>
              <a:latin typeface="Calibri" pitchFamily="34" charset="0"/>
              <a:ea typeface="Tahoma" pitchFamily="34" charset="0"/>
              <a:cs typeface="Calibri" pitchFamily="34" charset="0"/>
            </a:endParaRPr>
          </a:p>
          <a:p>
            <a:pPr algn="ctr">
              <a:spcBef>
                <a:spcPts val="0"/>
              </a:spcBef>
              <a:spcAft>
                <a:spcPts val="0"/>
              </a:spcAft>
              <a:defRPr/>
            </a:pPr>
            <a:endParaRPr lang="en-US" sz="3200" b="1" dirty="0">
              <a:solidFill>
                <a:srgbClr val="FF0000"/>
              </a:solidFill>
              <a:latin typeface="Calibri" pitchFamily="34" charset="0"/>
              <a:cs typeface="Calibri" pitchFamily="34" charset="0"/>
            </a:endParaRPr>
          </a:p>
        </p:txBody>
      </p:sp>
      <p:pic>
        <p:nvPicPr>
          <p:cNvPr id="8" name="Picture 9" descr="iarelogo.JPG"/>
          <p:cNvPicPr>
            <a:picLocks noChangeAspect="1"/>
          </p:cNvPicPr>
          <p:nvPr/>
        </p:nvPicPr>
        <p:blipFill>
          <a:blip r:embed="rId2" cstate="print"/>
          <a:srcRect/>
          <a:stretch>
            <a:fillRect/>
          </a:stretch>
        </p:blipFill>
        <p:spPr bwMode="auto">
          <a:xfrm>
            <a:off x="0" y="91109"/>
            <a:ext cx="1314468" cy="1447800"/>
          </a:xfrm>
          <a:prstGeom prst="rect">
            <a:avLst/>
          </a:prstGeom>
          <a:noFill/>
          <a:ln w="9525">
            <a:noFill/>
            <a:miter lim="800000"/>
            <a:headEnd/>
            <a:tailEnd/>
          </a:ln>
        </p:spPr>
      </p:pic>
      <p:graphicFrame>
        <p:nvGraphicFramePr>
          <p:cNvPr id="9" name="Table 8"/>
          <p:cNvGraphicFramePr>
            <a:graphicFrameLocks noGrp="1"/>
          </p:cNvGraphicFramePr>
          <p:nvPr>
            <p:extLst>
              <p:ext uri="{D42A27DB-BD31-4B8C-83A1-F6EECF244321}">
                <p14:modId xmlns:p14="http://schemas.microsoft.com/office/powerpoint/2010/main" val="519207801"/>
              </p:ext>
            </p:extLst>
          </p:nvPr>
        </p:nvGraphicFramePr>
        <p:xfrm>
          <a:off x="380999" y="2362198"/>
          <a:ext cx="8496301" cy="2936848"/>
        </p:xfrm>
        <a:graphic>
          <a:graphicData uri="http://schemas.openxmlformats.org/drawingml/2006/table">
            <a:tbl>
              <a:tblPr firstRow="1" bandRow="1">
                <a:tableStyleId>{9DCAF9ED-07DC-4A11-8D7F-57B35C25682E}</a:tableStyleId>
              </a:tblPr>
              <a:tblGrid>
                <a:gridCol w="749026">
                  <a:extLst>
                    <a:ext uri="{9D8B030D-6E8A-4147-A177-3AD203B41FA5}">
                      <a16:colId xmlns:a16="http://schemas.microsoft.com/office/drawing/2014/main" val="20000"/>
                    </a:ext>
                  </a:extLst>
                </a:gridCol>
                <a:gridCol w="3912661">
                  <a:extLst>
                    <a:ext uri="{9D8B030D-6E8A-4147-A177-3AD203B41FA5}">
                      <a16:colId xmlns:a16="http://schemas.microsoft.com/office/drawing/2014/main" val="20001"/>
                    </a:ext>
                  </a:extLst>
                </a:gridCol>
                <a:gridCol w="1954902">
                  <a:extLst>
                    <a:ext uri="{9D8B030D-6E8A-4147-A177-3AD203B41FA5}">
                      <a16:colId xmlns:a16="http://schemas.microsoft.com/office/drawing/2014/main" val="20002"/>
                    </a:ext>
                  </a:extLst>
                </a:gridCol>
                <a:gridCol w="1879712">
                  <a:extLst>
                    <a:ext uri="{9D8B030D-6E8A-4147-A177-3AD203B41FA5}">
                      <a16:colId xmlns:a16="http://schemas.microsoft.com/office/drawing/2014/main" val="20003"/>
                    </a:ext>
                  </a:extLst>
                </a:gridCol>
              </a:tblGrid>
              <a:tr h="846178">
                <a:tc>
                  <a:txBody>
                    <a:bodyPr/>
                    <a:lstStyle/>
                    <a:p>
                      <a:r>
                        <a:rPr lang="en-IN" dirty="0"/>
                        <a:t>S.NO</a:t>
                      </a:r>
                    </a:p>
                  </a:txBody>
                  <a:tcPr/>
                </a:tc>
                <a:tc>
                  <a:txBody>
                    <a:bodyPr/>
                    <a:lstStyle/>
                    <a:p>
                      <a:r>
                        <a:rPr lang="en-IN" dirty="0"/>
                        <a:t>Name </a:t>
                      </a:r>
                    </a:p>
                  </a:txBody>
                  <a:tcPr/>
                </a:tc>
                <a:tc>
                  <a:txBody>
                    <a:bodyPr/>
                    <a:lstStyle/>
                    <a:p>
                      <a:r>
                        <a:rPr lang="en-IN" dirty="0"/>
                        <a:t>Roll</a:t>
                      </a:r>
                      <a:r>
                        <a:rPr lang="en-IN" baseline="0" dirty="0"/>
                        <a:t> No. </a:t>
                      </a:r>
                      <a:endParaRPr lang="en-IN" dirty="0"/>
                    </a:p>
                  </a:txBody>
                  <a:tcPr/>
                </a:tc>
                <a:tc>
                  <a:txBody>
                    <a:bodyPr/>
                    <a:lstStyle/>
                    <a:p>
                      <a:r>
                        <a:rPr lang="en-IN" dirty="0"/>
                        <a:t>Branch &amp; Section </a:t>
                      </a:r>
                    </a:p>
                  </a:txBody>
                  <a:tcPr/>
                </a:tc>
                <a:extLst>
                  <a:ext uri="{0D108BD9-81ED-4DB2-BD59-A6C34878D82A}">
                    <a16:rowId xmlns:a16="http://schemas.microsoft.com/office/drawing/2014/main" val="10000"/>
                  </a:ext>
                </a:extLst>
              </a:tr>
              <a:tr h="483530">
                <a:tc>
                  <a:txBody>
                    <a:bodyPr/>
                    <a:lstStyle/>
                    <a:p>
                      <a:r>
                        <a:rPr lang="en-IN" dirty="0" smtClean="0"/>
                        <a:t>1</a:t>
                      </a:r>
                      <a:endParaRPr lang="en-IN" dirty="0"/>
                    </a:p>
                  </a:txBody>
                  <a:tcPr/>
                </a:tc>
                <a:tc>
                  <a:txBody>
                    <a:bodyPr/>
                    <a:lstStyle/>
                    <a:p>
                      <a:r>
                        <a:rPr lang="en-IN" dirty="0" smtClean="0"/>
                        <a:t>B . </a:t>
                      </a:r>
                      <a:r>
                        <a:rPr lang="en-IN" dirty="0" err="1" smtClean="0"/>
                        <a:t>Jeevan</a:t>
                      </a:r>
                      <a:r>
                        <a:rPr lang="en-IN" baseline="0" dirty="0" smtClean="0"/>
                        <a:t> </a:t>
                      </a:r>
                      <a:r>
                        <a:rPr lang="en-IN" baseline="0" dirty="0" err="1" smtClean="0"/>
                        <a:t>Jyothi</a:t>
                      </a:r>
                      <a:endParaRPr lang="en-IN" dirty="0"/>
                    </a:p>
                  </a:txBody>
                  <a:tcPr/>
                </a:tc>
                <a:tc>
                  <a:txBody>
                    <a:bodyPr/>
                    <a:lstStyle/>
                    <a:p>
                      <a:r>
                        <a:rPr lang="en-IN" dirty="0" smtClean="0"/>
                        <a:t>21951A0572</a:t>
                      </a:r>
                      <a:endParaRPr lang="en-IN" dirty="0"/>
                    </a:p>
                  </a:txBody>
                  <a:tcPr/>
                </a:tc>
                <a:tc>
                  <a:txBody>
                    <a:bodyPr/>
                    <a:lstStyle/>
                    <a:p>
                      <a:r>
                        <a:rPr lang="en-IN" dirty="0" smtClean="0"/>
                        <a:t>CSE – B</a:t>
                      </a:r>
                      <a:endParaRPr lang="en-IN" dirty="0"/>
                    </a:p>
                  </a:txBody>
                  <a:tcPr/>
                </a:tc>
                <a:extLst>
                  <a:ext uri="{0D108BD9-81ED-4DB2-BD59-A6C34878D82A}">
                    <a16:rowId xmlns:a16="http://schemas.microsoft.com/office/drawing/2014/main" val="10001"/>
                  </a:ext>
                </a:extLst>
              </a:tr>
              <a:tr h="483530">
                <a:tc>
                  <a:txBody>
                    <a:bodyPr/>
                    <a:lstStyle/>
                    <a:p>
                      <a:r>
                        <a:rPr lang="en-IN" dirty="0" smtClean="0"/>
                        <a:t>2</a:t>
                      </a:r>
                      <a:endParaRPr lang="en-IN" dirty="0"/>
                    </a:p>
                  </a:txBody>
                  <a:tcPr/>
                </a:tc>
                <a:tc>
                  <a:txBody>
                    <a:bodyPr/>
                    <a:lstStyle/>
                    <a:p>
                      <a:r>
                        <a:rPr lang="en-IN" dirty="0" smtClean="0"/>
                        <a:t>V . Joyce</a:t>
                      </a:r>
                      <a:endParaRPr lang="en-IN" dirty="0"/>
                    </a:p>
                  </a:txBody>
                  <a:tcPr/>
                </a:tc>
                <a:tc>
                  <a:txBody>
                    <a:bodyPr/>
                    <a:lstStyle/>
                    <a:p>
                      <a:r>
                        <a:rPr lang="en-IN" dirty="0" smtClean="0"/>
                        <a:t>21951A0574</a:t>
                      </a:r>
                      <a:endParaRPr lang="en-IN" dirty="0"/>
                    </a:p>
                  </a:txBody>
                  <a:tcPr/>
                </a:tc>
                <a:tc>
                  <a:txBody>
                    <a:bodyPr/>
                    <a:lstStyle/>
                    <a:p>
                      <a:r>
                        <a:rPr lang="en-IN" dirty="0" smtClean="0"/>
                        <a:t>CSE</a:t>
                      </a:r>
                      <a:r>
                        <a:rPr lang="en-IN" baseline="0" dirty="0" smtClean="0"/>
                        <a:t> -</a:t>
                      </a:r>
                      <a:r>
                        <a:rPr lang="en-IN" dirty="0" smtClean="0"/>
                        <a:t> B</a:t>
                      </a:r>
                      <a:endParaRPr lang="en-IN" dirty="0"/>
                    </a:p>
                  </a:txBody>
                  <a:tcPr/>
                </a:tc>
                <a:extLst>
                  <a:ext uri="{0D108BD9-81ED-4DB2-BD59-A6C34878D82A}">
                    <a16:rowId xmlns:a16="http://schemas.microsoft.com/office/drawing/2014/main" val="10002"/>
                  </a:ext>
                </a:extLst>
              </a:tr>
              <a:tr h="483530">
                <a:tc>
                  <a:txBody>
                    <a:bodyPr/>
                    <a:lstStyle/>
                    <a:p>
                      <a:r>
                        <a:rPr lang="en-IN" dirty="0" smtClean="0"/>
                        <a:t>3</a:t>
                      </a:r>
                      <a:endParaRPr lang="en-IN" dirty="0"/>
                    </a:p>
                  </a:txBody>
                  <a:tcPr/>
                </a:tc>
                <a:tc>
                  <a:txBody>
                    <a:bodyPr/>
                    <a:lstStyle/>
                    <a:p>
                      <a:r>
                        <a:rPr lang="en-IN" dirty="0" smtClean="0"/>
                        <a:t>D</a:t>
                      </a:r>
                      <a:r>
                        <a:rPr lang="en-IN" baseline="0" dirty="0" smtClean="0"/>
                        <a:t> . Neha</a:t>
                      </a:r>
                      <a:endParaRPr lang="en-IN" dirty="0"/>
                    </a:p>
                  </a:txBody>
                  <a:tcPr/>
                </a:tc>
                <a:tc>
                  <a:txBody>
                    <a:bodyPr/>
                    <a:lstStyle/>
                    <a:p>
                      <a:r>
                        <a:rPr lang="en-IN" dirty="0" smtClean="0"/>
                        <a:t>21951A05B8</a:t>
                      </a:r>
                      <a:endParaRPr lang="en-IN" dirty="0"/>
                    </a:p>
                  </a:txBody>
                  <a:tcPr/>
                </a:tc>
                <a:tc>
                  <a:txBody>
                    <a:bodyPr/>
                    <a:lstStyle/>
                    <a:p>
                      <a:r>
                        <a:rPr lang="en-IN" dirty="0" smtClean="0"/>
                        <a:t>CSE – B</a:t>
                      </a:r>
                      <a:endParaRPr lang="en-IN" dirty="0"/>
                    </a:p>
                  </a:txBody>
                  <a:tcPr/>
                </a:tc>
                <a:extLst>
                  <a:ext uri="{0D108BD9-81ED-4DB2-BD59-A6C34878D82A}">
                    <a16:rowId xmlns:a16="http://schemas.microsoft.com/office/drawing/2014/main" val="10003"/>
                  </a:ext>
                </a:extLst>
              </a:tr>
              <a:tr h="598833">
                <a:tc>
                  <a:txBody>
                    <a:bodyPr/>
                    <a:lstStyle/>
                    <a:p>
                      <a:r>
                        <a:rPr lang="en-IN" dirty="0" smtClean="0"/>
                        <a:t>4</a:t>
                      </a:r>
                      <a:endParaRPr lang="en-IN" dirty="0"/>
                    </a:p>
                  </a:txBody>
                  <a:tcPr/>
                </a:tc>
                <a:tc>
                  <a:txBody>
                    <a:bodyPr/>
                    <a:lstStyle/>
                    <a:p>
                      <a:r>
                        <a:rPr lang="en-IN" dirty="0" smtClean="0"/>
                        <a:t>M . </a:t>
                      </a:r>
                      <a:r>
                        <a:rPr lang="en-IN" dirty="0" err="1" smtClean="0"/>
                        <a:t>Nikitha</a:t>
                      </a:r>
                      <a:r>
                        <a:rPr lang="en-IN" dirty="0" smtClean="0"/>
                        <a:t> </a:t>
                      </a:r>
                      <a:endParaRPr lang="en-IN" dirty="0"/>
                    </a:p>
                  </a:txBody>
                  <a:tcPr/>
                </a:tc>
                <a:tc>
                  <a:txBody>
                    <a:bodyPr/>
                    <a:lstStyle/>
                    <a:p>
                      <a:r>
                        <a:rPr lang="en-IN" dirty="0" smtClean="0"/>
                        <a:t>21951A05c4</a:t>
                      </a:r>
                      <a:endParaRPr lang="en-IN" dirty="0"/>
                    </a:p>
                  </a:txBody>
                  <a:tcPr/>
                </a:tc>
                <a:tc>
                  <a:txBody>
                    <a:bodyPr/>
                    <a:lstStyle/>
                    <a:p>
                      <a:r>
                        <a:rPr lang="en-IN" dirty="0" smtClean="0"/>
                        <a:t>CSE – B</a:t>
                      </a:r>
                    </a:p>
                    <a:p>
                      <a:endParaRPr lang="en-IN" dirty="0"/>
                    </a:p>
                  </a:txBody>
                  <a:tcPr/>
                </a:tc>
                <a:extLst>
                  <a:ext uri="{0D108BD9-81ED-4DB2-BD59-A6C34878D82A}">
                    <a16:rowId xmlns:a16="http://schemas.microsoft.com/office/drawing/2014/main" val="10004"/>
                  </a:ext>
                </a:extLst>
              </a:tr>
            </a:tbl>
          </a:graphicData>
        </a:graphic>
      </p:graphicFrame>
      <p:sp>
        <p:nvSpPr>
          <p:cNvPr id="10" name="TextBox 9"/>
          <p:cNvSpPr txBox="1"/>
          <p:nvPr/>
        </p:nvSpPr>
        <p:spPr>
          <a:xfrm>
            <a:off x="1447800" y="381001"/>
            <a:ext cx="7086600" cy="646331"/>
          </a:xfrm>
          <a:prstGeom prst="rect">
            <a:avLst/>
          </a:prstGeom>
          <a:noFill/>
        </p:spPr>
        <p:txBody>
          <a:bodyPr wrap="square" rtlCol="0">
            <a:spAutoFit/>
          </a:bodyPr>
          <a:lstStyle/>
          <a:p>
            <a:pPr algn="just"/>
            <a:r>
              <a:rPr lang="en-US" sz="3600" b="1" dirty="0">
                <a:solidFill>
                  <a:srgbClr val="FFFF00"/>
                </a:solidFill>
              </a:rPr>
              <a:t>ExEEd- ACADEMIC SUCCESS</a:t>
            </a:r>
            <a:endParaRPr lang="en-IN" sz="3600" dirty="0">
              <a:solidFill>
                <a:srgbClr val="FFFF00"/>
              </a:solidFill>
            </a:endParaRPr>
          </a:p>
        </p:txBody>
      </p:sp>
    </p:spTree>
    <p:extLst>
      <p:ext uri="{BB962C8B-B14F-4D97-AF65-F5344CB8AC3E}">
        <p14:creationId xmlns:p14="http://schemas.microsoft.com/office/powerpoint/2010/main" val="311273616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305800" cy="685799"/>
          </a:xfrm>
        </p:spPr>
        <p:txBody>
          <a:bodyPr/>
          <a:lstStyle/>
          <a:p>
            <a:r>
              <a:rPr lang="en-US" sz="4800" dirty="0">
                <a:solidFill>
                  <a:srgbClr val="FFFF00"/>
                </a:solidFill>
                <a:latin typeface="Calibri" pitchFamily="34" charset="0"/>
                <a:cs typeface="Calibri" pitchFamily="34" charset="0"/>
              </a:rPr>
              <a:t>Problem Statement  </a:t>
            </a:r>
          </a:p>
        </p:txBody>
      </p:sp>
      <p:sp>
        <p:nvSpPr>
          <p:cNvPr id="3" name="Subtitle 2"/>
          <p:cNvSpPr>
            <a:spLocks noGrp="1"/>
          </p:cNvSpPr>
          <p:nvPr>
            <p:ph type="subTitle" idx="1"/>
          </p:nvPr>
        </p:nvSpPr>
        <p:spPr>
          <a:xfrm>
            <a:off x="304800" y="1676400"/>
            <a:ext cx="8763000" cy="3962400"/>
          </a:xfrm>
        </p:spPr>
        <p:txBody>
          <a:bodyPr/>
          <a:lstStyle/>
          <a:p>
            <a:pPr algn="l"/>
            <a:r>
              <a:rPr lang="en-US" dirty="0">
                <a:solidFill>
                  <a:schemeClr val="bg1"/>
                </a:solidFill>
                <a:latin typeface="+mj-lt"/>
              </a:rPr>
              <a:t>Life is becoming too busy to get medical appointments in person and to maintain a proper health care. The main idea of this work is to provide ease and comfort to patients while taking appointment from doctors and it also resolves the problems that the patients has to face while making an appointment. </a:t>
            </a:r>
            <a:endParaRPr lang="en-IN" dirty="0">
              <a:solidFill>
                <a:schemeClr val="bg1"/>
              </a:solidFill>
              <a:latin typeface="+mj-lt"/>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2</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1102794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1"/>
            <a:ext cx="8229600" cy="632602"/>
          </a:xfrm>
        </p:spPr>
        <p:txBody>
          <a:bodyPr/>
          <a:lstStyle/>
          <a:p>
            <a:r>
              <a:rPr lang="en-IN" dirty="0" smtClean="0">
                <a:solidFill>
                  <a:srgbClr val="FFFF00"/>
                </a:solidFill>
              </a:rPr>
              <a:t>Prototype Solution</a:t>
            </a:r>
            <a:endParaRPr lang="en-IN" dirty="0">
              <a:solidFill>
                <a:srgbClr val="FFFF00"/>
              </a:solidFill>
            </a:endParaRPr>
          </a:p>
        </p:txBody>
      </p:sp>
      <p:sp>
        <p:nvSpPr>
          <p:cNvPr id="3" name="Subtitle 2"/>
          <p:cNvSpPr>
            <a:spLocks noGrp="1"/>
          </p:cNvSpPr>
          <p:nvPr>
            <p:ph type="subTitle" idx="1"/>
          </p:nvPr>
        </p:nvSpPr>
        <p:spPr>
          <a:xfrm>
            <a:off x="76200" y="990600"/>
            <a:ext cx="9067800" cy="4648200"/>
          </a:xfrm>
        </p:spPr>
        <p:txBody>
          <a:bodyPr/>
          <a:lstStyle/>
          <a:p>
            <a:pPr algn="l"/>
            <a:r>
              <a:rPr lang="en-US" dirty="0">
                <a:solidFill>
                  <a:schemeClr val="bg1"/>
                </a:solidFill>
                <a:latin typeface="+mj-lt"/>
              </a:rPr>
              <a:t>Today, it is widely recognized that a well-designed healthcare process must provide timely and easy access to healthcare facilities for all patient. </a:t>
            </a:r>
            <a:r>
              <a:rPr lang="en-US" dirty="0" smtClean="0">
                <a:solidFill>
                  <a:schemeClr val="bg1"/>
                </a:solidFill>
                <a:latin typeface="+mj-lt"/>
              </a:rPr>
              <a:t>Appointment </a:t>
            </a:r>
            <a:r>
              <a:rPr lang="en-US" dirty="0">
                <a:solidFill>
                  <a:schemeClr val="bg1"/>
                </a:solidFill>
                <a:latin typeface="+mj-lt"/>
              </a:rPr>
              <a:t>scheduling aims to build an appointment system that optimizes a specific quality standard in a healthcare application of scheduling tasks under </a:t>
            </a:r>
            <a:r>
              <a:rPr lang="en-US" dirty="0" err="1">
                <a:solidFill>
                  <a:schemeClr val="bg1"/>
                </a:solidFill>
                <a:latin typeface="+mj-lt"/>
              </a:rPr>
              <a:t>uncertainty.</a:t>
            </a:r>
            <a:r>
              <a:rPr lang="en-US" dirty="0" err="1" smtClean="0">
                <a:solidFill>
                  <a:schemeClr val="bg1"/>
                </a:solidFill>
                <a:latin typeface="+mj-lt"/>
              </a:rPr>
              <a:t>We</a:t>
            </a:r>
            <a:r>
              <a:rPr lang="en-US" dirty="0" smtClean="0">
                <a:solidFill>
                  <a:schemeClr val="bg1"/>
                </a:solidFill>
                <a:latin typeface="+mj-lt"/>
              </a:rPr>
              <a:t> have come up with an  android application which acts </a:t>
            </a:r>
            <a:r>
              <a:rPr lang="en-US" dirty="0">
                <a:solidFill>
                  <a:schemeClr val="bg1"/>
                </a:solidFill>
                <a:latin typeface="+mj-lt"/>
              </a:rPr>
              <a:t>as a client whereas the database containing the doctor's details, </a:t>
            </a:r>
            <a:r>
              <a:rPr lang="en-US" dirty="0" smtClean="0">
                <a:solidFill>
                  <a:schemeClr val="bg1"/>
                </a:solidFill>
                <a:latin typeface="+mj-lt"/>
              </a:rPr>
              <a:t>Hospital details </a:t>
            </a:r>
            <a:r>
              <a:rPr lang="en-US" dirty="0">
                <a:solidFill>
                  <a:schemeClr val="bg1"/>
                </a:solidFill>
                <a:latin typeface="+mj-lt"/>
              </a:rPr>
              <a:t>and appointment details is maintained by a </a:t>
            </a:r>
            <a:r>
              <a:rPr lang="en-US" dirty="0" smtClean="0">
                <a:solidFill>
                  <a:schemeClr val="bg1"/>
                </a:solidFill>
                <a:latin typeface="+mj-lt"/>
              </a:rPr>
              <a:t>app that </a:t>
            </a:r>
            <a:r>
              <a:rPr lang="en-US" dirty="0">
                <a:solidFill>
                  <a:schemeClr val="bg1"/>
                </a:solidFill>
                <a:latin typeface="+mj-lt"/>
              </a:rPr>
              <a:t>acts as a server.</a:t>
            </a:r>
            <a:endParaRPr lang="en-IN" dirty="0">
              <a:solidFill>
                <a:schemeClr val="bg1"/>
              </a:solidFill>
              <a:latin typeface="+mj-lt"/>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3</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35720375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1524000"/>
            <a:ext cx="8153400" cy="4114800"/>
          </a:xfrm>
        </p:spPr>
        <p:txBody>
          <a:bodyPr/>
          <a:lstStyle/>
          <a:p>
            <a:pPr algn="l"/>
            <a:r>
              <a:rPr lang="en-US" dirty="0" smtClean="0">
                <a:solidFill>
                  <a:schemeClr val="bg1"/>
                </a:solidFill>
                <a:latin typeface="+mj-lt"/>
              </a:rPr>
              <a:t>The "CONSULT DR" has been developed to override the problems prevailing in the practicing manual system. This software is supported to eliminate and in some cases reduce the hardships faced by this existing system. This system is designed for the particular need of the company to carry out operations in a smooth and effective manner.</a:t>
            </a:r>
            <a:endParaRPr lang="en-IN" dirty="0">
              <a:solidFill>
                <a:schemeClr val="bg1"/>
              </a:solidFill>
              <a:latin typeface="+mj-lt"/>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4</a:t>
            </a:fld>
            <a:endParaRPr lang="en-US"/>
          </a:p>
        </p:txBody>
      </p:sp>
    </p:spTree>
    <p:extLst>
      <p:ext uri="{BB962C8B-B14F-4D97-AF65-F5344CB8AC3E}">
        <p14:creationId xmlns:p14="http://schemas.microsoft.com/office/powerpoint/2010/main" val="2835150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1066800"/>
            <a:ext cx="8686800" cy="4572000"/>
          </a:xfrm>
        </p:spPr>
        <p:txBody>
          <a:bodyPr/>
          <a:lstStyle/>
          <a:p>
            <a:pPr marL="457200" indent="-457200" algn="l">
              <a:buFont typeface="Courier New" panose="02070309020205020404" pitchFamily="49" charset="0"/>
              <a:buChar char="o"/>
            </a:pPr>
            <a:r>
              <a:rPr lang="en-US" dirty="0">
                <a:solidFill>
                  <a:schemeClr val="bg1"/>
                </a:solidFill>
                <a:latin typeface="+mj-lt"/>
              </a:rPr>
              <a:t>patient can select a hospital and can view the hospital details. </a:t>
            </a:r>
            <a:endParaRPr lang="en-US" dirty="0" smtClean="0">
              <a:solidFill>
                <a:schemeClr val="bg1"/>
              </a:solidFill>
              <a:latin typeface="+mj-lt"/>
            </a:endParaRPr>
          </a:p>
          <a:p>
            <a:pPr marL="457200" indent="-457200" algn="l">
              <a:buFont typeface="Courier New" panose="02070309020205020404" pitchFamily="49" charset="0"/>
              <a:buChar char="o"/>
            </a:pPr>
            <a:r>
              <a:rPr lang="en-US" dirty="0" smtClean="0">
                <a:solidFill>
                  <a:schemeClr val="bg1"/>
                </a:solidFill>
                <a:latin typeface="+mj-lt"/>
              </a:rPr>
              <a:t>The </a:t>
            </a:r>
            <a:r>
              <a:rPr lang="en-US" dirty="0">
                <a:solidFill>
                  <a:schemeClr val="bg1"/>
                </a:solidFill>
                <a:latin typeface="+mj-lt"/>
              </a:rPr>
              <a:t>patient has the option of selecting a doctor from the list of doctors and can view the doctor's details. </a:t>
            </a:r>
            <a:endParaRPr lang="en-US" dirty="0" smtClean="0">
              <a:solidFill>
                <a:schemeClr val="bg1"/>
              </a:solidFill>
              <a:latin typeface="+mj-lt"/>
            </a:endParaRPr>
          </a:p>
          <a:p>
            <a:pPr marL="457200" indent="-457200" algn="l">
              <a:buFont typeface="Courier New" panose="02070309020205020404" pitchFamily="49" charset="0"/>
              <a:buChar char="o"/>
            </a:pPr>
            <a:r>
              <a:rPr lang="en-US" dirty="0" smtClean="0">
                <a:solidFill>
                  <a:schemeClr val="bg1"/>
                </a:solidFill>
                <a:latin typeface="+mj-lt"/>
              </a:rPr>
              <a:t>The </a:t>
            </a:r>
            <a:r>
              <a:rPr lang="en-US" dirty="0">
                <a:solidFill>
                  <a:schemeClr val="bg1"/>
                </a:solidFill>
                <a:latin typeface="+mj-lt"/>
              </a:rPr>
              <a:t>patient can request for an appointment on his/her preferred day/time. </a:t>
            </a:r>
            <a:endParaRPr lang="en-US" dirty="0" smtClean="0">
              <a:solidFill>
                <a:schemeClr val="bg1"/>
              </a:solidFill>
              <a:latin typeface="+mj-lt"/>
            </a:endParaRPr>
          </a:p>
          <a:p>
            <a:pPr marL="457200" indent="-457200" algn="l">
              <a:buFont typeface="Courier New" panose="02070309020205020404" pitchFamily="49" charset="0"/>
              <a:buChar char="o"/>
            </a:pPr>
            <a:r>
              <a:rPr lang="en-US" dirty="0" smtClean="0">
                <a:solidFill>
                  <a:schemeClr val="bg1"/>
                </a:solidFill>
                <a:latin typeface="+mj-lt"/>
              </a:rPr>
              <a:t>The </a:t>
            </a:r>
            <a:r>
              <a:rPr lang="en-US" dirty="0">
                <a:solidFill>
                  <a:schemeClr val="bg1"/>
                </a:solidFill>
                <a:latin typeface="+mj-lt"/>
              </a:rPr>
              <a:t>selected day/time slot will be reserved and patient will receive the notification of the successfully added appointment. </a:t>
            </a:r>
            <a:endParaRPr lang="en-IN" dirty="0">
              <a:solidFill>
                <a:schemeClr val="bg1"/>
              </a:solidFill>
              <a:latin typeface="+mj-lt"/>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5</a:t>
            </a:fld>
            <a:endParaRPr lang="en-US"/>
          </a:p>
        </p:txBody>
      </p:sp>
    </p:spTree>
    <p:extLst>
      <p:ext uri="{BB962C8B-B14F-4D97-AF65-F5344CB8AC3E}">
        <p14:creationId xmlns:p14="http://schemas.microsoft.com/office/powerpoint/2010/main" val="35681165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6</a:t>
            </a:fld>
            <a:endParaRPr lang="en-US"/>
          </a:p>
        </p:txBody>
      </p:sp>
      <p:pic>
        <p:nvPicPr>
          <p:cNvPr id="5" name="Picture 4"/>
          <p:cNvPicPr>
            <a:picLocks noChangeAspect="1"/>
          </p:cNvPicPr>
          <p:nvPr/>
        </p:nvPicPr>
        <p:blipFill>
          <a:blip r:embed="rId2"/>
          <a:stretch>
            <a:fillRect/>
          </a:stretch>
        </p:blipFill>
        <p:spPr>
          <a:xfrm>
            <a:off x="914400" y="1447800"/>
            <a:ext cx="6781800" cy="4038600"/>
          </a:xfrm>
          <a:prstGeom prst="rect">
            <a:avLst/>
          </a:prstGeom>
        </p:spPr>
      </p:pic>
    </p:spTree>
    <p:extLst>
      <p:ext uri="{BB962C8B-B14F-4D97-AF65-F5344CB8AC3E}">
        <p14:creationId xmlns:p14="http://schemas.microsoft.com/office/powerpoint/2010/main" val="3508762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1066800"/>
            <a:ext cx="8077200" cy="4572000"/>
          </a:xfrm>
        </p:spPr>
        <p:txBody>
          <a:bodyPr/>
          <a:lstStyle/>
          <a:p>
            <a:pPr algn="l"/>
            <a:r>
              <a:rPr lang="en-US" sz="2800" dirty="0">
                <a:solidFill>
                  <a:schemeClr val="bg1"/>
                </a:solidFill>
                <a:latin typeface="+mj-lt"/>
              </a:rPr>
              <a:t>Existing System of Doctor Appointment System: In the existing system the exams are done only manually but in proposed system we have to computerize the exams using this application. </a:t>
            </a:r>
            <a:endParaRPr lang="en-US" sz="2800" dirty="0" smtClean="0">
              <a:solidFill>
                <a:schemeClr val="bg1"/>
              </a:solidFill>
              <a:latin typeface="+mj-lt"/>
            </a:endParaRPr>
          </a:p>
          <a:p>
            <a:pPr algn="l"/>
            <a:r>
              <a:rPr lang="en-US" sz="2800" dirty="0" smtClean="0">
                <a:solidFill>
                  <a:schemeClr val="bg1"/>
                </a:solidFill>
                <a:latin typeface="+mj-lt"/>
                <a:sym typeface="Symbol" panose="05050102010706020507" pitchFamily="18" charset="2"/>
              </a:rPr>
              <a:t></a:t>
            </a:r>
            <a:r>
              <a:rPr lang="en-US" sz="2800" dirty="0" smtClean="0">
                <a:solidFill>
                  <a:schemeClr val="bg1"/>
                </a:solidFill>
                <a:latin typeface="+mj-lt"/>
              </a:rPr>
              <a:t> </a:t>
            </a:r>
            <a:r>
              <a:rPr lang="en-US" sz="2800" dirty="0">
                <a:solidFill>
                  <a:schemeClr val="bg1"/>
                </a:solidFill>
                <a:latin typeface="+mj-lt"/>
              </a:rPr>
              <a:t>Lack of security of data.</a:t>
            </a:r>
            <a:endParaRPr lang="en-IN" sz="2800" dirty="0">
              <a:solidFill>
                <a:schemeClr val="bg1"/>
              </a:solidFill>
              <a:latin typeface="+mj-lt"/>
            </a:endParaRPr>
          </a:p>
          <a:p>
            <a:pPr algn="l"/>
            <a:r>
              <a:rPr lang="en-US" sz="2800" dirty="0" smtClean="0">
                <a:solidFill>
                  <a:schemeClr val="bg1"/>
                </a:solidFill>
                <a:latin typeface="+mj-lt"/>
                <a:sym typeface="Symbol" panose="05050102010706020507" pitchFamily="18" charset="2"/>
              </a:rPr>
              <a:t></a:t>
            </a:r>
            <a:r>
              <a:rPr lang="en-US" sz="2800" dirty="0" smtClean="0">
                <a:solidFill>
                  <a:schemeClr val="bg1"/>
                </a:solidFill>
                <a:latin typeface="+mj-lt"/>
              </a:rPr>
              <a:t> </a:t>
            </a:r>
            <a:r>
              <a:rPr lang="en-US" sz="2800" dirty="0">
                <a:solidFill>
                  <a:schemeClr val="bg1"/>
                </a:solidFill>
                <a:latin typeface="+mj-lt"/>
              </a:rPr>
              <a:t>More man power.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Time consuming.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Consumes large volume of pare work.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Needs manual calculations.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No direct role for the higher officials </a:t>
            </a:r>
            <a:endParaRPr lang="en-IN" sz="2800" dirty="0">
              <a:solidFill>
                <a:schemeClr val="bg1"/>
              </a:solidFill>
              <a:latin typeface="+mj-lt"/>
            </a:endParaRPr>
          </a:p>
          <a:p>
            <a:pPr algn="l"/>
            <a:r>
              <a:rPr lang="en-US" sz="1200" dirty="0"/>
              <a:t> </a:t>
            </a:r>
            <a:endParaRPr lang="en-IN" sz="1200" dirty="0"/>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7</a:t>
            </a:fld>
            <a:endParaRPr lang="en-US"/>
          </a:p>
        </p:txBody>
      </p:sp>
    </p:spTree>
    <p:extLst>
      <p:ext uri="{BB962C8B-B14F-4D97-AF65-F5344CB8AC3E}">
        <p14:creationId xmlns:p14="http://schemas.microsoft.com/office/powerpoint/2010/main" val="20364626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990600"/>
            <a:ext cx="8839200" cy="4648200"/>
          </a:xfrm>
        </p:spPr>
        <p:txBody>
          <a:bodyPr/>
          <a:lstStyle/>
          <a:p>
            <a:pPr algn="l"/>
            <a:r>
              <a:rPr lang="en-US" sz="2800" dirty="0">
                <a:solidFill>
                  <a:schemeClr val="bg1"/>
                </a:solidFill>
                <a:latin typeface="+mj-lt"/>
              </a:rPr>
              <a:t>Proposed System of Doctor Appointment System:</a:t>
            </a:r>
            <a:endParaRPr lang="en-IN" sz="2800" dirty="0">
              <a:solidFill>
                <a:schemeClr val="bg1"/>
              </a:solidFill>
              <a:latin typeface="+mj-lt"/>
            </a:endParaRPr>
          </a:p>
          <a:p>
            <a:pPr algn="l"/>
            <a:r>
              <a:rPr lang="en-US" sz="2800" dirty="0">
                <a:solidFill>
                  <a:schemeClr val="bg1"/>
                </a:solidFill>
                <a:latin typeface="+mj-lt"/>
              </a:rPr>
              <a:t> The aim of proposed system is to develop a system of improved facilities. The proposed system can overcome all the limitations of the existing </a:t>
            </a:r>
            <a:r>
              <a:rPr lang="en-US" sz="2800" dirty="0" smtClean="0">
                <a:solidFill>
                  <a:schemeClr val="bg1"/>
                </a:solidFill>
                <a:latin typeface="+mj-lt"/>
              </a:rPr>
              <a:t>system.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Security of </a:t>
            </a:r>
            <a:r>
              <a:rPr lang="en-US" sz="2800" dirty="0" smtClean="0">
                <a:solidFill>
                  <a:schemeClr val="bg1"/>
                </a:solidFill>
                <a:latin typeface="+mj-lt"/>
              </a:rPr>
              <a:t>data</a:t>
            </a:r>
            <a:r>
              <a:rPr lang="en-US" sz="2800" dirty="0">
                <a:solidFill>
                  <a:schemeClr val="bg1"/>
                </a:solidFill>
                <a:latin typeface="+mj-lt"/>
              </a:rPr>
              <a:t> </a:t>
            </a:r>
            <a:r>
              <a:rPr lang="en-US" sz="2800" dirty="0" smtClean="0">
                <a:solidFill>
                  <a:schemeClr val="bg1"/>
                </a:solidFill>
                <a:latin typeface="+mj-lt"/>
              </a:rPr>
              <a:t>and </a:t>
            </a:r>
            <a:r>
              <a:rPr lang="en-US" sz="2800" dirty="0">
                <a:solidFill>
                  <a:schemeClr val="bg1"/>
                </a:solidFill>
                <a:latin typeface="+mj-lt"/>
              </a:rPr>
              <a:t>Ensure data accuracy’s.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Proper control of the higher officials.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Minimize manual data entry.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Minimum time needed for the various processing.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Greater </a:t>
            </a:r>
            <a:r>
              <a:rPr lang="en-US" sz="2800" dirty="0" smtClean="0">
                <a:solidFill>
                  <a:schemeClr val="bg1"/>
                </a:solidFill>
                <a:latin typeface="+mj-lt"/>
              </a:rPr>
              <a:t>efficiency</a:t>
            </a:r>
            <a:r>
              <a:rPr lang="en-US" sz="2800" dirty="0">
                <a:solidFill>
                  <a:schemeClr val="bg1"/>
                </a:solidFill>
                <a:latin typeface="+mj-lt"/>
              </a:rPr>
              <a:t> </a:t>
            </a:r>
            <a:r>
              <a:rPr lang="en-US" sz="2800" dirty="0" smtClean="0">
                <a:solidFill>
                  <a:schemeClr val="bg1"/>
                </a:solidFill>
                <a:latin typeface="+mj-lt"/>
              </a:rPr>
              <a:t>&amp; </a:t>
            </a:r>
            <a:r>
              <a:rPr lang="en-US" sz="2800" dirty="0">
                <a:solidFill>
                  <a:schemeClr val="bg1"/>
                </a:solidFill>
                <a:latin typeface="+mj-lt"/>
              </a:rPr>
              <a:t>Better service.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User friendliness and interactive. </a:t>
            </a:r>
            <a:endParaRPr lang="en-IN" sz="2800" dirty="0">
              <a:solidFill>
                <a:schemeClr val="bg1"/>
              </a:solidFill>
              <a:latin typeface="+mj-lt"/>
            </a:endParaRPr>
          </a:p>
          <a:p>
            <a:pPr algn="l"/>
            <a:r>
              <a:rPr lang="en-US" sz="2800" dirty="0">
                <a:solidFill>
                  <a:schemeClr val="bg1"/>
                </a:solidFill>
                <a:latin typeface="+mj-lt"/>
                <a:sym typeface="Symbol" panose="05050102010706020507" pitchFamily="18" charset="2"/>
              </a:rPr>
              <a:t></a:t>
            </a:r>
            <a:r>
              <a:rPr lang="en-US" sz="2800" dirty="0">
                <a:solidFill>
                  <a:schemeClr val="bg1"/>
                </a:solidFill>
                <a:latin typeface="+mj-lt"/>
              </a:rPr>
              <a:t> Minimum time required </a:t>
            </a:r>
            <a:endParaRPr lang="en-IN" sz="2800" dirty="0">
              <a:solidFill>
                <a:schemeClr val="bg1"/>
              </a:solidFill>
              <a:latin typeface="+mj-lt"/>
            </a:endParaRPr>
          </a:p>
          <a:p>
            <a:pPr algn="l"/>
            <a:r>
              <a:rPr lang="en-US" sz="2000" dirty="0"/>
              <a:t> </a:t>
            </a:r>
            <a:endParaRPr lang="en-IN" sz="2000" dirty="0"/>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8</a:t>
            </a:fld>
            <a:endParaRPr lang="en-US"/>
          </a:p>
        </p:txBody>
      </p:sp>
    </p:spTree>
    <p:extLst>
      <p:ext uri="{BB962C8B-B14F-4D97-AF65-F5344CB8AC3E}">
        <p14:creationId xmlns:p14="http://schemas.microsoft.com/office/powerpoint/2010/main" val="10081470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1"/>
            <a:ext cx="8229600" cy="708802"/>
          </a:xfrm>
        </p:spPr>
        <p:txBody>
          <a:bodyPr/>
          <a:lstStyle/>
          <a:p>
            <a:r>
              <a:rPr lang="en-IN" dirty="0" smtClean="0">
                <a:solidFill>
                  <a:srgbClr val="FFFF00"/>
                </a:solidFill>
              </a:rPr>
              <a:t>Features</a:t>
            </a:r>
            <a:endParaRPr lang="en-IN" dirty="0">
              <a:solidFill>
                <a:srgbClr val="FFFF00"/>
              </a:solidFill>
            </a:endParaRPr>
          </a:p>
        </p:txBody>
      </p:sp>
      <p:sp>
        <p:nvSpPr>
          <p:cNvPr id="3" name="Subtitle 2"/>
          <p:cNvSpPr>
            <a:spLocks noGrp="1"/>
          </p:cNvSpPr>
          <p:nvPr>
            <p:ph type="subTitle" idx="1"/>
          </p:nvPr>
        </p:nvSpPr>
        <p:spPr>
          <a:xfrm>
            <a:off x="609600" y="1524000"/>
            <a:ext cx="7162800" cy="4114800"/>
          </a:xfrm>
        </p:spPr>
        <p:txBody>
          <a:bodyPr/>
          <a:lstStyle/>
          <a:p>
            <a:pPr marL="457200" indent="-457200" algn="l">
              <a:buFont typeface="Wingdings" panose="05000000000000000000" pitchFamily="2" charset="2"/>
              <a:buChar char="v"/>
            </a:pPr>
            <a:r>
              <a:rPr lang="en-US" b="0" i="1" dirty="0" smtClean="0">
                <a:solidFill>
                  <a:schemeClr val="bg1"/>
                </a:solidFill>
              </a:rPr>
              <a:t>Customizable </a:t>
            </a:r>
            <a:r>
              <a:rPr lang="en-US" b="0" i="1" dirty="0">
                <a:solidFill>
                  <a:schemeClr val="bg1"/>
                </a:solidFill>
              </a:rPr>
              <a:t>booking page</a:t>
            </a:r>
            <a:endParaRPr lang="en-US" b="0" dirty="0">
              <a:solidFill>
                <a:schemeClr val="bg1"/>
              </a:solidFill>
            </a:endParaRPr>
          </a:p>
          <a:p>
            <a:pPr marL="457200" indent="-457200" algn="l">
              <a:buFont typeface="Wingdings" panose="05000000000000000000" pitchFamily="2" charset="2"/>
              <a:buChar char="v"/>
            </a:pPr>
            <a:r>
              <a:rPr lang="en-US" b="0" i="1" dirty="0">
                <a:solidFill>
                  <a:schemeClr val="bg1"/>
                </a:solidFill>
              </a:rPr>
              <a:t>Automated </a:t>
            </a:r>
            <a:r>
              <a:rPr lang="en-US" b="0" i="1" dirty="0" smtClean="0">
                <a:solidFill>
                  <a:schemeClr val="bg1"/>
                </a:solidFill>
              </a:rPr>
              <a:t>SMS</a:t>
            </a:r>
            <a:endParaRPr lang="en-US" b="0" dirty="0">
              <a:solidFill>
                <a:schemeClr val="bg1"/>
              </a:solidFill>
            </a:endParaRPr>
          </a:p>
          <a:p>
            <a:pPr marL="457200" indent="-457200" algn="l">
              <a:buFont typeface="Wingdings" panose="05000000000000000000" pitchFamily="2" charset="2"/>
              <a:buChar char="v"/>
            </a:pPr>
            <a:r>
              <a:rPr lang="en-US" b="0" dirty="0" smtClean="0">
                <a:solidFill>
                  <a:schemeClr val="bg1"/>
                </a:solidFill>
              </a:rPr>
              <a:t>User-friendly </a:t>
            </a:r>
            <a:r>
              <a:rPr lang="en-US" b="0" dirty="0">
                <a:solidFill>
                  <a:schemeClr val="bg1"/>
                </a:solidFill>
              </a:rPr>
              <a:t>and intuitive </a:t>
            </a:r>
            <a:r>
              <a:rPr lang="en-US" b="0" dirty="0" smtClean="0">
                <a:solidFill>
                  <a:schemeClr val="bg1"/>
                </a:solidFill>
              </a:rPr>
              <a:t>interface</a:t>
            </a:r>
          </a:p>
          <a:p>
            <a:pPr marL="457200" indent="-457200" algn="l">
              <a:buFont typeface="Wingdings" panose="05000000000000000000" pitchFamily="2" charset="2"/>
              <a:buChar char="v"/>
            </a:pPr>
            <a:r>
              <a:rPr lang="en-US" b="0" dirty="0">
                <a:solidFill>
                  <a:schemeClr val="bg1"/>
                </a:solidFill>
              </a:rPr>
              <a:t>Automatic </a:t>
            </a:r>
            <a:r>
              <a:rPr lang="en-US" b="0" dirty="0" smtClean="0">
                <a:solidFill>
                  <a:schemeClr val="bg1"/>
                </a:solidFill>
              </a:rPr>
              <a:t>reminders</a:t>
            </a:r>
          </a:p>
          <a:p>
            <a:pPr marL="457200" indent="-457200" algn="l">
              <a:buFont typeface="Wingdings" panose="05000000000000000000" pitchFamily="2" charset="2"/>
              <a:buChar char="v"/>
            </a:pPr>
            <a:r>
              <a:rPr lang="en-US" b="0" dirty="0" smtClean="0">
                <a:solidFill>
                  <a:schemeClr val="bg1"/>
                </a:solidFill>
              </a:rPr>
              <a:t>Details of all the hospitals </a:t>
            </a:r>
            <a:endParaRPr lang="en-US" b="0" dirty="0">
              <a:solidFill>
                <a:schemeClr val="bg1"/>
              </a:solidFill>
            </a:endParaRPr>
          </a:p>
          <a:p>
            <a:pPr algn="l"/>
            <a:endParaRPr lang="en-US" b="0" dirty="0">
              <a:solidFill>
                <a:schemeClr val="bg1"/>
              </a:solidFill>
            </a:endParaRPr>
          </a:p>
          <a:p>
            <a:pPr marL="457200" indent="-457200" algn="l">
              <a:buFont typeface="Wingdings" panose="05000000000000000000" pitchFamily="2" charset="2"/>
              <a:buChar char="v"/>
            </a:pPr>
            <a:endParaRPr lang="en-IN"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9</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24198909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152401"/>
            <a:ext cx="8382000" cy="761999"/>
          </a:xfrm>
        </p:spPr>
        <p:txBody>
          <a:bodyPr/>
          <a:lstStyle/>
          <a:p>
            <a:r>
              <a:rPr lang="en-IN" dirty="0" smtClean="0">
                <a:solidFill>
                  <a:srgbClr val="FFFF00"/>
                </a:solidFill>
              </a:rPr>
              <a:t>Tools &amp; Technologies to be used</a:t>
            </a:r>
            <a:endParaRPr lang="en-IN" dirty="0">
              <a:solidFill>
                <a:srgbClr val="FFFF00"/>
              </a:solidFill>
            </a:endParaRPr>
          </a:p>
        </p:txBody>
      </p:sp>
      <p:sp>
        <p:nvSpPr>
          <p:cNvPr id="3" name="Subtitle 2"/>
          <p:cNvSpPr>
            <a:spLocks noGrp="1"/>
          </p:cNvSpPr>
          <p:nvPr>
            <p:ph type="subTitle" idx="1"/>
          </p:nvPr>
        </p:nvSpPr>
        <p:spPr>
          <a:xfrm>
            <a:off x="76200" y="1104123"/>
            <a:ext cx="8839200" cy="4534677"/>
          </a:xfrm>
        </p:spPr>
        <p:txBody>
          <a:bodyPr/>
          <a:lstStyle/>
          <a:p>
            <a:pPr algn="l"/>
            <a:r>
              <a:rPr lang="en-US" b="0" dirty="0"/>
              <a:t> </a:t>
            </a:r>
            <a:endParaRPr lang="en-IN" dirty="0"/>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10</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
        <p:nvSpPr>
          <p:cNvPr id="6" name="Rectangle 5"/>
          <p:cNvSpPr/>
          <p:nvPr/>
        </p:nvSpPr>
        <p:spPr>
          <a:xfrm>
            <a:off x="304800" y="1295400"/>
            <a:ext cx="8153400" cy="3970318"/>
          </a:xfrm>
          <a:prstGeom prst="rect">
            <a:avLst/>
          </a:prstGeom>
        </p:spPr>
        <p:txBody>
          <a:bodyPr wrap="square">
            <a:spAutoFit/>
          </a:bodyPr>
          <a:lstStyle/>
          <a:p>
            <a:pPr marL="457200" indent="-457200">
              <a:buFont typeface="Wingdings" panose="05000000000000000000" pitchFamily="2" charset="2"/>
              <a:buChar char="ü"/>
            </a:pPr>
            <a:r>
              <a:rPr lang="en-IN" sz="2800" dirty="0">
                <a:solidFill>
                  <a:schemeClr val="bg1"/>
                </a:solidFill>
              </a:rPr>
              <a:t>This project Hospital System has been developed on HTML, CSS, and JavaScript. We are providing html project ideas and also html projects with source code. </a:t>
            </a:r>
            <a:endParaRPr lang="en-IN" sz="2800" dirty="0" smtClean="0">
              <a:solidFill>
                <a:schemeClr val="bg1"/>
              </a:solidFill>
            </a:endParaRPr>
          </a:p>
          <a:p>
            <a:pPr marL="457200" indent="-457200">
              <a:buFont typeface="Wingdings" panose="05000000000000000000" pitchFamily="2" charset="2"/>
              <a:buChar char="ü"/>
            </a:pPr>
            <a:r>
              <a:rPr lang="en-IN" sz="2800" dirty="0" smtClean="0">
                <a:solidFill>
                  <a:schemeClr val="bg1"/>
                </a:solidFill>
              </a:rPr>
              <a:t>The </a:t>
            </a:r>
            <a:r>
              <a:rPr lang="en-IN" sz="2800" dirty="0">
                <a:solidFill>
                  <a:schemeClr val="bg1"/>
                </a:solidFill>
              </a:rPr>
              <a:t>main objective of developing this project was to create a static </a:t>
            </a:r>
            <a:r>
              <a:rPr lang="en-IN" sz="2800" dirty="0" smtClean="0">
                <a:solidFill>
                  <a:schemeClr val="bg1"/>
                </a:solidFill>
              </a:rPr>
              <a:t>app for </a:t>
            </a:r>
            <a:r>
              <a:rPr lang="en-IN" sz="2800" dirty="0">
                <a:solidFill>
                  <a:schemeClr val="bg1"/>
                </a:solidFill>
              </a:rPr>
              <a:t>the Hospital, from which user can get the details of the hospital, such as about the hospitals, contact details, address, images etc. </a:t>
            </a:r>
          </a:p>
        </p:txBody>
      </p:sp>
    </p:spTree>
    <p:extLst>
      <p:ext uri="{BB962C8B-B14F-4D97-AF65-F5344CB8AC3E}">
        <p14:creationId xmlns:p14="http://schemas.microsoft.com/office/powerpoint/2010/main" val="4722873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1066800"/>
            <a:ext cx="8382000" cy="4572000"/>
          </a:xfrm>
        </p:spPr>
        <p:txBody>
          <a:bodyPr/>
          <a:lstStyle/>
          <a:p>
            <a:pPr marL="457200" indent="-457200" algn="l">
              <a:buFont typeface="Wingdings" panose="05000000000000000000" pitchFamily="2" charset="2"/>
              <a:buChar char="ü"/>
            </a:pPr>
            <a:r>
              <a:rPr lang="en-US" b="0" dirty="0">
                <a:solidFill>
                  <a:schemeClr val="bg1"/>
                </a:solidFill>
              </a:rPr>
              <a:t>The back-end looks similar to a dashboard that displays all your booking </a:t>
            </a:r>
            <a:r>
              <a:rPr lang="en-US" b="0" dirty="0" smtClean="0">
                <a:solidFill>
                  <a:schemeClr val="bg1"/>
                </a:solidFill>
              </a:rPr>
              <a:t>records</a:t>
            </a:r>
          </a:p>
          <a:p>
            <a:pPr algn="l"/>
            <a:r>
              <a:rPr lang="en-IN" dirty="0" smtClean="0">
                <a:solidFill>
                  <a:schemeClr val="bg1"/>
                </a:solidFill>
              </a:rPr>
              <a:t>         Java</a:t>
            </a:r>
            <a:r>
              <a:rPr lang="en-IN" dirty="0">
                <a:solidFill>
                  <a:schemeClr val="bg1"/>
                </a:solidFill>
              </a:rPr>
              <a:t> </a:t>
            </a:r>
            <a:endParaRPr lang="en-IN" dirty="0" smtClean="0">
              <a:solidFill>
                <a:schemeClr val="bg1"/>
              </a:solidFill>
            </a:endParaRPr>
          </a:p>
          <a:p>
            <a:pPr algn="l"/>
            <a:r>
              <a:rPr lang="en-IN" dirty="0" smtClean="0">
                <a:solidFill>
                  <a:schemeClr val="bg1"/>
                </a:solidFill>
              </a:rPr>
              <a:t>	C</a:t>
            </a:r>
            <a:endParaRPr lang="en-IN" dirty="0">
              <a:solidFill>
                <a:schemeClr val="bg1"/>
              </a:solidFill>
            </a:endParaRPr>
          </a:p>
          <a:p>
            <a:pPr algn="l"/>
            <a:r>
              <a:rPr lang="en-IN" dirty="0" smtClean="0">
                <a:solidFill>
                  <a:schemeClr val="bg1"/>
                </a:solidFill>
              </a:rPr>
              <a:t>	Python</a:t>
            </a:r>
            <a:r>
              <a:rPr lang="en-IN" dirty="0">
                <a:solidFill>
                  <a:schemeClr val="bg1"/>
                </a:solidFill>
              </a:rPr>
              <a:t> </a:t>
            </a:r>
            <a:endParaRPr lang="en-IN" dirty="0" smtClean="0">
              <a:solidFill>
                <a:schemeClr val="bg1"/>
              </a:solidFill>
            </a:endParaRPr>
          </a:p>
          <a:p>
            <a:pPr algn="l"/>
            <a:r>
              <a:rPr lang="en-IN" dirty="0" smtClean="0">
                <a:solidFill>
                  <a:schemeClr val="bg1"/>
                </a:solidFill>
              </a:rPr>
              <a:t>	SQL</a:t>
            </a:r>
            <a:r>
              <a:rPr lang="en-IN" dirty="0">
                <a:solidFill>
                  <a:schemeClr val="bg1"/>
                </a:solidFill>
              </a:rPr>
              <a:t> </a:t>
            </a:r>
          </a:p>
          <a:p>
            <a:pPr algn="l"/>
            <a:endParaRPr lang="en-IN" dirty="0">
              <a:solidFill>
                <a:schemeClr val="bg1"/>
              </a:solidFill>
            </a:endParaRPr>
          </a:p>
          <a:p>
            <a:pPr algn="l"/>
            <a:endParaRPr lang="en-IN" dirty="0">
              <a:solidFill>
                <a:schemeClr val="bg1"/>
              </a:solidFill>
            </a:endParaRPr>
          </a:p>
          <a:p>
            <a:pPr algn="l"/>
            <a:endParaRPr lang="en-US" b="0"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11</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3582636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l="24167" t="18823" r="58333" b="16863"/>
          <a:stretch/>
        </p:blipFill>
        <p:spPr>
          <a:xfrm>
            <a:off x="533400" y="1112838"/>
            <a:ext cx="3200400" cy="5308600"/>
          </a:xfrm>
          <a:prstGeom prst="rect">
            <a:avLst/>
          </a:prstGeom>
        </p:spPr>
      </p:pic>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12</a:t>
            </a:fld>
            <a:endParaRPr lang="en-US"/>
          </a:p>
        </p:txBody>
      </p:sp>
      <p:pic>
        <p:nvPicPr>
          <p:cNvPr id="6" name="Picture 5"/>
          <p:cNvPicPr>
            <a:picLocks noChangeAspect="1"/>
          </p:cNvPicPr>
          <p:nvPr/>
        </p:nvPicPr>
        <p:blipFill>
          <a:blip r:embed="rId4"/>
          <a:stretch>
            <a:fillRect/>
          </a:stretch>
        </p:blipFill>
        <p:spPr>
          <a:xfrm>
            <a:off x="4648200" y="1062038"/>
            <a:ext cx="2971913" cy="5410200"/>
          </a:xfrm>
          <a:prstGeom prst="rect">
            <a:avLst/>
          </a:prstGeom>
        </p:spPr>
      </p:pic>
      <p:sp>
        <p:nvSpPr>
          <p:cNvPr id="7" name="TextBox 6"/>
          <p:cNvSpPr txBox="1"/>
          <p:nvPr/>
        </p:nvSpPr>
        <p:spPr>
          <a:xfrm flipH="1">
            <a:off x="152400" y="152400"/>
            <a:ext cx="5410198" cy="584775"/>
          </a:xfrm>
          <a:prstGeom prst="rect">
            <a:avLst/>
          </a:prstGeom>
          <a:noFill/>
        </p:spPr>
        <p:txBody>
          <a:bodyPr wrap="square" rtlCol="0">
            <a:spAutoFit/>
          </a:bodyPr>
          <a:lstStyle/>
          <a:p>
            <a:r>
              <a:rPr lang="en-IN" sz="3200" dirty="0" smtClean="0">
                <a:solidFill>
                  <a:srgbClr val="FFFF00"/>
                </a:solidFill>
                <a:latin typeface="+mj-lt"/>
              </a:rPr>
              <a:t>Prototype</a:t>
            </a:r>
            <a:r>
              <a:rPr lang="en-IN" sz="3200" dirty="0" smtClean="0">
                <a:solidFill>
                  <a:srgbClr val="FFFF00"/>
                </a:solidFill>
              </a:rPr>
              <a:t> pictures</a:t>
            </a:r>
            <a:endParaRPr lang="en-IN" sz="3200" dirty="0">
              <a:solidFill>
                <a:srgbClr val="FFFF00"/>
              </a:solidFill>
            </a:endParaRPr>
          </a:p>
        </p:txBody>
      </p:sp>
    </p:spTree>
    <p:extLst>
      <p:ext uri="{BB962C8B-B14F-4D97-AF65-F5344CB8AC3E}">
        <p14:creationId xmlns:p14="http://schemas.microsoft.com/office/powerpoint/2010/main" val="27401944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13</a:t>
            </a:fld>
            <a:endParaRPr lang="en-US"/>
          </a:p>
        </p:txBody>
      </p:sp>
      <p:pic>
        <p:nvPicPr>
          <p:cNvPr id="8" name="Picture 7"/>
          <p:cNvPicPr>
            <a:picLocks noChangeAspect="1"/>
          </p:cNvPicPr>
          <p:nvPr/>
        </p:nvPicPr>
        <p:blipFill rotWithShape="1">
          <a:blip r:embed="rId3"/>
          <a:srcRect l="57500" t="17843" r="25833" b="13137"/>
          <a:stretch/>
        </p:blipFill>
        <p:spPr>
          <a:xfrm>
            <a:off x="533400" y="1123101"/>
            <a:ext cx="3048000" cy="5303417"/>
          </a:xfrm>
          <a:prstGeom prst="rect">
            <a:avLst/>
          </a:prstGeom>
        </p:spPr>
      </p:pic>
      <p:pic>
        <p:nvPicPr>
          <p:cNvPr id="10" name="Picture 9"/>
          <p:cNvPicPr>
            <a:picLocks noChangeAspect="1"/>
          </p:cNvPicPr>
          <p:nvPr/>
        </p:nvPicPr>
        <p:blipFill rotWithShape="1">
          <a:blip r:embed="rId4"/>
          <a:srcRect l="19167" t="17843" r="63750" b="16275"/>
          <a:stretch/>
        </p:blipFill>
        <p:spPr>
          <a:xfrm>
            <a:off x="4495800" y="1054310"/>
            <a:ext cx="3124200" cy="5430838"/>
          </a:xfrm>
          <a:prstGeom prst="rect">
            <a:avLst/>
          </a:prstGeom>
        </p:spPr>
      </p:pic>
    </p:spTree>
    <p:extLst>
      <p:ext uri="{BB962C8B-B14F-4D97-AF65-F5344CB8AC3E}">
        <p14:creationId xmlns:p14="http://schemas.microsoft.com/office/powerpoint/2010/main" val="3036152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14</a:t>
            </a:fld>
            <a:endParaRPr lang="en-US"/>
          </a:p>
        </p:txBody>
      </p:sp>
      <p:pic>
        <p:nvPicPr>
          <p:cNvPr id="5" name="Picture 4"/>
          <p:cNvPicPr>
            <a:picLocks noChangeAspect="1"/>
          </p:cNvPicPr>
          <p:nvPr/>
        </p:nvPicPr>
        <p:blipFill rotWithShape="1">
          <a:blip r:embed="rId2"/>
          <a:srcRect l="35000" t="16275" r="47917" b="15490"/>
          <a:stretch/>
        </p:blipFill>
        <p:spPr>
          <a:xfrm>
            <a:off x="457200" y="1219200"/>
            <a:ext cx="3124200" cy="4994566"/>
          </a:xfrm>
          <a:prstGeom prst="rect">
            <a:avLst/>
          </a:prstGeom>
        </p:spPr>
      </p:pic>
      <p:pic>
        <p:nvPicPr>
          <p:cNvPr id="6" name="Picture 5"/>
          <p:cNvPicPr>
            <a:picLocks noChangeAspect="1"/>
          </p:cNvPicPr>
          <p:nvPr/>
        </p:nvPicPr>
        <p:blipFill rotWithShape="1">
          <a:blip r:embed="rId2"/>
          <a:srcRect l="52083" t="16275" r="31667" b="15490"/>
          <a:stretch/>
        </p:blipFill>
        <p:spPr>
          <a:xfrm>
            <a:off x="4953000" y="1219200"/>
            <a:ext cx="2971800" cy="4994566"/>
          </a:xfrm>
          <a:prstGeom prst="rect">
            <a:avLst/>
          </a:prstGeom>
        </p:spPr>
      </p:pic>
    </p:spTree>
    <p:extLst>
      <p:ext uri="{BB962C8B-B14F-4D97-AF65-F5344CB8AC3E}">
        <p14:creationId xmlns:p14="http://schemas.microsoft.com/office/powerpoint/2010/main" val="20551951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68750" t="17255" r="15000" b="15294"/>
          <a:stretch/>
        </p:blipFill>
        <p:spPr>
          <a:xfrm>
            <a:off x="685800" y="1447800"/>
            <a:ext cx="2971800" cy="4973638"/>
          </a:xfrm>
          <a:prstGeom prst="rect">
            <a:avLst/>
          </a:prstGeom>
        </p:spPr>
      </p:pic>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15</a:t>
            </a:fld>
            <a:endParaRPr lang="en-US"/>
          </a:p>
        </p:txBody>
      </p:sp>
      <p:pic>
        <p:nvPicPr>
          <p:cNvPr id="6" name="Picture 5"/>
          <p:cNvPicPr>
            <a:picLocks noChangeAspect="1"/>
          </p:cNvPicPr>
          <p:nvPr/>
        </p:nvPicPr>
        <p:blipFill rotWithShape="1">
          <a:blip r:embed="rId3"/>
          <a:srcRect l="36697" t="18628" r="47122" b="13137"/>
          <a:stretch/>
        </p:blipFill>
        <p:spPr>
          <a:xfrm>
            <a:off x="4343400" y="1447800"/>
            <a:ext cx="3124200" cy="4973638"/>
          </a:xfrm>
          <a:prstGeom prst="rect">
            <a:avLst/>
          </a:prstGeom>
        </p:spPr>
      </p:pic>
    </p:spTree>
    <p:extLst>
      <p:ext uri="{BB962C8B-B14F-4D97-AF65-F5344CB8AC3E}">
        <p14:creationId xmlns:p14="http://schemas.microsoft.com/office/powerpoint/2010/main" val="19997810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16</a:t>
            </a:fld>
            <a:endParaRPr lang="en-US"/>
          </a:p>
        </p:txBody>
      </p:sp>
      <p:pic>
        <p:nvPicPr>
          <p:cNvPr id="5" name="Picture 4"/>
          <p:cNvPicPr>
            <a:picLocks noChangeAspect="1"/>
          </p:cNvPicPr>
          <p:nvPr/>
        </p:nvPicPr>
        <p:blipFill rotWithShape="1">
          <a:blip r:embed="rId2"/>
          <a:srcRect l="52917" t="19412" r="30833" b="13921"/>
          <a:stretch/>
        </p:blipFill>
        <p:spPr>
          <a:xfrm>
            <a:off x="2971800" y="1143000"/>
            <a:ext cx="2971800" cy="5126038"/>
          </a:xfrm>
          <a:prstGeom prst="rect">
            <a:avLst/>
          </a:prstGeom>
        </p:spPr>
      </p:pic>
    </p:spTree>
    <p:extLst>
      <p:ext uri="{BB962C8B-B14F-4D97-AF65-F5344CB8AC3E}">
        <p14:creationId xmlns:p14="http://schemas.microsoft.com/office/powerpoint/2010/main" val="34402976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17</a:t>
            </a:fld>
            <a:endParaRPr lang="en-US"/>
          </a:p>
        </p:txBody>
      </p:sp>
      <p:pic>
        <p:nvPicPr>
          <p:cNvPr id="154629" name="Picture 5" descr="iarelogo.JPG"/>
          <p:cNvPicPr>
            <a:picLocks noChangeAspect="1"/>
          </p:cNvPicPr>
          <p:nvPr/>
        </p:nvPicPr>
        <p:blipFill>
          <a:blip r:embed="rId3" cstate="print"/>
          <a:srcRect/>
          <a:stretch>
            <a:fillRect/>
          </a:stretch>
        </p:blipFill>
        <p:spPr bwMode="auto">
          <a:xfrm>
            <a:off x="8305800" y="-37322"/>
            <a:ext cx="838200" cy="8985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19629</TotalTime>
  <Words>593</Words>
  <Application>Microsoft Office PowerPoint</Application>
  <PresentationFormat>On-screen Show (4:3)</PresentationFormat>
  <Paragraphs>87</Paragraphs>
  <Slides>17</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Arial</vt:lpstr>
      <vt:lpstr>Berlin Sans FB</vt:lpstr>
      <vt:lpstr>Brush Script MT</vt:lpstr>
      <vt:lpstr>Calibri</vt:lpstr>
      <vt:lpstr>Courier New</vt:lpstr>
      <vt:lpstr>Franklin Gothic Book</vt:lpstr>
      <vt:lpstr>Symbol</vt:lpstr>
      <vt:lpstr>Tahoma</vt:lpstr>
      <vt:lpstr>Wingdings</vt:lpstr>
      <vt:lpstr>Wingdings 2</vt:lpstr>
      <vt:lpstr>Technic</vt:lpstr>
      <vt:lpstr>Custom Design</vt:lpstr>
      <vt:lpstr>PowerPoint Presentation</vt:lpstr>
      <vt:lpstr>Problem Statement  </vt:lpstr>
      <vt:lpstr>Prototype Solution</vt:lpstr>
      <vt:lpstr>PowerPoint Presentation</vt:lpstr>
      <vt:lpstr>PowerPoint Presentation</vt:lpstr>
      <vt:lpstr>PowerPoint Presentation</vt:lpstr>
      <vt:lpstr>PowerPoint Presentation</vt:lpstr>
      <vt:lpstr>PowerPoint Presentation</vt:lpstr>
      <vt:lpstr>Features</vt:lpstr>
      <vt:lpstr>Tools &amp; Technologies to be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med el</dc:creator>
  <cp:lastModifiedBy>home</cp:lastModifiedBy>
  <cp:revision>1907</cp:revision>
  <dcterms:created xsi:type="dcterms:W3CDTF">2011-03-29T09:15:57Z</dcterms:created>
  <dcterms:modified xsi:type="dcterms:W3CDTF">2023-03-09T16:13:32Z</dcterms:modified>
</cp:coreProperties>
</file>